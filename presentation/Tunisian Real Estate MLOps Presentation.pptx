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104.png" ContentType="image/png"/>
  <Override PartName="/ppt/media/image55.png" ContentType="image/png"/>
  <Override PartName="/ppt/media/image103.png" ContentType="image/png"/>
  <Override PartName="/ppt/media/image54.png" ContentType="image/png"/>
  <Override PartName="/ppt/media/image102.png" ContentType="image/png"/>
  <Override PartName="/ppt/media/image52.png" ContentType="image/png"/>
  <Override PartName="/ppt/media/image100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83.png" ContentType="image/png"/>
  <Override PartName="/ppt/media/image57.png" ContentType="image/png"/>
  <Override PartName="/ppt/media/image105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82.png" ContentType="image/png"/>
  <Override PartName="/ppt/media/image48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81.png" ContentType="image/png"/>
  <Override PartName="/ppt/media/image47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80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53.png" ContentType="image/png"/>
  <Override PartName="/ppt/media/image101.png" ContentType="image/png"/>
  <Override PartName="/ppt/media/image19.jpeg" ContentType="image/jpeg"/>
  <Override PartName="/ppt/media/image88.png" ContentType="image/png"/>
  <Override PartName="/ppt/media/image58.png" ContentType="image/png"/>
  <Override PartName="/ppt/media/image106.png" ContentType="image/png"/>
  <Override PartName="/ppt/media/image21.png" ContentType="image/png"/>
  <Override PartName="/ppt/media/image59.png" ContentType="image/png"/>
  <Override PartName="/ppt/media/image107.png" ContentType="image/png"/>
  <Override PartName="/ppt/media/image22.png" ContentType="image/png"/>
  <Override PartName="/ppt/media/image70.png" ContentType="image/png"/>
  <Override PartName="/ppt/media/image71.png" ContentType="image/png"/>
  <Override PartName="/ppt/media/image74.png" ContentType="image/png"/>
  <Override PartName="/ppt/media/image122.png" ContentType="image/png"/>
  <Override PartName="/ppt/media/image75.png" ContentType="image/png"/>
  <Override PartName="/ppt/media/image123.png" ContentType="image/png"/>
  <Override PartName="/ppt/media/image76.png" ContentType="image/png"/>
  <Override PartName="/ppt/media/image124.png" ContentType="image/png"/>
  <Override PartName="/ppt/media/image77.png" ContentType="image/png"/>
  <Override PartName="/ppt/media/image84.png" ContentType="image/png"/>
  <Override PartName="/ppt/media/image72.png" ContentType="image/png"/>
  <Override PartName="/ppt/media/image120.png" ContentType="image/png"/>
  <Override PartName="/ppt/media/image99.png" ContentType="image/png"/>
  <Override PartName="/ppt/media/image118.png" ContentType="image/png"/>
  <Override PartName="/ppt/media/image23.png" ContentType="image/png"/>
  <Override PartName="/ppt/media/image79.png" ContentType="image/png"/>
  <Override PartName="/ppt/media/image109.png" ContentType="image/png"/>
  <Override PartName="/ppt/media/image28.png" ContentType="image/png"/>
  <Override PartName="/ppt/media/image93.png" ContentType="image/png"/>
  <Override PartName="/ppt/media/image78.png" ContentType="image/png"/>
  <Override PartName="/ppt/media/image108.png" ContentType="image/png"/>
  <Override PartName="/ppt/media/image87.png" ContentType="image/png"/>
  <Override PartName="/ppt/media/image98.png" ContentType="image/png"/>
  <Override PartName="/ppt/media/image61.png" ContentType="image/png"/>
  <Override PartName="/ppt/media/image86.png" ContentType="image/png"/>
  <Override PartName="/ppt/media/image97.png" ContentType="image/png"/>
  <Override PartName="/ppt/media/image60.png" ContentType="image/png"/>
  <Override PartName="/ppt/media/image85.png" ContentType="image/png"/>
  <Override PartName="/ppt/media/image96.png" ContentType="image/png"/>
  <Override PartName="/ppt/media/image95.png" ContentType="image/png"/>
  <Override PartName="/ppt/media/image73.png" ContentType="image/png"/>
  <Override PartName="/ppt/media/image121.png" ContentType="image/png"/>
  <Override PartName="/ppt/media/image119.png" ContentType="image/png"/>
  <Override PartName="/ppt/media/image24.png" ContentType="image/png"/>
  <Override PartName="/ppt/media/image89.png" ContentType="image/png"/>
  <Override PartName="/ppt/media/image62.png" ContentType="image/png"/>
  <Override PartName="/ppt/media/image110.png" ContentType="image/png"/>
  <Override PartName="/ppt/media/image117.png" ContentType="image/png"/>
  <Override PartName="/ppt/media/image69.png" ContentType="image/png"/>
  <Override PartName="/ppt/media/image116.png" ContentType="image/png"/>
  <Override PartName="/ppt/media/image68.png" ContentType="image/png"/>
  <Override PartName="/ppt/media/image115.png" ContentType="image/png"/>
  <Override PartName="/ppt/media/image67.png" ContentType="image/png"/>
  <Override PartName="/ppt/media/image66.png" ContentType="image/png"/>
  <Override PartName="/ppt/media/image114.png" ContentType="image/png"/>
  <Override PartName="/ppt/media/image65.png" ContentType="image/png"/>
  <Override PartName="/ppt/media/image113.png" ContentType="image/png"/>
  <Override PartName="/ppt/media/image64.png" ContentType="image/png"/>
  <Override PartName="/ppt/media/image112.png" ContentType="image/png"/>
  <Override PartName="/ppt/media/image63.png" ContentType="image/png"/>
  <Override PartName="/ppt/media/image111.png" ContentType="image/png"/>
  <Override PartName="/ppt/media/image29.png" ContentType="image/png"/>
  <Override PartName="/ppt/media/image94.png" ContentType="image/png"/>
  <Override PartName="/ppt/media/image92.png" ContentType="image/png"/>
  <Override PartName="/ppt/media/image27.png" ContentType="image/png"/>
  <Override PartName="/ppt/media/image91.png" ContentType="image/png"/>
  <Override PartName="/ppt/media/image26.png" ContentType="image/png"/>
  <Override PartName="/ppt/media/image90.png" ContentType="image/png"/>
  <Override PartName="/ppt/media/image25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Cliquez pour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déplacer la diapo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E87DE22-7628-4240-81B6-24593EA1E5EE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 type="dt" idx="58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PlaceHolder 5"/>
          <p:cNvSpPr>
            <a:spLocks noGrp="1"/>
          </p:cNvSpPr>
          <p:nvPr>
            <p:ph type="ftr" idx="59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PlaceHolder 6"/>
          <p:cNvSpPr>
            <a:spLocks noGrp="1"/>
          </p:cNvSpPr>
          <p:nvPr>
            <p:ph type="sldNum" idx="60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85" name="PlaceHolder 2"/>
          <p:cNvSpPr>
            <a:spLocks noGrp="1"/>
          </p:cNvSpPr>
          <p:nvPr>
            <p:ph type="dt" idx="61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PlaceHolder 5"/>
          <p:cNvSpPr>
            <a:spLocks noGrp="1"/>
          </p:cNvSpPr>
          <p:nvPr>
            <p:ph type="ftr" idx="62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PlaceHolder 6"/>
          <p:cNvSpPr>
            <a:spLocks noGrp="1"/>
          </p:cNvSpPr>
          <p:nvPr>
            <p:ph type="sldNum" idx="63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BE08D2-630B-42EB-A32D-C18870DBA7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267B1C-1551-4B7E-AF5E-5D3F035C16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525B20F-9622-4CC9-BDC2-CE92CF80B0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535EAFC-0679-4B83-ABEE-2FB146C8D1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4E70763-4C53-4605-8473-D0A0F08EE5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360DE27-D2F8-48C7-BD98-E30242F76C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7B797D5-5863-4C58-8196-6DC2B51FE9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E859696-903A-4230-ACB2-127571CFFA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2F28C33-29DE-40F9-9DC0-23526139DF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F81414A-DA18-4FC2-8845-F2F18D7582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41934B7-A106-4E96-B126-4DFCC0C1AD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EE2264-1EE1-4366-9C06-6BE9EFF2E5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456CFE-6A0B-401C-B594-A39A370985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3DCCD0-8864-403A-A708-3453D3692F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EE088A-EB93-4504-9401-C1010F8962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4A25A0-8114-480D-A19D-3BB6D89918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8A0606-7822-49DC-AA85-E3D3F73863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8246E0-4875-4765-AB74-6FA8AA45BD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26B0B1-9D46-4183-82B0-E0703798E7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1A762D-5E73-4753-B643-D7E579919A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8F3B81-A124-465A-AB41-5A9F876116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7AC274-31CC-4D06-88E5-23E65527F3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slideLayout" Target="../slideLayouts/slideLayout9.xml"/><Relationship Id="rId1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6.png"/><Relationship Id="rId13" Type="http://schemas.openxmlformats.org/officeDocument/2006/relationships/image" Target="../media/image16.png"/><Relationship Id="rId14" Type="http://schemas.openxmlformats.org/officeDocument/2006/relationships/image" Target="../media/image16.png"/><Relationship Id="rId15" Type="http://schemas.openxmlformats.org/officeDocument/2006/relationships/image" Target="../media/image18.png"/><Relationship Id="rId16" Type="http://schemas.openxmlformats.org/officeDocument/2006/relationships/image" Target="../media/image19.jpeg"/><Relationship Id="rId17" Type="http://schemas.openxmlformats.org/officeDocument/2006/relationships/image" Target="../media/image18.png"/><Relationship Id="rId18" Type="http://schemas.openxmlformats.org/officeDocument/2006/relationships/image" Target="../media/image19.jpeg"/><Relationship Id="rId19" Type="http://schemas.openxmlformats.org/officeDocument/2006/relationships/image" Target="../media/image18.png"/><Relationship Id="rId20" Type="http://schemas.openxmlformats.org/officeDocument/2006/relationships/image" Target="../media/image20.png"/><Relationship Id="rId21" Type="http://schemas.openxmlformats.org/officeDocument/2006/relationships/image" Target="../media/image18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3.png"/><Relationship Id="rId28" Type="http://schemas.openxmlformats.org/officeDocument/2006/relationships/image" Target="../media/image24.png"/><Relationship Id="rId29" Type="http://schemas.openxmlformats.org/officeDocument/2006/relationships/image" Target="../media/image25.png"/><Relationship Id="rId30" Type="http://schemas.openxmlformats.org/officeDocument/2006/relationships/image" Target="../media/image23.png"/><Relationship Id="rId31" Type="http://schemas.openxmlformats.org/officeDocument/2006/relationships/image" Target="../media/image24.png"/><Relationship Id="rId32" Type="http://schemas.openxmlformats.org/officeDocument/2006/relationships/image" Target="../media/image25.png"/><Relationship Id="rId33" Type="http://schemas.openxmlformats.org/officeDocument/2006/relationships/image" Target="../media/image23.png"/><Relationship Id="rId34" Type="http://schemas.openxmlformats.org/officeDocument/2006/relationships/image" Target="../media/image24.png"/><Relationship Id="rId35" Type="http://schemas.openxmlformats.org/officeDocument/2006/relationships/image" Target="../media/image25.png"/><Relationship Id="rId36" Type="http://schemas.openxmlformats.org/officeDocument/2006/relationships/image" Target="../media/image23.png"/><Relationship Id="rId37" Type="http://schemas.openxmlformats.org/officeDocument/2006/relationships/image" Target="../media/image24.png"/><Relationship Id="rId38" Type="http://schemas.openxmlformats.org/officeDocument/2006/relationships/image" Target="../media/image25.png"/><Relationship Id="rId39" Type="http://schemas.openxmlformats.org/officeDocument/2006/relationships/image" Target="../media/image26.png"/><Relationship Id="rId40" Type="http://schemas.openxmlformats.org/officeDocument/2006/relationships/image" Target="../media/image27.png"/><Relationship Id="rId41" Type="http://schemas.openxmlformats.org/officeDocument/2006/relationships/slideLayout" Target="../slideLayouts/slideLayout9.xml"/><Relationship Id="rId4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8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8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8.png"/><Relationship Id="rId18" Type="http://schemas.openxmlformats.org/officeDocument/2006/relationships/image" Target="../media/image34.png"/><Relationship Id="rId19" Type="http://schemas.openxmlformats.org/officeDocument/2006/relationships/image" Target="../media/image35.png"/><Relationship Id="rId20" Type="http://schemas.openxmlformats.org/officeDocument/2006/relationships/image" Target="../media/image8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39.png"/><Relationship Id="rId28" Type="http://schemas.openxmlformats.org/officeDocument/2006/relationships/image" Target="../media/image40.png"/><Relationship Id="rId29" Type="http://schemas.openxmlformats.org/officeDocument/2006/relationships/image" Target="../media/image41.png"/><Relationship Id="rId30" Type="http://schemas.openxmlformats.org/officeDocument/2006/relationships/image" Target="../media/image39.png"/><Relationship Id="rId31" Type="http://schemas.openxmlformats.org/officeDocument/2006/relationships/image" Target="../media/image39.png"/><Relationship Id="rId32" Type="http://schemas.openxmlformats.org/officeDocument/2006/relationships/image" Target="../media/image39.png"/><Relationship Id="rId33" Type="http://schemas.openxmlformats.org/officeDocument/2006/relationships/image" Target="../media/image42.png"/><Relationship Id="rId34" Type="http://schemas.openxmlformats.org/officeDocument/2006/relationships/image" Target="../media/image42.png"/><Relationship Id="rId35" Type="http://schemas.openxmlformats.org/officeDocument/2006/relationships/image" Target="../media/image42.png"/><Relationship Id="rId36" Type="http://schemas.openxmlformats.org/officeDocument/2006/relationships/image" Target="../media/image42.png"/><Relationship Id="rId37" Type="http://schemas.openxmlformats.org/officeDocument/2006/relationships/image" Target="../media/image42.png"/><Relationship Id="rId38" Type="http://schemas.openxmlformats.org/officeDocument/2006/relationships/image" Target="../media/image42.png"/><Relationship Id="rId39" Type="http://schemas.openxmlformats.org/officeDocument/2006/relationships/image" Target="../media/image39.png"/><Relationship Id="rId40" Type="http://schemas.openxmlformats.org/officeDocument/2006/relationships/image" Target="../media/image43.png"/><Relationship Id="rId41" Type="http://schemas.openxmlformats.org/officeDocument/2006/relationships/image" Target="../media/image44.png"/><Relationship Id="rId42" Type="http://schemas.openxmlformats.org/officeDocument/2006/relationships/image" Target="../media/image43.pn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19.jpeg"/><Relationship Id="rId46" Type="http://schemas.openxmlformats.org/officeDocument/2006/relationships/image" Target="../media/image46.png"/><Relationship Id="rId47" Type="http://schemas.openxmlformats.org/officeDocument/2006/relationships/image" Target="../media/image19.jpeg"/><Relationship Id="rId48" Type="http://schemas.openxmlformats.org/officeDocument/2006/relationships/image" Target="../media/image47.png"/><Relationship Id="rId49" Type="http://schemas.openxmlformats.org/officeDocument/2006/relationships/image" Target="../media/image19.jpeg"/><Relationship Id="rId50" Type="http://schemas.openxmlformats.org/officeDocument/2006/relationships/image" Target="../media/image43.png"/><Relationship Id="rId51" Type="http://schemas.openxmlformats.org/officeDocument/2006/relationships/image" Target="../media/image44.png"/><Relationship Id="rId52" Type="http://schemas.openxmlformats.org/officeDocument/2006/relationships/slideLayout" Target="../slideLayouts/slideLayout9.xml"/><Relationship Id="rId5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6.png"/><Relationship Id="rId13" Type="http://schemas.openxmlformats.org/officeDocument/2006/relationships/image" Target="../media/image58.png"/><Relationship Id="rId14" Type="http://schemas.openxmlformats.org/officeDocument/2006/relationships/image" Target="../media/image56.png"/><Relationship Id="rId15" Type="http://schemas.openxmlformats.org/officeDocument/2006/relationships/image" Target="../media/image59.png"/><Relationship Id="rId16" Type="http://schemas.openxmlformats.org/officeDocument/2006/relationships/image" Target="../media/image56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9.jpeg"/><Relationship Id="rId20" Type="http://schemas.openxmlformats.org/officeDocument/2006/relationships/image" Target="../media/image19.jpeg"/><Relationship Id="rId21" Type="http://schemas.openxmlformats.org/officeDocument/2006/relationships/image" Target="../media/image62.png"/><Relationship Id="rId22" Type="http://schemas.openxmlformats.org/officeDocument/2006/relationships/image" Target="../media/image63.png"/><Relationship Id="rId23" Type="http://schemas.openxmlformats.org/officeDocument/2006/relationships/image" Target="../media/image64.png"/><Relationship Id="rId24" Type="http://schemas.openxmlformats.org/officeDocument/2006/relationships/image" Target="../media/image65.png"/><Relationship Id="rId25" Type="http://schemas.openxmlformats.org/officeDocument/2006/relationships/image" Target="../media/image66.png"/><Relationship Id="rId26" Type="http://schemas.openxmlformats.org/officeDocument/2006/relationships/image" Target="../media/image67.png"/><Relationship Id="rId27" Type="http://schemas.openxmlformats.org/officeDocument/2006/relationships/image" Target="../media/image68.png"/><Relationship Id="rId28" Type="http://schemas.openxmlformats.org/officeDocument/2006/relationships/image" Target="../media/image69.png"/><Relationship Id="rId29" Type="http://schemas.openxmlformats.org/officeDocument/2006/relationships/image" Target="../media/image67.png"/><Relationship Id="rId30" Type="http://schemas.openxmlformats.org/officeDocument/2006/relationships/image" Target="../media/image68.png"/><Relationship Id="rId31" Type="http://schemas.openxmlformats.org/officeDocument/2006/relationships/image" Target="../media/image69.png"/><Relationship Id="rId32" Type="http://schemas.openxmlformats.org/officeDocument/2006/relationships/image" Target="../media/image67.png"/><Relationship Id="rId33" Type="http://schemas.openxmlformats.org/officeDocument/2006/relationships/image" Target="../media/image68.png"/><Relationship Id="rId34" Type="http://schemas.openxmlformats.org/officeDocument/2006/relationships/image" Target="../media/image69.png"/><Relationship Id="rId35" Type="http://schemas.openxmlformats.org/officeDocument/2006/relationships/image" Target="../media/image70.png"/><Relationship Id="rId36" Type="http://schemas.openxmlformats.org/officeDocument/2006/relationships/image" Target="../media/image68.png"/><Relationship Id="rId37" Type="http://schemas.openxmlformats.org/officeDocument/2006/relationships/image" Target="../media/image69.png"/><Relationship Id="rId38" Type="http://schemas.openxmlformats.org/officeDocument/2006/relationships/image" Target="../media/image67.png"/><Relationship Id="rId39" Type="http://schemas.openxmlformats.org/officeDocument/2006/relationships/image" Target="../media/image68.png"/><Relationship Id="rId40" Type="http://schemas.openxmlformats.org/officeDocument/2006/relationships/image" Target="../media/image69.png"/><Relationship Id="rId41" Type="http://schemas.openxmlformats.org/officeDocument/2006/relationships/image" Target="../media/image71.png"/><Relationship Id="rId42" Type="http://schemas.openxmlformats.org/officeDocument/2006/relationships/image" Target="../media/image68.png"/><Relationship Id="rId43" Type="http://schemas.openxmlformats.org/officeDocument/2006/relationships/slideLayout" Target="../slideLayouts/slideLayout9.xml"/><Relationship Id="rId4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2.png"/><Relationship Id="rId3" Type="http://schemas.openxmlformats.org/officeDocument/2006/relationships/image" Target="../media/image72.png"/><Relationship Id="rId4" Type="http://schemas.openxmlformats.org/officeDocument/2006/relationships/image" Target="../media/image3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24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0.png"/><Relationship Id="rId16" Type="http://schemas.openxmlformats.org/officeDocument/2006/relationships/image" Target="../media/image82.png"/><Relationship Id="rId17" Type="http://schemas.openxmlformats.org/officeDocument/2006/relationships/image" Target="../media/image80.png"/><Relationship Id="rId18" Type="http://schemas.openxmlformats.org/officeDocument/2006/relationships/image" Target="../media/image82.png"/><Relationship Id="rId19" Type="http://schemas.openxmlformats.org/officeDocument/2006/relationships/image" Target="../media/image80.png"/><Relationship Id="rId20" Type="http://schemas.openxmlformats.org/officeDocument/2006/relationships/image" Target="../media/image82.png"/><Relationship Id="rId21" Type="http://schemas.openxmlformats.org/officeDocument/2006/relationships/image" Target="../media/image83.png"/><Relationship Id="rId22" Type="http://schemas.openxmlformats.org/officeDocument/2006/relationships/image" Target="../media/image24.png"/><Relationship Id="rId23" Type="http://schemas.openxmlformats.org/officeDocument/2006/relationships/image" Target="../media/image84.png"/><Relationship Id="rId24" Type="http://schemas.openxmlformats.org/officeDocument/2006/relationships/image" Target="../media/image82.png"/><Relationship Id="rId25" Type="http://schemas.openxmlformats.org/officeDocument/2006/relationships/image" Target="../media/image84.png"/><Relationship Id="rId26" Type="http://schemas.openxmlformats.org/officeDocument/2006/relationships/image" Target="../media/image82.png"/><Relationship Id="rId27" Type="http://schemas.openxmlformats.org/officeDocument/2006/relationships/image" Target="../media/image79.png"/><Relationship Id="rId28" Type="http://schemas.openxmlformats.org/officeDocument/2006/relationships/image" Target="../media/image24.png"/><Relationship Id="rId29" Type="http://schemas.openxmlformats.org/officeDocument/2006/relationships/image" Target="../media/image85.png"/><Relationship Id="rId30" Type="http://schemas.openxmlformats.org/officeDocument/2006/relationships/image" Target="../media/image82.png"/><Relationship Id="rId31" Type="http://schemas.openxmlformats.org/officeDocument/2006/relationships/image" Target="../media/image85.png"/><Relationship Id="rId32" Type="http://schemas.openxmlformats.org/officeDocument/2006/relationships/image" Target="../media/image82.png"/><Relationship Id="rId33" Type="http://schemas.openxmlformats.org/officeDocument/2006/relationships/image" Target="../media/image85.png"/><Relationship Id="rId34" Type="http://schemas.openxmlformats.org/officeDocument/2006/relationships/image" Target="../media/image82.png"/><Relationship Id="rId35" Type="http://schemas.openxmlformats.org/officeDocument/2006/relationships/slideLayout" Target="../slideLayouts/slideLayout9.xml"/><Relationship Id="rId3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6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94.png"/><Relationship Id="rId12" Type="http://schemas.openxmlformats.org/officeDocument/2006/relationships/image" Target="../media/image95.png"/><Relationship Id="rId13" Type="http://schemas.openxmlformats.org/officeDocument/2006/relationships/image" Target="../media/image96.png"/><Relationship Id="rId14" Type="http://schemas.openxmlformats.org/officeDocument/2006/relationships/image" Target="../media/image97.png"/><Relationship Id="rId15" Type="http://schemas.openxmlformats.org/officeDocument/2006/relationships/image" Target="../media/image98.png"/><Relationship Id="rId16" Type="http://schemas.openxmlformats.org/officeDocument/2006/relationships/image" Target="../media/image99.png"/><Relationship Id="rId17" Type="http://schemas.openxmlformats.org/officeDocument/2006/relationships/image" Target="../media/image100.png"/><Relationship Id="rId18" Type="http://schemas.openxmlformats.org/officeDocument/2006/relationships/image" Target="../media/image101.png"/><Relationship Id="rId19" Type="http://schemas.openxmlformats.org/officeDocument/2006/relationships/image" Target="../media/image102.png"/><Relationship Id="rId20" Type="http://schemas.openxmlformats.org/officeDocument/2006/relationships/image" Target="../media/image103.png"/><Relationship Id="rId21" Type="http://schemas.openxmlformats.org/officeDocument/2006/relationships/image" Target="../media/image104.png"/><Relationship Id="rId22" Type="http://schemas.openxmlformats.org/officeDocument/2006/relationships/image" Target="../media/image105.png"/><Relationship Id="rId23" Type="http://schemas.openxmlformats.org/officeDocument/2006/relationships/image" Target="../media/image106.png"/><Relationship Id="rId24" Type="http://schemas.openxmlformats.org/officeDocument/2006/relationships/image" Target="../media/image106.png"/><Relationship Id="rId25" Type="http://schemas.openxmlformats.org/officeDocument/2006/relationships/image" Target="../media/image107.png"/><Relationship Id="rId26" Type="http://schemas.openxmlformats.org/officeDocument/2006/relationships/image" Target="../media/image108.png"/><Relationship Id="rId27" Type="http://schemas.openxmlformats.org/officeDocument/2006/relationships/image" Target="../media/image106.png"/><Relationship Id="rId28" Type="http://schemas.openxmlformats.org/officeDocument/2006/relationships/image" Target="../media/image106.png"/><Relationship Id="rId29" Type="http://schemas.openxmlformats.org/officeDocument/2006/relationships/image" Target="../media/image106.png"/><Relationship Id="rId30" Type="http://schemas.openxmlformats.org/officeDocument/2006/relationships/image" Target="../media/image109.png"/><Relationship Id="rId31" Type="http://schemas.openxmlformats.org/officeDocument/2006/relationships/image" Target="../media/image110.png"/><Relationship Id="rId32" Type="http://schemas.openxmlformats.org/officeDocument/2006/relationships/image" Target="../media/image105.png"/><Relationship Id="rId33" Type="http://schemas.openxmlformats.org/officeDocument/2006/relationships/image" Target="../media/image106.png"/><Relationship Id="rId34" Type="http://schemas.openxmlformats.org/officeDocument/2006/relationships/image" Target="../media/image106.png"/><Relationship Id="rId35" Type="http://schemas.openxmlformats.org/officeDocument/2006/relationships/image" Target="../media/image111.png"/><Relationship Id="rId36" Type="http://schemas.openxmlformats.org/officeDocument/2006/relationships/image" Target="../media/image112.png"/><Relationship Id="rId37" Type="http://schemas.openxmlformats.org/officeDocument/2006/relationships/image" Target="../media/image111.png"/><Relationship Id="rId38" Type="http://schemas.openxmlformats.org/officeDocument/2006/relationships/image" Target="../media/image113.png"/><Relationship Id="rId39" Type="http://schemas.openxmlformats.org/officeDocument/2006/relationships/image" Target="../media/image113.png"/><Relationship Id="rId40" Type="http://schemas.openxmlformats.org/officeDocument/2006/relationships/image" Target="../media/image113.png"/><Relationship Id="rId41" Type="http://schemas.openxmlformats.org/officeDocument/2006/relationships/image" Target="../media/image113.png"/><Relationship Id="rId42" Type="http://schemas.openxmlformats.org/officeDocument/2006/relationships/image" Target="../media/image113.png"/><Relationship Id="rId43" Type="http://schemas.openxmlformats.org/officeDocument/2006/relationships/image" Target="../media/image113.png"/><Relationship Id="rId44" Type="http://schemas.openxmlformats.org/officeDocument/2006/relationships/slideLayout" Target="../slideLayouts/slideLayout9.xml"/><Relationship Id="rId4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114.png"/><Relationship Id="rId3" Type="http://schemas.openxmlformats.org/officeDocument/2006/relationships/image" Target="../media/image114.png"/><Relationship Id="rId4" Type="http://schemas.openxmlformats.org/officeDocument/2006/relationships/image" Target="../media/image114.png"/><Relationship Id="rId5" Type="http://schemas.openxmlformats.org/officeDocument/2006/relationships/image" Target="../media/image114.png"/><Relationship Id="rId6" Type="http://schemas.openxmlformats.org/officeDocument/2006/relationships/image" Target="../media/image81.png"/><Relationship Id="rId7" Type="http://schemas.openxmlformats.org/officeDocument/2006/relationships/image" Target="../media/image115.png"/><Relationship Id="rId8" Type="http://schemas.openxmlformats.org/officeDocument/2006/relationships/image" Target="../media/image34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7.png"/><Relationship Id="rId12" Type="http://schemas.openxmlformats.org/officeDocument/2006/relationships/image" Target="../media/image34.png"/><Relationship Id="rId13" Type="http://schemas.openxmlformats.org/officeDocument/2006/relationships/image" Target="../media/image117.png"/><Relationship Id="rId14" Type="http://schemas.openxmlformats.org/officeDocument/2006/relationships/image" Target="../media/image116.png"/><Relationship Id="rId15" Type="http://schemas.openxmlformats.org/officeDocument/2006/relationships/image" Target="../media/image34.png"/><Relationship Id="rId16" Type="http://schemas.openxmlformats.org/officeDocument/2006/relationships/image" Target="../media/image116.png"/><Relationship Id="rId17" Type="http://schemas.openxmlformats.org/officeDocument/2006/relationships/image" Target="../media/image116.png"/><Relationship Id="rId18" Type="http://schemas.openxmlformats.org/officeDocument/2006/relationships/image" Target="../media/image116.png"/><Relationship Id="rId19" Type="http://schemas.openxmlformats.org/officeDocument/2006/relationships/image" Target="../media/image118.png"/><Relationship Id="rId20" Type="http://schemas.openxmlformats.org/officeDocument/2006/relationships/image" Target="../media/image119.png"/><Relationship Id="rId21" Type="http://schemas.openxmlformats.org/officeDocument/2006/relationships/image" Target="../media/image118.png"/><Relationship Id="rId22" Type="http://schemas.openxmlformats.org/officeDocument/2006/relationships/image" Target="../media/image120.png"/><Relationship Id="rId23" Type="http://schemas.openxmlformats.org/officeDocument/2006/relationships/image" Target="../media/image118.png"/><Relationship Id="rId24" Type="http://schemas.openxmlformats.org/officeDocument/2006/relationships/image" Target="../media/image121.png"/><Relationship Id="rId25" Type="http://schemas.openxmlformats.org/officeDocument/2006/relationships/image" Target="../media/image118.png"/><Relationship Id="rId26" Type="http://schemas.openxmlformats.org/officeDocument/2006/relationships/image" Target="../media/image122.png"/><Relationship Id="rId27" Type="http://schemas.openxmlformats.org/officeDocument/2006/relationships/slideLayout" Target="../slideLayouts/slideLayout9.xml"/><Relationship Id="rId2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3.png"/><Relationship Id="rId2" Type="http://schemas.openxmlformats.org/officeDocument/2006/relationships/image" Target="../media/image12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74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76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" name="Group 6"/>
          <p:cNvGrpSpPr/>
          <p:nvPr/>
        </p:nvGrpSpPr>
        <p:grpSpPr>
          <a:xfrm>
            <a:off x="528120" y="399960"/>
            <a:ext cx="16387560" cy="5385960"/>
            <a:chOff x="528120" y="399960"/>
            <a:chExt cx="16387560" cy="5385960"/>
          </a:xfrm>
        </p:grpSpPr>
        <p:sp>
          <p:nvSpPr>
            <p:cNvPr id="78" name="Freeform 7"/>
            <p:cNvSpPr/>
            <p:nvPr/>
          </p:nvSpPr>
          <p:spPr>
            <a:xfrm>
              <a:off x="528120" y="399960"/>
              <a:ext cx="16387560" cy="5385960"/>
            </a:xfrm>
            <a:custGeom>
              <a:avLst/>
              <a:gdLst>
                <a:gd name="textAreaLeft" fmla="*/ 0 w 16387560"/>
                <a:gd name="textAreaRight" fmla="*/ 16387920 w 16387560"/>
                <a:gd name="textAreaTop" fmla="*/ 0 h 5385960"/>
                <a:gd name="textAreaBottom" fmla="*/ 5386320 h 5385960"/>
              </a:gdLst>
              <a:ahLst/>
              <a:rect l="textAreaLeft" t="textAreaTop" r="textAreaRight" b="textAreaBottom"/>
              <a:pathLst>
                <a:path w="21850350" h="7181850">
                  <a:moveTo>
                    <a:pt x="0" y="0"/>
                  </a:moveTo>
                  <a:lnTo>
                    <a:pt x="21850350" y="0"/>
                  </a:lnTo>
                  <a:lnTo>
                    <a:pt x="21850350" y="7181850"/>
                  </a:lnTo>
                  <a:lnTo>
                    <a:pt x="0" y="7181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" name="Group 8"/>
          <p:cNvGrpSpPr/>
          <p:nvPr/>
        </p:nvGrpSpPr>
        <p:grpSpPr>
          <a:xfrm>
            <a:off x="330120" y="392760"/>
            <a:ext cx="13437000" cy="2256480"/>
            <a:chOff x="330120" y="392760"/>
            <a:chExt cx="13437000" cy="2256480"/>
          </a:xfrm>
        </p:grpSpPr>
        <p:sp>
          <p:nvSpPr>
            <p:cNvPr id="80" name="Freeform 9"/>
            <p:cNvSpPr/>
            <p:nvPr/>
          </p:nvSpPr>
          <p:spPr>
            <a:xfrm>
              <a:off x="330120" y="399960"/>
              <a:ext cx="13437000" cy="2249280"/>
            </a:xfrm>
            <a:custGeom>
              <a:avLst/>
              <a:gdLst>
                <a:gd name="textAreaLeft" fmla="*/ 0 w 13437000"/>
                <a:gd name="textAreaRight" fmla="*/ 13437360 w 13437000"/>
                <a:gd name="textAreaTop" fmla="*/ 0 h 2249280"/>
                <a:gd name="textAreaBottom" fmla="*/ 2249640 h 2249280"/>
              </a:gdLst>
              <a:ahLst/>
              <a:rect l="textAreaLeft" t="textAreaTop" r="textAreaRight" b="textAreaBottom"/>
              <a:pathLst>
                <a:path w="17916525" h="2999368">
                  <a:moveTo>
                    <a:pt x="0" y="0"/>
                  </a:moveTo>
                  <a:lnTo>
                    <a:pt x="17916525" y="0"/>
                  </a:lnTo>
                  <a:lnTo>
                    <a:pt x="17916525" y="2999368"/>
                  </a:lnTo>
                  <a:lnTo>
                    <a:pt x="0" y="2999368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TextBox 10"/>
            <p:cNvSpPr/>
            <p:nvPr/>
          </p:nvSpPr>
          <p:spPr>
            <a:xfrm>
              <a:off x="330120" y="392760"/>
              <a:ext cx="13437000" cy="22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2240"/>
                </a:lnSpc>
              </a:pPr>
              <a:r>
                <a:rPr b="0" lang="en-US" sz="10200" spc="-1" strike="noStrike">
                  <a:solidFill>
                    <a:srgbClr val="004a5c"/>
                  </a:solidFill>
                  <a:latin typeface="League Spartan"/>
                  <a:ea typeface="League Spartan"/>
                </a:rPr>
                <a:t>Tunisian Real Estate</a:t>
              </a:r>
              <a:endParaRPr b="0" lang="fr-FR" sz="10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" name="Group 11"/>
          <p:cNvGrpSpPr/>
          <p:nvPr/>
        </p:nvGrpSpPr>
        <p:grpSpPr>
          <a:xfrm>
            <a:off x="4541400" y="2377800"/>
            <a:ext cx="6432480" cy="2256480"/>
            <a:chOff x="4541400" y="2377800"/>
            <a:chExt cx="6432480" cy="2256480"/>
          </a:xfrm>
        </p:grpSpPr>
        <p:sp>
          <p:nvSpPr>
            <p:cNvPr id="83" name="Freeform 12"/>
            <p:cNvSpPr/>
            <p:nvPr/>
          </p:nvSpPr>
          <p:spPr>
            <a:xfrm>
              <a:off x="4541400" y="2385000"/>
              <a:ext cx="6432480" cy="2249280"/>
            </a:xfrm>
            <a:custGeom>
              <a:avLst/>
              <a:gdLst>
                <a:gd name="textAreaLeft" fmla="*/ 0 w 6432480"/>
                <a:gd name="textAreaRight" fmla="*/ 6432840 w 6432480"/>
                <a:gd name="textAreaTop" fmla="*/ 0 h 2249280"/>
                <a:gd name="textAreaBottom" fmla="*/ 2249640 h 2249280"/>
              </a:gdLst>
              <a:ahLst/>
              <a:rect l="textAreaLeft" t="textAreaTop" r="textAreaRight" b="textAreaBottom"/>
              <a:pathLst>
                <a:path w="8576897" h="2999368">
                  <a:moveTo>
                    <a:pt x="0" y="0"/>
                  </a:moveTo>
                  <a:lnTo>
                    <a:pt x="8576897" y="0"/>
                  </a:lnTo>
                  <a:lnTo>
                    <a:pt x="8576897" y="2999368"/>
                  </a:lnTo>
                  <a:lnTo>
                    <a:pt x="0" y="2999368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TextBox 13"/>
            <p:cNvSpPr/>
            <p:nvPr/>
          </p:nvSpPr>
          <p:spPr>
            <a:xfrm>
              <a:off x="4541400" y="2377800"/>
              <a:ext cx="6432480" cy="22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2240"/>
                </a:lnSpc>
              </a:pPr>
              <a:r>
                <a:rPr b="0" lang="en-US" sz="10200" spc="-1" strike="noStrike">
                  <a:solidFill>
                    <a:srgbClr val="004a5c"/>
                  </a:solidFill>
                  <a:latin typeface="League Spartan"/>
                  <a:ea typeface="League Spartan"/>
                </a:rPr>
                <a:t>MLOps</a:t>
              </a:r>
              <a:endParaRPr b="0" lang="fr-FR" sz="10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86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" name="Group 4"/>
          <p:cNvGrpSpPr/>
          <p:nvPr/>
        </p:nvGrpSpPr>
        <p:grpSpPr>
          <a:xfrm>
            <a:off x="2743200" y="771480"/>
            <a:ext cx="1142640" cy="842760"/>
            <a:chOff x="2743200" y="771480"/>
            <a:chExt cx="1142640" cy="842760"/>
          </a:xfrm>
        </p:grpSpPr>
        <p:sp>
          <p:nvSpPr>
            <p:cNvPr id="88" name="Freeform 5"/>
            <p:cNvSpPr/>
            <p:nvPr/>
          </p:nvSpPr>
          <p:spPr>
            <a:xfrm>
              <a:off x="2743200" y="771480"/>
              <a:ext cx="1142640" cy="84276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42760"/>
                <a:gd name="textAreaBottom" fmla="*/ 843120 h 842760"/>
              </a:gdLst>
              <a:ahLst/>
              <a:rect l="textAreaLeft" t="textAreaTop" r="textAreaRight" b="textAreaBottom"/>
              <a:pathLst>
                <a:path w="1524000" h="1123950">
                  <a:moveTo>
                    <a:pt x="0" y="0"/>
                  </a:moveTo>
                  <a:lnTo>
                    <a:pt x="1524000" y="0"/>
                  </a:lnTo>
                  <a:lnTo>
                    <a:pt x="1524000" y="1123950"/>
                  </a:lnTo>
                  <a:lnTo>
                    <a:pt x="0" y="112395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TextBox 6"/>
            <p:cNvSpPr/>
            <p:nvPr/>
          </p:nvSpPr>
          <p:spPr>
            <a:xfrm>
              <a:off x="2743200" y="771480"/>
              <a:ext cx="1142640" cy="84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6120"/>
                </a:lnSpc>
              </a:pPr>
              <a:r>
                <a:rPr b="0" lang="en-US" sz="510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01</a:t>
              </a:r>
              <a:endParaRPr b="0" lang="fr-FR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" name="Group 7"/>
          <p:cNvGrpSpPr/>
          <p:nvPr/>
        </p:nvGrpSpPr>
        <p:grpSpPr>
          <a:xfrm>
            <a:off x="4457880" y="952920"/>
            <a:ext cx="11086920" cy="479520"/>
            <a:chOff x="4457880" y="952920"/>
            <a:chExt cx="11086920" cy="479520"/>
          </a:xfrm>
        </p:grpSpPr>
        <p:sp>
          <p:nvSpPr>
            <p:cNvPr id="91" name="Freeform 8"/>
            <p:cNvSpPr/>
            <p:nvPr/>
          </p:nvSpPr>
          <p:spPr>
            <a:xfrm>
              <a:off x="4457880" y="952920"/>
              <a:ext cx="11086920" cy="479520"/>
            </a:xfrm>
            <a:custGeom>
              <a:avLst/>
              <a:gdLst>
                <a:gd name="textAreaLeft" fmla="*/ 0 w 11086920"/>
                <a:gd name="textAreaRight" fmla="*/ 11087280 w 11086920"/>
                <a:gd name="textAreaTop" fmla="*/ 0 h 479520"/>
                <a:gd name="textAreaBottom" fmla="*/ 479880 h 479520"/>
              </a:gdLst>
              <a:ahLst/>
              <a:rect l="textAreaLeft" t="textAreaTop" r="textAreaRight" b="textAreaBottom"/>
              <a:pathLst>
                <a:path w="14782800" h="639960">
                  <a:moveTo>
                    <a:pt x="0" y="0"/>
                  </a:moveTo>
                  <a:lnTo>
                    <a:pt x="14782800" y="0"/>
                  </a:lnTo>
                  <a:lnTo>
                    <a:pt x="14782800" y="639960"/>
                  </a:lnTo>
                  <a:lnTo>
                    <a:pt x="0" y="63996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TextBox 9"/>
            <p:cNvSpPr/>
            <p:nvPr/>
          </p:nvSpPr>
          <p:spPr>
            <a:xfrm>
              <a:off x="4457880" y="960120"/>
              <a:ext cx="11086920" cy="47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3419"/>
                </a:lnSpc>
              </a:pPr>
              <a:r>
                <a:rPr b="0" lang="en-US" sz="285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1. Project Overview &amp; Architecture</a:t>
              </a:r>
              <a:endParaRPr b="0" lang="fr-FR" sz="2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" name="Group 10"/>
          <p:cNvGrpSpPr/>
          <p:nvPr/>
        </p:nvGrpSpPr>
        <p:grpSpPr>
          <a:xfrm>
            <a:off x="2743200" y="1900080"/>
            <a:ext cx="1142640" cy="842760"/>
            <a:chOff x="2743200" y="1900080"/>
            <a:chExt cx="1142640" cy="842760"/>
          </a:xfrm>
        </p:grpSpPr>
        <p:sp>
          <p:nvSpPr>
            <p:cNvPr id="94" name="Freeform 11"/>
            <p:cNvSpPr/>
            <p:nvPr/>
          </p:nvSpPr>
          <p:spPr>
            <a:xfrm>
              <a:off x="2743200" y="1900080"/>
              <a:ext cx="1142640" cy="84276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42760"/>
                <a:gd name="textAreaBottom" fmla="*/ 843120 h 842760"/>
              </a:gdLst>
              <a:ahLst/>
              <a:rect l="textAreaLeft" t="textAreaTop" r="textAreaRight" b="textAreaBottom"/>
              <a:pathLst>
                <a:path w="1524000" h="1123950">
                  <a:moveTo>
                    <a:pt x="0" y="0"/>
                  </a:moveTo>
                  <a:lnTo>
                    <a:pt x="1524000" y="0"/>
                  </a:lnTo>
                  <a:lnTo>
                    <a:pt x="1524000" y="1123950"/>
                  </a:lnTo>
                  <a:lnTo>
                    <a:pt x="0" y="112395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TextBox 12"/>
            <p:cNvSpPr/>
            <p:nvPr/>
          </p:nvSpPr>
          <p:spPr>
            <a:xfrm>
              <a:off x="2743200" y="1900080"/>
              <a:ext cx="1142640" cy="84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6120"/>
                </a:lnSpc>
              </a:pPr>
              <a:r>
                <a:rPr b="0" lang="en-US" sz="510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02</a:t>
              </a:r>
              <a:endParaRPr b="0" lang="fr-FR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" name="Group 13"/>
          <p:cNvGrpSpPr/>
          <p:nvPr/>
        </p:nvGrpSpPr>
        <p:grpSpPr>
          <a:xfrm>
            <a:off x="4457880" y="2081880"/>
            <a:ext cx="11086920" cy="479520"/>
            <a:chOff x="4457880" y="2081880"/>
            <a:chExt cx="11086920" cy="479520"/>
          </a:xfrm>
        </p:grpSpPr>
        <p:sp>
          <p:nvSpPr>
            <p:cNvPr id="97" name="Freeform 14"/>
            <p:cNvSpPr/>
            <p:nvPr/>
          </p:nvSpPr>
          <p:spPr>
            <a:xfrm>
              <a:off x="4457880" y="2081880"/>
              <a:ext cx="11086920" cy="479520"/>
            </a:xfrm>
            <a:custGeom>
              <a:avLst/>
              <a:gdLst>
                <a:gd name="textAreaLeft" fmla="*/ 0 w 11086920"/>
                <a:gd name="textAreaRight" fmla="*/ 11087280 w 11086920"/>
                <a:gd name="textAreaTop" fmla="*/ 0 h 479520"/>
                <a:gd name="textAreaBottom" fmla="*/ 479880 h 479520"/>
              </a:gdLst>
              <a:ahLst/>
              <a:rect l="textAreaLeft" t="textAreaTop" r="textAreaRight" b="textAreaBottom"/>
              <a:pathLst>
                <a:path w="14782800" h="639960">
                  <a:moveTo>
                    <a:pt x="0" y="0"/>
                  </a:moveTo>
                  <a:lnTo>
                    <a:pt x="14782800" y="0"/>
                  </a:lnTo>
                  <a:lnTo>
                    <a:pt x="14782800" y="639960"/>
                  </a:lnTo>
                  <a:lnTo>
                    <a:pt x="0" y="63996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TextBox 15"/>
            <p:cNvSpPr/>
            <p:nvPr/>
          </p:nvSpPr>
          <p:spPr>
            <a:xfrm>
              <a:off x="4457880" y="2088720"/>
              <a:ext cx="11086920" cy="47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3419"/>
                </a:lnSpc>
              </a:pPr>
              <a:r>
                <a:rPr b="0" lang="en-US" sz="285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2. Notebook 01 (EDA): Overview</a:t>
              </a:r>
              <a:endParaRPr b="0" lang="fr-FR" sz="2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" name="Group 16"/>
          <p:cNvGrpSpPr/>
          <p:nvPr/>
        </p:nvGrpSpPr>
        <p:grpSpPr>
          <a:xfrm>
            <a:off x="2743200" y="3029040"/>
            <a:ext cx="1142640" cy="842760"/>
            <a:chOff x="2743200" y="3029040"/>
            <a:chExt cx="1142640" cy="842760"/>
          </a:xfrm>
        </p:grpSpPr>
        <p:sp>
          <p:nvSpPr>
            <p:cNvPr id="100" name="Freeform 17"/>
            <p:cNvSpPr/>
            <p:nvPr/>
          </p:nvSpPr>
          <p:spPr>
            <a:xfrm>
              <a:off x="2743200" y="3029040"/>
              <a:ext cx="1142640" cy="84276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42760"/>
                <a:gd name="textAreaBottom" fmla="*/ 843120 h 842760"/>
              </a:gdLst>
              <a:ahLst/>
              <a:rect l="textAreaLeft" t="textAreaTop" r="textAreaRight" b="textAreaBottom"/>
              <a:pathLst>
                <a:path w="1524000" h="1123950">
                  <a:moveTo>
                    <a:pt x="0" y="0"/>
                  </a:moveTo>
                  <a:lnTo>
                    <a:pt x="1524000" y="0"/>
                  </a:lnTo>
                  <a:lnTo>
                    <a:pt x="1524000" y="1123950"/>
                  </a:lnTo>
                  <a:lnTo>
                    <a:pt x="0" y="112395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TextBox 18"/>
            <p:cNvSpPr/>
            <p:nvPr/>
          </p:nvSpPr>
          <p:spPr>
            <a:xfrm>
              <a:off x="2743200" y="3029040"/>
              <a:ext cx="1142640" cy="84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6120"/>
                </a:lnSpc>
              </a:pPr>
              <a:r>
                <a:rPr b="0" lang="en-US" sz="510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03</a:t>
              </a:r>
              <a:endParaRPr b="0" lang="fr-FR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" name="Group 19"/>
          <p:cNvGrpSpPr/>
          <p:nvPr/>
        </p:nvGrpSpPr>
        <p:grpSpPr>
          <a:xfrm>
            <a:off x="4457880" y="3210480"/>
            <a:ext cx="11086920" cy="479520"/>
            <a:chOff x="4457880" y="3210480"/>
            <a:chExt cx="11086920" cy="479520"/>
          </a:xfrm>
        </p:grpSpPr>
        <p:sp>
          <p:nvSpPr>
            <p:cNvPr id="103" name="Freeform 20"/>
            <p:cNvSpPr/>
            <p:nvPr/>
          </p:nvSpPr>
          <p:spPr>
            <a:xfrm>
              <a:off x="4457880" y="3210480"/>
              <a:ext cx="11086920" cy="479520"/>
            </a:xfrm>
            <a:custGeom>
              <a:avLst/>
              <a:gdLst>
                <a:gd name="textAreaLeft" fmla="*/ 0 w 11086920"/>
                <a:gd name="textAreaRight" fmla="*/ 11087280 w 11086920"/>
                <a:gd name="textAreaTop" fmla="*/ 0 h 479520"/>
                <a:gd name="textAreaBottom" fmla="*/ 479880 h 479520"/>
              </a:gdLst>
              <a:ahLst/>
              <a:rect l="textAreaLeft" t="textAreaTop" r="textAreaRight" b="textAreaBottom"/>
              <a:pathLst>
                <a:path w="14782800" h="639960">
                  <a:moveTo>
                    <a:pt x="0" y="0"/>
                  </a:moveTo>
                  <a:lnTo>
                    <a:pt x="14782800" y="0"/>
                  </a:lnTo>
                  <a:lnTo>
                    <a:pt x="14782800" y="639960"/>
                  </a:lnTo>
                  <a:lnTo>
                    <a:pt x="0" y="63996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TextBox 21"/>
            <p:cNvSpPr/>
            <p:nvPr/>
          </p:nvSpPr>
          <p:spPr>
            <a:xfrm>
              <a:off x="4457880" y="3217680"/>
              <a:ext cx="11086920" cy="47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3419"/>
                </a:lnSpc>
              </a:pPr>
              <a:r>
                <a:rPr b="0" lang="en-US" sz="285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3. Notebook 01: Cleaning &amp; Target Transformation</a:t>
              </a:r>
              <a:endParaRPr b="0" lang="fr-FR" sz="2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" name="Group 22"/>
          <p:cNvGrpSpPr/>
          <p:nvPr/>
        </p:nvGrpSpPr>
        <p:grpSpPr>
          <a:xfrm>
            <a:off x="2743200" y="4157640"/>
            <a:ext cx="1142640" cy="842760"/>
            <a:chOff x="2743200" y="4157640"/>
            <a:chExt cx="1142640" cy="842760"/>
          </a:xfrm>
        </p:grpSpPr>
        <p:sp>
          <p:nvSpPr>
            <p:cNvPr id="106" name="Freeform 23"/>
            <p:cNvSpPr/>
            <p:nvPr/>
          </p:nvSpPr>
          <p:spPr>
            <a:xfrm>
              <a:off x="2743200" y="4157640"/>
              <a:ext cx="1142640" cy="84276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42760"/>
                <a:gd name="textAreaBottom" fmla="*/ 843120 h 842760"/>
              </a:gdLst>
              <a:ahLst/>
              <a:rect l="textAreaLeft" t="textAreaTop" r="textAreaRight" b="textAreaBottom"/>
              <a:pathLst>
                <a:path w="1524000" h="1123950">
                  <a:moveTo>
                    <a:pt x="0" y="0"/>
                  </a:moveTo>
                  <a:lnTo>
                    <a:pt x="1524000" y="0"/>
                  </a:lnTo>
                  <a:lnTo>
                    <a:pt x="1524000" y="1123950"/>
                  </a:lnTo>
                  <a:lnTo>
                    <a:pt x="0" y="112395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TextBox 24"/>
            <p:cNvSpPr/>
            <p:nvPr/>
          </p:nvSpPr>
          <p:spPr>
            <a:xfrm>
              <a:off x="2743200" y="4157640"/>
              <a:ext cx="1142640" cy="84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6120"/>
                </a:lnSpc>
              </a:pPr>
              <a:r>
                <a:rPr b="0" lang="en-US" sz="510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04</a:t>
              </a:r>
              <a:endParaRPr b="0" lang="fr-FR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8" name="Group 25"/>
          <p:cNvGrpSpPr/>
          <p:nvPr/>
        </p:nvGrpSpPr>
        <p:grpSpPr>
          <a:xfrm>
            <a:off x="4457880" y="4339080"/>
            <a:ext cx="11086920" cy="479520"/>
            <a:chOff x="4457880" y="4339080"/>
            <a:chExt cx="11086920" cy="479520"/>
          </a:xfrm>
        </p:grpSpPr>
        <p:sp>
          <p:nvSpPr>
            <p:cNvPr id="109" name="Freeform 26"/>
            <p:cNvSpPr/>
            <p:nvPr/>
          </p:nvSpPr>
          <p:spPr>
            <a:xfrm>
              <a:off x="4457880" y="4339080"/>
              <a:ext cx="11086920" cy="479520"/>
            </a:xfrm>
            <a:custGeom>
              <a:avLst/>
              <a:gdLst>
                <a:gd name="textAreaLeft" fmla="*/ 0 w 11086920"/>
                <a:gd name="textAreaRight" fmla="*/ 11087280 w 11086920"/>
                <a:gd name="textAreaTop" fmla="*/ 0 h 479520"/>
                <a:gd name="textAreaBottom" fmla="*/ 479880 h 479520"/>
              </a:gdLst>
              <a:ahLst/>
              <a:rect l="textAreaLeft" t="textAreaTop" r="textAreaRight" b="textAreaBottom"/>
              <a:pathLst>
                <a:path w="14782800" h="639960">
                  <a:moveTo>
                    <a:pt x="0" y="0"/>
                  </a:moveTo>
                  <a:lnTo>
                    <a:pt x="14782800" y="0"/>
                  </a:lnTo>
                  <a:lnTo>
                    <a:pt x="14782800" y="639960"/>
                  </a:lnTo>
                  <a:lnTo>
                    <a:pt x="0" y="63996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TextBox 27"/>
            <p:cNvSpPr/>
            <p:nvPr/>
          </p:nvSpPr>
          <p:spPr>
            <a:xfrm>
              <a:off x="4457880" y="4346280"/>
              <a:ext cx="11086920" cy="47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3419"/>
                </a:lnSpc>
              </a:pPr>
              <a:r>
                <a:rPr b="0" lang="en-US" sz="285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4. Notebook 01: Feature Engineering &amp; Encoding</a:t>
              </a:r>
              <a:endParaRPr b="0" lang="fr-FR" sz="2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" name="Group 28"/>
          <p:cNvGrpSpPr/>
          <p:nvPr/>
        </p:nvGrpSpPr>
        <p:grpSpPr>
          <a:xfrm>
            <a:off x="2743200" y="5286240"/>
            <a:ext cx="1142640" cy="842760"/>
            <a:chOff x="2743200" y="5286240"/>
            <a:chExt cx="1142640" cy="842760"/>
          </a:xfrm>
        </p:grpSpPr>
        <p:sp>
          <p:nvSpPr>
            <p:cNvPr id="112" name="Freeform 29"/>
            <p:cNvSpPr/>
            <p:nvPr/>
          </p:nvSpPr>
          <p:spPr>
            <a:xfrm>
              <a:off x="2743200" y="5286240"/>
              <a:ext cx="1142640" cy="84276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42760"/>
                <a:gd name="textAreaBottom" fmla="*/ 843120 h 842760"/>
              </a:gdLst>
              <a:ahLst/>
              <a:rect l="textAreaLeft" t="textAreaTop" r="textAreaRight" b="textAreaBottom"/>
              <a:pathLst>
                <a:path w="1524000" h="1123950">
                  <a:moveTo>
                    <a:pt x="0" y="0"/>
                  </a:moveTo>
                  <a:lnTo>
                    <a:pt x="1524000" y="0"/>
                  </a:lnTo>
                  <a:lnTo>
                    <a:pt x="1524000" y="1123950"/>
                  </a:lnTo>
                  <a:lnTo>
                    <a:pt x="0" y="112395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TextBox 30"/>
            <p:cNvSpPr/>
            <p:nvPr/>
          </p:nvSpPr>
          <p:spPr>
            <a:xfrm>
              <a:off x="2743200" y="5286240"/>
              <a:ext cx="1142640" cy="84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6120"/>
                </a:lnSpc>
              </a:pPr>
              <a:r>
                <a:rPr b="0" lang="en-US" sz="510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05</a:t>
              </a:r>
              <a:endParaRPr b="0" lang="fr-FR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" name="Group 31"/>
          <p:cNvGrpSpPr/>
          <p:nvPr/>
        </p:nvGrpSpPr>
        <p:grpSpPr>
          <a:xfrm>
            <a:off x="4457880" y="5468040"/>
            <a:ext cx="11086920" cy="479520"/>
            <a:chOff x="4457880" y="5468040"/>
            <a:chExt cx="11086920" cy="479520"/>
          </a:xfrm>
        </p:grpSpPr>
        <p:sp>
          <p:nvSpPr>
            <p:cNvPr id="115" name="Freeform 32"/>
            <p:cNvSpPr/>
            <p:nvPr/>
          </p:nvSpPr>
          <p:spPr>
            <a:xfrm>
              <a:off x="4457880" y="5468040"/>
              <a:ext cx="11086920" cy="479520"/>
            </a:xfrm>
            <a:custGeom>
              <a:avLst/>
              <a:gdLst>
                <a:gd name="textAreaLeft" fmla="*/ 0 w 11086920"/>
                <a:gd name="textAreaRight" fmla="*/ 11087280 w 11086920"/>
                <a:gd name="textAreaTop" fmla="*/ 0 h 479520"/>
                <a:gd name="textAreaBottom" fmla="*/ 479880 h 479520"/>
              </a:gdLst>
              <a:ahLst/>
              <a:rect l="textAreaLeft" t="textAreaTop" r="textAreaRight" b="textAreaBottom"/>
              <a:pathLst>
                <a:path w="14782800" h="639960">
                  <a:moveTo>
                    <a:pt x="0" y="0"/>
                  </a:moveTo>
                  <a:lnTo>
                    <a:pt x="14782800" y="0"/>
                  </a:lnTo>
                  <a:lnTo>
                    <a:pt x="14782800" y="639960"/>
                  </a:lnTo>
                  <a:lnTo>
                    <a:pt x="0" y="63996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TextBox 33"/>
            <p:cNvSpPr/>
            <p:nvPr/>
          </p:nvSpPr>
          <p:spPr>
            <a:xfrm>
              <a:off x="4457880" y="5474880"/>
              <a:ext cx="11086920" cy="47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3419"/>
                </a:lnSpc>
              </a:pPr>
              <a:r>
                <a:rPr b="0" lang="en-US" sz="285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5. Notebook 02 (Modeling): Overview</a:t>
              </a:r>
              <a:endParaRPr b="0" lang="fr-FR" sz="2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7" name="Group 34"/>
          <p:cNvGrpSpPr/>
          <p:nvPr/>
        </p:nvGrpSpPr>
        <p:grpSpPr>
          <a:xfrm>
            <a:off x="2743200" y="6415200"/>
            <a:ext cx="1142640" cy="842760"/>
            <a:chOff x="2743200" y="6415200"/>
            <a:chExt cx="1142640" cy="842760"/>
          </a:xfrm>
        </p:grpSpPr>
        <p:sp>
          <p:nvSpPr>
            <p:cNvPr id="118" name="Freeform 35"/>
            <p:cNvSpPr/>
            <p:nvPr/>
          </p:nvSpPr>
          <p:spPr>
            <a:xfrm>
              <a:off x="2743200" y="6415200"/>
              <a:ext cx="1142640" cy="84276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42760"/>
                <a:gd name="textAreaBottom" fmla="*/ 843120 h 842760"/>
              </a:gdLst>
              <a:ahLst/>
              <a:rect l="textAreaLeft" t="textAreaTop" r="textAreaRight" b="textAreaBottom"/>
              <a:pathLst>
                <a:path w="1524000" h="1123950">
                  <a:moveTo>
                    <a:pt x="0" y="0"/>
                  </a:moveTo>
                  <a:lnTo>
                    <a:pt x="1524000" y="0"/>
                  </a:lnTo>
                  <a:lnTo>
                    <a:pt x="1524000" y="1123950"/>
                  </a:lnTo>
                  <a:lnTo>
                    <a:pt x="0" y="112395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TextBox 36"/>
            <p:cNvSpPr/>
            <p:nvPr/>
          </p:nvSpPr>
          <p:spPr>
            <a:xfrm>
              <a:off x="2743200" y="6415200"/>
              <a:ext cx="1142640" cy="84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6120"/>
                </a:lnSpc>
              </a:pPr>
              <a:r>
                <a:rPr b="0" lang="en-US" sz="510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06</a:t>
              </a:r>
              <a:endParaRPr b="0" lang="fr-FR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" name="Group 37"/>
          <p:cNvGrpSpPr/>
          <p:nvPr/>
        </p:nvGrpSpPr>
        <p:grpSpPr>
          <a:xfrm>
            <a:off x="4457880" y="6596640"/>
            <a:ext cx="11086920" cy="479520"/>
            <a:chOff x="4457880" y="6596640"/>
            <a:chExt cx="11086920" cy="479520"/>
          </a:xfrm>
        </p:grpSpPr>
        <p:sp>
          <p:nvSpPr>
            <p:cNvPr id="121" name="Freeform 38"/>
            <p:cNvSpPr/>
            <p:nvPr/>
          </p:nvSpPr>
          <p:spPr>
            <a:xfrm>
              <a:off x="4457880" y="6596640"/>
              <a:ext cx="11086920" cy="479520"/>
            </a:xfrm>
            <a:custGeom>
              <a:avLst/>
              <a:gdLst>
                <a:gd name="textAreaLeft" fmla="*/ 0 w 11086920"/>
                <a:gd name="textAreaRight" fmla="*/ 11087280 w 11086920"/>
                <a:gd name="textAreaTop" fmla="*/ 0 h 479520"/>
                <a:gd name="textAreaBottom" fmla="*/ 479880 h 479520"/>
              </a:gdLst>
              <a:ahLst/>
              <a:rect l="textAreaLeft" t="textAreaTop" r="textAreaRight" b="textAreaBottom"/>
              <a:pathLst>
                <a:path w="14782800" h="639960">
                  <a:moveTo>
                    <a:pt x="0" y="0"/>
                  </a:moveTo>
                  <a:lnTo>
                    <a:pt x="14782800" y="0"/>
                  </a:lnTo>
                  <a:lnTo>
                    <a:pt x="14782800" y="639960"/>
                  </a:lnTo>
                  <a:lnTo>
                    <a:pt x="0" y="639960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TextBox 39"/>
            <p:cNvSpPr/>
            <p:nvPr/>
          </p:nvSpPr>
          <p:spPr>
            <a:xfrm>
              <a:off x="4457880" y="6603840"/>
              <a:ext cx="11086920" cy="47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3419"/>
                </a:lnSpc>
              </a:pPr>
              <a:r>
                <a:rPr b="0" lang="en-US" sz="285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6. Model Selection &amp; Hyperparameters</a:t>
              </a:r>
              <a:endParaRPr b="0" lang="fr-FR" sz="2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" name="Group 40"/>
          <p:cNvGrpSpPr/>
          <p:nvPr/>
        </p:nvGrpSpPr>
        <p:grpSpPr>
          <a:xfrm>
            <a:off x="2743200" y="7543800"/>
            <a:ext cx="1142640" cy="842760"/>
            <a:chOff x="2743200" y="7543800"/>
            <a:chExt cx="1142640" cy="842760"/>
          </a:xfrm>
        </p:grpSpPr>
        <p:sp>
          <p:nvSpPr>
            <p:cNvPr id="124" name="Freeform 41"/>
            <p:cNvSpPr/>
            <p:nvPr/>
          </p:nvSpPr>
          <p:spPr>
            <a:xfrm>
              <a:off x="2743200" y="7543800"/>
              <a:ext cx="1142640" cy="84276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842760"/>
                <a:gd name="textAreaBottom" fmla="*/ 843120 h 842760"/>
              </a:gdLst>
              <a:ahLst/>
              <a:rect l="textAreaLeft" t="textAreaTop" r="textAreaRight" b="textAreaBottom"/>
              <a:pathLst>
                <a:path w="1524000" h="1123950">
                  <a:moveTo>
                    <a:pt x="0" y="0"/>
                  </a:moveTo>
                  <a:lnTo>
                    <a:pt x="1524000" y="0"/>
                  </a:lnTo>
                  <a:lnTo>
                    <a:pt x="1524000" y="1123950"/>
                  </a:lnTo>
                  <a:lnTo>
                    <a:pt x="0" y="1123950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TextBox 42"/>
            <p:cNvSpPr/>
            <p:nvPr/>
          </p:nvSpPr>
          <p:spPr>
            <a:xfrm>
              <a:off x="2743200" y="7543800"/>
              <a:ext cx="1142640" cy="84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6120"/>
                </a:lnSpc>
              </a:pPr>
              <a:r>
                <a:rPr b="0" lang="en-US" sz="510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07</a:t>
              </a:r>
              <a:endParaRPr b="0" lang="fr-FR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" name="Group 43"/>
          <p:cNvGrpSpPr/>
          <p:nvPr/>
        </p:nvGrpSpPr>
        <p:grpSpPr>
          <a:xfrm>
            <a:off x="4457880" y="7725240"/>
            <a:ext cx="11086920" cy="479520"/>
            <a:chOff x="4457880" y="7725240"/>
            <a:chExt cx="11086920" cy="479520"/>
          </a:xfrm>
        </p:grpSpPr>
        <p:sp>
          <p:nvSpPr>
            <p:cNvPr id="127" name="Freeform 44"/>
            <p:cNvSpPr/>
            <p:nvPr/>
          </p:nvSpPr>
          <p:spPr>
            <a:xfrm>
              <a:off x="4457880" y="7725240"/>
              <a:ext cx="11086920" cy="479520"/>
            </a:xfrm>
            <a:custGeom>
              <a:avLst/>
              <a:gdLst>
                <a:gd name="textAreaLeft" fmla="*/ 0 w 11086920"/>
                <a:gd name="textAreaRight" fmla="*/ 11087280 w 11086920"/>
                <a:gd name="textAreaTop" fmla="*/ 0 h 479520"/>
                <a:gd name="textAreaBottom" fmla="*/ 479880 h 479520"/>
              </a:gdLst>
              <a:ahLst/>
              <a:rect l="textAreaLeft" t="textAreaTop" r="textAreaRight" b="textAreaBottom"/>
              <a:pathLst>
                <a:path w="14782800" h="639960">
                  <a:moveTo>
                    <a:pt x="0" y="0"/>
                  </a:moveTo>
                  <a:lnTo>
                    <a:pt x="14782800" y="0"/>
                  </a:lnTo>
                  <a:lnTo>
                    <a:pt x="14782800" y="639960"/>
                  </a:lnTo>
                  <a:lnTo>
                    <a:pt x="0" y="639960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" name="TextBox 45"/>
            <p:cNvSpPr/>
            <p:nvPr/>
          </p:nvSpPr>
          <p:spPr>
            <a:xfrm>
              <a:off x="4457880" y="7732440"/>
              <a:ext cx="11086920" cy="47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3419"/>
                </a:lnSpc>
              </a:pPr>
              <a:r>
                <a:rPr b="0" lang="en-US" sz="2850" spc="-1" strike="noStrike">
                  <a:solidFill>
                    <a:srgbClr val="b7e2f2"/>
                  </a:solidFill>
                  <a:latin typeface="Segoe Script"/>
                  <a:ea typeface="Segoe Script"/>
                </a:rPr>
                <a:t>7. Performance, Diagnostics &amp; Geo Errors</a:t>
              </a:r>
              <a:endParaRPr b="0" lang="fr-FR" sz="2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2"/>
          <p:cNvGrpSpPr/>
          <p:nvPr/>
        </p:nvGrpSpPr>
        <p:grpSpPr>
          <a:xfrm>
            <a:off x="-474840" y="0"/>
            <a:ext cx="18287640" cy="10286640"/>
            <a:chOff x="-474840" y="0"/>
            <a:chExt cx="18287640" cy="10286640"/>
          </a:xfrm>
        </p:grpSpPr>
        <p:sp>
          <p:nvSpPr>
            <p:cNvPr id="130" name="Freeform 3"/>
            <p:cNvSpPr/>
            <p:nvPr/>
          </p:nvSpPr>
          <p:spPr>
            <a:xfrm>
              <a:off x="-47484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" name="Group 4"/>
          <p:cNvGrpSpPr/>
          <p:nvPr/>
        </p:nvGrpSpPr>
        <p:grpSpPr>
          <a:xfrm>
            <a:off x="957240" y="7015320"/>
            <a:ext cx="3742920" cy="1599840"/>
            <a:chOff x="957240" y="7015320"/>
            <a:chExt cx="3742920" cy="1599840"/>
          </a:xfrm>
        </p:grpSpPr>
        <p:sp>
          <p:nvSpPr>
            <p:cNvPr id="132" name="Freeform 5"/>
            <p:cNvSpPr/>
            <p:nvPr/>
          </p:nvSpPr>
          <p:spPr>
            <a:xfrm>
              <a:off x="957240" y="7015320"/>
              <a:ext cx="3742920" cy="1599840"/>
            </a:xfrm>
            <a:custGeom>
              <a:avLst/>
              <a:gdLst>
                <a:gd name="textAreaLeft" fmla="*/ 0 w 3742920"/>
                <a:gd name="textAreaRight" fmla="*/ 3743280 w 3742920"/>
                <a:gd name="textAreaTop" fmla="*/ 0 h 1599840"/>
                <a:gd name="textAreaBottom" fmla="*/ 1600200 h 1599840"/>
              </a:gdLst>
              <a:ahLst/>
              <a:rect l="textAreaLeft" t="textAreaTop" r="textAreaRight" b="textAreaBottom"/>
              <a:pathLst>
                <a:path w="4991100" h="2133600">
                  <a:moveTo>
                    <a:pt x="0" y="0"/>
                  </a:moveTo>
                  <a:lnTo>
                    <a:pt x="4991100" y="0"/>
                  </a:lnTo>
                  <a:lnTo>
                    <a:pt x="49911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" name="Group 6"/>
          <p:cNvGrpSpPr/>
          <p:nvPr/>
        </p:nvGrpSpPr>
        <p:grpSpPr>
          <a:xfrm>
            <a:off x="4443480" y="7015320"/>
            <a:ext cx="3742920" cy="1599840"/>
            <a:chOff x="4443480" y="7015320"/>
            <a:chExt cx="3742920" cy="1599840"/>
          </a:xfrm>
        </p:grpSpPr>
        <p:sp>
          <p:nvSpPr>
            <p:cNvPr id="134" name="Freeform 7"/>
            <p:cNvSpPr/>
            <p:nvPr/>
          </p:nvSpPr>
          <p:spPr>
            <a:xfrm>
              <a:off x="4443480" y="7015320"/>
              <a:ext cx="3742920" cy="1599840"/>
            </a:xfrm>
            <a:custGeom>
              <a:avLst/>
              <a:gdLst>
                <a:gd name="textAreaLeft" fmla="*/ 0 w 3742920"/>
                <a:gd name="textAreaRight" fmla="*/ 3743280 w 3742920"/>
                <a:gd name="textAreaTop" fmla="*/ 0 h 1599840"/>
                <a:gd name="textAreaBottom" fmla="*/ 1600200 h 1599840"/>
              </a:gdLst>
              <a:ahLst/>
              <a:rect l="textAreaLeft" t="textAreaTop" r="textAreaRight" b="textAreaBottom"/>
              <a:pathLst>
                <a:path w="4991100" h="2133600">
                  <a:moveTo>
                    <a:pt x="0" y="0"/>
                  </a:moveTo>
                  <a:lnTo>
                    <a:pt x="4991100" y="0"/>
                  </a:lnTo>
                  <a:lnTo>
                    <a:pt x="49911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957240" y="8286840"/>
            <a:ext cx="3742920" cy="1599840"/>
            <a:chOff x="957240" y="8286840"/>
            <a:chExt cx="3742920" cy="1599840"/>
          </a:xfrm>
        </p:grpSpPr>
        <p:sp>
          <p:nvSpPr>
            <p:cNvPr id="136" name="Freeform 9"/>
            <p:cNvSpPr/>
            <p:nvPr/>
          </p:nvSpPr>
          <p:spPr>
            <a:xfrm>
              <a:off x="957240" y="8286840"/>
              <a:ext cx="3742920" cy="1599840"/>
            </a:xfrm>
            <a:custGeom>
              <a:avLst/>
              <a:gdLst>
                <a:gd name="textAreaLeft" fmla="*/ 0 w 3742920"/>
                <a:gd name="textAreaRight" fmla="*/ 3743280 w 3742920"/>
                <a:gd name="textAreaTop" fmla="*/ 0 h 1599840"/>
                <a:gd name="textAreaBottom" fmla="*/ 1600200 h 1599840"/>
              </a:gdLst>
              <a:ahLst/>
              <a:rect l="textAreaLeft" t="textAreaTop" r="textAreaRight" b="textAreaBottom"/>
              <a:pathLst>
                <a:path w="4991100" h="2133600">
                  <a:moveTo>
                    <a:pt x="0" y="0"/>
                  </a:moveTo>
                  <a:lnTo>
                    <a:pt x="4991100" y="0"/>
                  </a:lnTo>
                  <a:lnTo>
                    <a:pt x="49911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7" name="Group 10"/>
          <p:cNvGrpSpPr/>
          <p:nvPr/>
        </p:nvGrpSpPr>
        <p:grpSpPr>
          <a:xfrm>
            <a:off x="4443480" y="8286840"/>
            <a:ext cx="3742920" cy="1599840"/>
            <a:chOff x="4443480" y="8286840"/>
            <a:chExt cx="3742920" cy="1599840"/>
          </a:xfrm>
        </p:grpSpPr>
        <p:sp>
          <p:nvSpPr>
            <p:cNvPr id="138" name="Freeform 11"/>
            <p:cNvSpPr/>
            <p:nvPr/>
          </p:nvSpPr>
          <p:spPr>
            <a:xfrm>
              <a:off x="4443480" y="8286840"/>
              <a:ext cx="3742920" cy="1599840"/>
            </a:xfrm>
            <a:custGeom>
              <a:avLst/>
              <a:gdLst>
                <a:gd name="textAreaLeft" fmla="*/ 0 w 3742920"/>
                <a:gd name="textAreaRight" fmla="*/ 3743280 w 3742920"/>
                <a:gd name="textAreaTop" fmla="*/ 0 h 1599840"/>
                <a:gd name="textAreaBottom" fmla="*/ 1600200 h 1599840"/>
              </a:gdLst>
              <a:ahLst/>
              <a:rect l="textAreaLeft" t="textAreaTop" r="textAreaRight" b="textAreaBottom"/>
              <a:pathLst>
                <a:path w="4991100" h="2133600">
                  <a:moveTo>
                    <a:pt x="0" y="0"/>
                  </a:moveTo>
                  <a:lnTo>
                    <a:pt x="4991100" y="0"/>
                  </a:lnTo>
                  <a:lnTo>
                    <a:pt x="49911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" name="Group 12"/>
          <p:cNvGrpSpPr/>
          <p:nvPr/>
        </p:nvGrpSpPr>
        <p:grpSpPr>
          <a:xfrm>
            <a:off x="8844120" y="843120"/>
            <a:ext cx="8314920" cy="8814960"/>
            <a:chOff x="8844120" y="843120"/>
            <a:chExt cx="8314920" cy="8814960"/>
          </a:xfrm>
        </p:grpSpPr>
        <p:sp>
          <p:nvSpPr>
            <p:cNvPr id="140" name="Freeform 13"/>
            <p:cNvSpPr/>
            <p:nvPr/>
          </p:nvSpPr>
          <p:spPr>
            <a:xfrm>
              <a:off x="8844120" y="843120"/>
              <a:ext cx="8314920" cy="8814960"/>
            </a:xfrm>
            <a:custGeom>
              <a:avLst/>
              <a:gdLst>
                <a:gd name="textAreaLeft" fmla="*/ 0 w 8314920"/>
                <a:gd name="textAreaRight" fmla="*/ 8315280 w 8314920"/>
                <a:gd name="textAreaTop" fmla="*/ 0 h 8814960"/>
                <a:gd name="textAreaBottom" fmla="*/ 8815320 h 8814960"/>
              </a:gdLst>
              <a:ahLst/>
              <a:rect l="textAreaLeft" t="textAreaTop" r="textAreaRight" b="textAreaBottom"/>
              <a:pathLst>
                <a:path w="11087100" h="11753850">
                  <a:moveTo>
                    <a:pt x="0" y="0"/>
                  </a:moveTo>
                  <a:lnTo>
                    <a:pt x="11087100" y="0"/>
                  </a:lnTo>
                  <a:lnTo>
                    <a:pt x="11087100" y="11753850"/>
                  </a:lnTo>
                  <a:lnTo>
                    <a:pt x="0" y="1175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" name="Group 14"/>
          <p:cNvGrpSpPr/>
          <p:nvPr/>
        </p:nvGrpSpPr>
        <p:grpSpPr>
          <a:xfrm>
            <a:off x="1143000" y="835920"/>
            <a:ext cx="6857640" cy="2032560"/>
            <a:chOff x="1143000" y="835920"/>
            <a:chExt cx="6857640" cy="2032560"/>
          </a:xfrm>
        </p:grpSpPr>
        <p:sp>
          <p:nvSpPr>
            <p:cNvPr id="142" name="Freeform 15"/>
            <p:cNvSpPr/>
            <p:nvPr/>
          </p:nvSpPr>
          <p:spPr>
            <a:xfrm>
              <a:off x="1143000" y="857160"/>
              <a:ext cx="6857640" cy="2010960"/>
            </a:xfrm>
            <a:custGeom>
              <a:avLst/>
              <a:gdLst>
                <a:gd name="textAreaLeft" fmla="*/ 0 w 6857640"/>
                <a:gd name="textAreaRight" fmla="*/ 6858000 w 6857640"/>
                <a:gd name="textAreaTop" fmla="*/ 0 h 2010960"/>
                <a:gd name="textAreaBottom" fmla="*/ 2011320 h 2010960"/>
              </a:gdLst>
              <a:ahLst/>
              <a:rect l="textAreaLeft" t="textAreaTop" r="textAreaRight" b="textAreaBottom"/>
              <a:pathLst>
                <a:path w="9144000" h="2681882">
                  <a:moveTo>
                    <a:pt x="0" y="0"/>
                  </a:moveTo>
                  <a:lnTo>
                    <a:pt x="9144000" y="0"/>
                  </a:lnTo>
                  <a:lnTo>
                    <a:pt x="9144000" y="2681882"/>
                  </a:lnTo>
                  <a:lnTo>
                    <a:pt x="0" y="2681882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" name="TextBox 16"/>
            <p:cNvSpPr/>
            <p:nvPr/>
          </p:nvSpPr>
          <p:spPr>
            <a:xfrm>
              <a:off x="1143000" y="835920"/>
              <a:ext cx="6857640" cy="203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8101"/>
                </a:lnSpc>
              </a:pPr>
              <a:r>
                <a:rPr b="1" lang="en-US" sz="675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Project Overview</a:t>
              </a:r>
              <a:endParaRPr b="0" lang="fr-FR" sz="67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" name="Group 17"/>
          <p:cNvGrpSpPr/>
          <p:nvPr/>
        </p:nvGrpSpPr>
        <p:grpSpPr>
          <a:xfrm>
            <a:off x="1234440" y="3014640"/>
            <a:ext cx="6780600" cy="1199880"/>
            <a:chOff x="1234440" y="3014640"/>
            <a:chExt cx="6780600" cy="1199880"/>
          </a:xfrm>
        </p:grpSpPr>
        <p:sp>
          <p:nvSpPr>
            <p:cNvPr id="145" name="Freeform 18"/>
            <p:cNvSpPr/>
            <p:nvPr/>
          </p:nvSpPr>
          <p:spPr>
            <a:xfrm>
              <a:off x="1234440" y="3014640"/>
              <a:ext cx="6780600" cy="1199880"/>
            </a:xfrm>
            <a:custGeom>
              <a:avLst/>
              <a:gdLst>
                <a:gd name="textAreaLeft" fmla="*/ 0 w 6780600"/>
                <a:gd name="textAreaRight" fmla="*/ 6780960 w 6780600"/>
                <a:gd name="textAreaTop" fmla="*/ 0 h 1199880"/>
                <a:gd name="textAreaBottom" fmla="*/ 1200240 h 1199880"/>
              </a:gdLst>
              <a:ahLst/>
              <a:rect l="textAreaLeft" t="textAreaTop" r="textAreaRight" b="textAreaBottom"/>
              <a:pathLst>
                <a:path w="9041130" h="1600200">
                  <a:moveTo>
                    <a:pt x="0" y="0"/>
                  </a:moveTo>
                  <a:lnTo>
                    <a:pt x="9041130" y="0"/>
                  </a:lnTo>
                  <a:lnTo>
                    <a:pt x="904113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" name="Group 19"/>
          <p:cNvGrpSpPr/>
          <p:nvPr/>
        </p:nvGrpSpPr>
        <p:grpSpPr>
          <a:xfrm>
            <a:off x="1357200" y="3025800"/>
            <a:ext cx="6643440" cy="1171440"/>
            <a:chOff x="1357200" y="3025800"/>
            <a:chExt cx="6643440" cy="1171440"/>
          </a:xfrm>
        </p:grpSpPr>
        <p:sp>
          <p:nvSpPr>
            <p:cNvPr id="147" name="Freeform 20"/>
            <p:cNvSpPr/>
            <p:nvPr/>
          </p:nvSpPr>
          <p:spPr>
            <a:xfrm>
              <a:off x="1357200" y="3040200"/>
              <a:ext cx="6643440" cy="1157040"/>
            </a:xfrm>
            <a:custGeom>
              <a:avLst/>
              <a:gdLst>
                <a:gd name="textAreaLeft" fmla="*/ 0 w 6643440"/>
                <a:gd name="textAreaRight" fmla="*/ 6643800 w 6643440"/>
                <a:gd name="textAreaTop" fmla="*/ 0 h 1157040"/>
                <a:gd name="textAreaBottom" fmla="*/ 1157400 h 1157040"/>
              </a:gdLst>
              <a:ahLst/>
              <a:rect l="textAreaLeft" t="textAreaTop" r="textAreaRight" b="textAreaBottom"/>
              <a:pathLst>
                <a:path w="8858250" h="1543050">
                  <a:moveTo>
                    <a:pt x="0" y="0"/>
                  </a:moveTo>
                  <a:lnTo>
                    <a:pt x="8858250" y="0"/>
                  </a:lnTo>
                  <a:lnTo>
                    <a:pt x="8858250" y="1543050"/>
                  </a:lnTo>
                  <a:lnTo>
                    <a:pt x="0" y="154305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TextBox 21"/>
            <p:cNvSpPr/>
            <p:nvPr/>
          </p:nvSpPr>
          <p:spPr>
            <a:xfrm>
              <a:off x="1357200" y="3025800"/>
              <a:ext cx="6643440" cy="117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A reproducible daily pipeline that predicts Tunisian apartment sale prices and supports renovation ROI decisions.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" name="Group 22"/>
          <p:cNvGrpSpPr/>
          <p:nvPr/>
        </p:nvGrpSpPr>
        <p:grpSpPr>
          <a:xfrm>
            <a:off x="1143000" y="4361760"/>
            <a:ext cx="6857640" cy="392760"/>
            <a:chOff x="1143000" y="4361760"/>
            <a:chExt cx="6857640" cy="392760"/>
          </a:xfrm>
        </p:grpSpPr>
        <p:sp>
          <p:nvSpPr>
            <p:cNvPr id="150" name="Freeform 23"/>
            <p:cNvSpPr/>
            <p:nvPr/>
          </p:nvSpPr>
          <p:spPr>
            <a:xfrm>
              <a:off x="1143000" y="4368960"/>
              <a:ext cx="6857640" cy="385560"/>
            </a:xfrm>
            <a:custGeom>
              <a:avLst/>
              <a:gdLst>
                <a:gd name="textAreaLeft" fmla="*/ 0 w 6857640"/>
                <a:gd name="textAreaRight" fmla="*/ 6858000 w 6857640"/>
                <a:gd name="textAreaTop" fmla="*/ 0 h 385560"/>
                <a:gd name="textAreaBottom" fmla="*/ 385920 h 385560"/>
              </a:gdLst>
              <a:ahLst/>
              <a:rect l="textAreaLeft" t="textAreaTop" r="textAreaRight" b="textAreaBottom"/>
              <a:pathLst>
                <a:path w="9144000" h="514350">
                  <a:moveTo>
                    <a:pt x="0" y="0"/>
                  </a:moveTo>
                  <a:lnTo>
                    <a:pt x="9144000" y="0"/>
                  </a:lnTo>
                  <a:lnTo>
                    <a:pt x="9144000" y="514350"/>
                  </a:lnTo>
                  <a:lnTo>
                    <a:pt x="0" y="51435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TextBox 24"/>
            <p:cNvSpPr/>
            <p:nvPr/>
          </p:nvSpPr>
          <p:spPr>
            <a:xfrm>
              <a:off x="1143000" y="4361760"/>
              <a:ext cx="6857640" cy="39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Goal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" name="Group 25"/>
          <p:cNvGrpSpPr/>
          <p:nvPr/>
        </p:nvGrpSpPr>
        <p:grpSpPr>
          <a:xfrm>
            <a:off x="1500120" y="4699080"/>
            <a:ext cx="6500520" cy="745560"/>
            <a:chOff x="1500120" y="4699080"/>
            <a:chExt cx="6500520" cy="745560"/>
          </a:xfrm>
        </p:grpSpPr>
        <p:sp>
          <p:nvSpPr>
            <p:cNvPr id="153" name="Freeform 26"/>
            <p:cNvSpPr/>
            <p:nvPr/>
          </p:nvSpPr>
          <p:spPr>
            <a:xfrm>
              <a:off x="1500120" y="4713480"/>
              <a:ext cx="6500520" cy="731160"/>
            </a:xfrm>
            <a:custGeom>
              <a:avLst/>
              <a:gdLst>
                <a:gd name="textAreaLeft" fmla="*/ 0 w 6500520"/>
                <a:gd name="textAreaRight" fmla="*/ 6500880 w 6500520"/>
                <a:gd name="textAreaTop" fmla="*/ 0 h 731160"/>
                <a:gd name="textAreaBottom" fmla="*/ 731520 h 731160"/>
              </a:gdLst>
              <a:ahLst/>
              <a:rect l="textAreaLeft" t="textAreaTop" r="textAreaRight" b="textAreaBottom"/>
              <a:pathLst>
                <a:path w="8667750" h="975122">
                  <a:moveTo>
                    <a:pt x="0" y="0"/>
                  </a:moveTo>
                  <a:lnTo>
                    <a:pt x="8667750" y="0"/>
                  </a:lnTo>
                  <a:lnTo>
                    <a:pt x="8667750" y="975122"/>
                  </a:lnTo>
                  <a:lnTo>
                    <a:pt x="0" y="975122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TextBox 27"/>
            <p:cNvSpPr/>
            <p:nvPr/>
          </p:nvSpPr>
          <p:spPr>
            <a:xfrm>
              <a:off x="1500120" y="4699080"/>
              <a:ext cx="6500520" cy="74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981"/>
                </a:lnSpc>
              </a:pPr>
              <a:r>
                <a:rPr b="0" lang="en-US" sz="1650" spc="-1" strike="noStrike">
                  <a:solidFill>
                    <a:srgbClr val="3f5968"/>
                  </a:solidFill>
                  <a:latin typeface="Arial"/>
                  <a:ea typeface="Arial"/>
                </a:rPr>
                <a:t>Predict SalePrice with business-friendly accuracy (avg error ±22.4%)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5" name="Group 28"/>
          <p:cNvGrpSpPr/>
          <p:nvPr/>
        </p:nvGrpSpPr>
        <p:grpSpPr>
          <a:xfrm>
            <a:off x="1500120" y="5493600"/>
            <a:ext cx="6500520" cy="379800"/>
            <a:chOff x="1500120" y="5493600"/>
            <a:chExt cx="6500520" cy="379800"/>
          </a:xfrm>
        </p:grpSpPr>
        <p:sp>
          <p:nvSpPr>
            <p:cNvPr id="156" name="Freeform 29"/>
            <p:cNvSpPr/>
            <p:nvPr/>
          </p:nvSpPr>
          <p:spPr>
            <a:xfrm>
              <a:off x="1500120" y="5508000"/>
              <a:ext cx="6500520" cy="365400"/>
            </a:xfrm>
            <a:custGeom>
              <a:avLst/>
              <a:gdLst>
                <a:gd name="textAreaLeft" fmla="*/ 0 w 6500520"/>
                <a:gd name="textAreaRight" fmla="*/ 6500880 w 650052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8667750" h="487560">
                  <a:moveTo>
                    <a:pt x="0" y="0"/>
                  </a:moveTo>
                  <a:lnTo>
                    <a:pt x="8667750" y="0"/>
                  </a:lnTo>
                  <a:lnTo>
                    <a:pt x="8667750" y="487560"/>
                  </a:lnTo>
                  <a:lnTo>
                    <a:pt x="0" y="48756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TextBox 30"/>
            <p:cNvSpPr/>
            <p:nvPr/>
          </p:nvSpPr>
          <p:spPr>
            <a:xfrm>
              <a:off x="1500120" y="5493600"/>
              <a:ext cx="6500520" cy="37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981"/>
                </a:lnSpc>
              </a:pPr>
              <a:r>
                <a:rPr b="0" lang="en-US" sz="1650" spc="-1" strike="noStrike">
                  <a:solidFill>
                    <a:srgbClr val="3f5968"/>
                  </a:solidFill>
                  <a:latin typeface="Arial"/>
                  <a:ea typeface="Arial"/>
                </a:rPr>
                <a:t>Automate ingestion → training → promotion to production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" name="Group 31"/>
          <p:cNvGrpSpPr/>
          <p:nvPr/>
        </p:nvGrpSpPr>
        <p:grpSpPr>
          <a:xfrm>
            <a:off x="1500120" y="6094440"/>
            <a:ext cx="6500520" cy="379800"/>
            <a:chOff x="1500120" y="6094440"/>
            <a:chExt cx="6500520" cy="379800"/>
          </a:xfrm>
        </p:grpSpPr>
        <p:sp>
          <p:nvSpPr>
            <p:cNvPr id="159" name="Freeform 32"/>
            <p:cNvSpPr/>
            <p:nvPr/>
          </p:nvSpPr>
          <p:spPr>
            <a:xfrm>
              <a:off x="1500120" y="6108840"/>
              <a:ext cx="6500520" cy="365400"/>
            </a:xfrm>
            <a:custGeom>
              <a:avLst/>
              <a:gdLst>
                <a:gd name="textAreaLeft" fmla="*/ 0 w 6500520"/>
                <a:gd name="textAreaRight" fmla="*/ 6500880 w 650052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8667750" h="487560">
                  <a:moveTo>
                    <a:pt x="0" y="0"/>
                  </a:moveTo>
                  <a:lnTo>
                    <a:pt x="8667750" y="0"/>
                  </a:lnTo>
                  <a:lnTo>
                    <a:pt x="8667750" y="487560"/>
                  </a:lnTo>
                  <a:lnTo>
                    <a:pt x="0" y="487560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TextBox 33"/>
            <p:cNvSpPr/>
            <p:nvPr/>
          </p:nvSpPr>
          <p:spPr>
            <a:xfrm>
              <a:off x="1500120" y="6094440"/>
              <a:ext cx="6500520" cy="37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981"/>
                </a:lnSpc>
              </a:pPr>
              <a:r>
                <a:rPr b="0" lang="en-US" sz="1650" spc="-1" strike="noStrike">
                  <a:solidFill>
                    <a:srgbClr val="3f5968"/>
                  </a:solidFill>
                  <a:latin typeface="Arial"/>
                  <a:ea typeface="Arial"/>
                </a:rPr>
                <a:t>Explain price drivers (location, size, amenities)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1" name="Group 34"/>
          <p:cNvGrpSpPr/>
          <p:nvPr/>
        </p:nvGrpSpPr>
        <p:grpSpPr>
          <a:xfrm>
            <a:off x="1143000" y="6724440"/>
            <a:ext cx="6857640" cy="392760"/>
            <a:chOff x="1143000" y="6724440"/>
            <a:chExt cx="6857640" cy="392760"/>
          </a:xfrm>
        </p:grpSpPr>
        <p:sp>
          <p:nvSpPr>
            <p:cNvPr id="162" name="Freeform 35"/>
            <p:cNvSpPr/>
            <p:nvPr/>
          </p:nvSpPr>
          <p:spPr>
            <a:xfrm>
              <a:off x="1143000" y="6731640"/>
              <a:ext cx="6857640" cy="385560"/>
            </a:xfrm>
            <a:custGeom>
              <a:avLst/>
              <a:gdLst>
                <a:gd name="textAreaLeft" fmla="*/ 0 w 6857640"/>
                <a:gd name="textAreaRight" fmla="*/ 6858000 w 6857640"/>
                <a:gd name="textAreaTop" fmla="*/ 0 h 385560"/>
                <a:gd name="textAreaBottom" fmla="*/ 385920 h 385560"/>
              </a:gdLst>
              <a:ahLst/>
              <a:rect l="textAreaLeft" t="textAreaTop" r="textAreaRight" b="textAreaBottom"/>
              <a:pathLst>
                <a:path w="9144000" h="514350">
                  <a:moveTo>
                    <a:pt x="0" y="0"/>
                  </a:moveTo>
                  <a:lnTo>
                    <a:pt x="9144000" y="0"/>
                  </a:lnTo>
                  <a:lnTo>
                    <a:pt x="9144000" y="514350"/>
                  </a:lnTo>
                  <a:lnTo>
                    <a:pt x="0" y="514350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TextBox 36"/>
            <p:cNvSpPr/>
            <p:nvPr/>
          </p:nvSpPr>
          <p:spPr>
            <a:xfrm>
              <a:off x="1143000" y="6724440"/>
              <a:ext cx="6857640" cy="39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Data at a glance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" name="Group 37"/>
          <p:cNvGrpSpPr/>
          <p:nvPr/>
        </p:nvGrpSpPr>
        <p:grpSpPr>
          <a:xfrm>
            <a:off x="1314360" y="7360200"/>
            <a:ext cx="3028680" cy="285480"/>
            <a:chOff x="1314360" y="7360200"/>
            <a:chExt cx="3028680" cy="285480"/>
          </a:xfrm>
        </p:grpSpPr>
        <p:sp>
          <p:nvSpPr>
            <p:cNvPr id="165" name="Freeform 38"/>
            <p:cNvSpPr/>
            <p:nvPr/>
          </p:nvSpPr>
          <p:spPr>
            <a:xfrm>
              <a:off x="1314360" y="7374600"/>
              <a:ext cx="3028680" cy="271080"/>
            </a:xfrm>
            <a:custGeom>
              <a:avLst/>
              <a:gdLst>
                <a:gd name="textAreaLeft" fmla="*/ 0 w 3028680"/>
                <a:gd name="textAreaRight" fmla="*/ 3029040 w 302868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4038600" h="361950">
                  <a:moveTo>
                    <a:pt x="0" y="0"/>
                  </a:moveTo>
                  <a:lnTo>
                    <a:pt x="4038600" y="0"/>
                  </a:lnTo>
                  <a:lnTo>
                    <a:pt x="40386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" name="TextBox 39"/>
            <p:cNvSpPr/>
            <p:nvPr/>
          </p:nvSpPr>
          <p:spPr>
            <a:xfrm>
              <a:off x="1314360" y="7360200"/>
              <a:ext cx="302868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5a717e"/>
                  </a:solidFill>
                  <a:latin typeface="Arial"/>
                  <a:ea typeface="Arial"/>
                </a:rPr>
                <a:t>Raw Listings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" name="Group 40"/>
          <p:cNvGrpSpPr/>
          <p:nvPr/>
        </p:nvGrpSpPr>
        <p:grpSpPr>
          <a:xfrm>
            <a:off x="1234440" y="7707600"/>
            <a:ext cx="3310200" cy="492840"/>
            <a:chOff x="1234440" y="7707600"/>
            <a:chExt cx="3310200" cy="492840"/>
          </a:xfrm>
        </p:grpSpPr>
        <p:sp>
          <p:nvSpPr>
            <p:cNvPr id="168" name="Freeform 41"/>
            <p:cNvSpPr/>
            <p:nvPr/>
          </p:nvSpPr>
          <p:spPr>
            <a:xfrm>
              <a:off x="1234440" y="7729200"/>
              <a:ext cx="3310200" cy="471240"/>
            </a:xfrm>
            <a:custGeom>
              <a:avLst/>
              <a:gdLst>
                <a:gd name="textAreaLeft" fmla="*/ 0 w 3310200"/>
                <a:gd name="textAreaRight" fmla="*/ 3310560 w 3310200"/>
                <a:gd name="textAreaTop" fmla="*/ 0 h 471240"/>
                <a:gd name="textAreaBottom" fmla="*/ 471600 h 471240"/>
              </a:gdLst>
              <a:ahLst/>
              <a:rect l="textAreaLeft" t="textAreaTop" r="textAreaRight" b="textAreaBottom"/>
              <a:pathLst>
                <a:path w="4413862" h="628650">
                  <a:moveTo>
                    <a:pt x="0" y="0"/>
                  </a:moveTo>
                  <a:lnTo>
                    <a:pt x="4413862" y="0"/>
                  </a:lnTo>
                  <a:lnTo>
                    <a:pt x="4413862" y="628650"/>
                  </a:lnTo>
                  <a:lnTo>
                    <a:pt x="0" y="628650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TextBox 42"/>
            <p:cNvSpPr/>
            <p:nvPr/>
          </p:nvSpPr>
          <p:spPr>
            <a:xfrm>
              <a:off x="1234440" y="7707600"/>
              <a:ext cx="3310200" cy="49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220"/>
                </a:lnSpc>
              </a:pPr>
              <a:r>
                <a:rPr b="1" lang="en-US" sz="185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 </a:t>
              </a:r>
              <a:r>
                <a:rPr b="1" lang="en-US" sz="185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Incremental currently 4506</a:t>
              </a:r>
              <a:endParaRPr b="0" lang="fr-FR" sz="1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" name="Group 43"/>
          <p:cNvGrpSpPr/>
          <p:nvPr/>
        </p:nvGrpSpPr>
        <p:grpSpPr>
          <a:xfrm>
            <a:off x="4800600" y="7360200"/>
            <a:ext cx="3028680" cy="285480"/>
            <a:chOff x="4800600" y="7360200"/>
            <a:chExt cx="3028680" cy="285480"/>
          </a:xfrm>
        </p:grpSpPr>
        <p:sp>
          <p:nvSpPr>
            <p:cNvPr id="171" name="Freeform 44"/>
            <p:cNvSpPr/>
            <p:nvPr/>
          </p:nvSpPr>
          <p:spPr>
            <a:xfrm>
              <a:off x="4800600" y="7374600"/>
              <a:ext cx="3028680" cy="271080"/>
            </a:xfrm>
            <a:custGeom>
              <a:avLst/>
              <a:gdLst>
                <a:gd name="textAreaLeft" fmla="*/ 0 w 3028680"/>
                <a:gd name="textAreaRight" fmla="*/ 3029040 w 302868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4038600" h="361950">
                  <a:moveTo>
                    <a:pt x="0" y="0"/>
                  </a:moveTo>
                  <a:lnTo>
                    <a:pt x="4038600" y="0"/>
                  </a:lnTo>
                  <a:lnTo>
                    <a:pt x="40386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TextBox 45"/>
            <p:cNvSpPr/>
            <p:nvPr/>
          </p:nvSpPr>
          <p:spPr>
            <a:xfrm>
              <a:off x="4800600" y="7360200"/>
              <a:ext cx="302868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5a717e"/>
                  </a:solidFill>
                  <a:latin typeface="Arial"/>
                  <a:ea typeface="Arial"/>
                </a:rPr>
                <a:t>Clean Samples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" name="Group 46"/>
          <p:cNvGrpSpPr/>
          <p:nvPr/>
        </p:nvGrpSpPr>
        <p:grpSpPr>
          <a:xfrm>
            <a:off x="4800600" y="7691400"/>
            <a:ext cx="2359080" cy="492480"/>
            <a:chOff x="4800600" y="7691400"/>
            <a:chExt cx="2359080" cy="492480"/>
          </a:xfrm>
        </p:grpSpPr>
        <p:sp>
          <p:nvSpPr>
            <p:cNvPr id="174" name="Freeform 47"/>
            <p:cNvSpPr/>
            <p:nvPr/>
          </p:nvSpPr>
          <p:spPr>
            <a:xfrm>
              <a:off x="4800600" y="7712640"/>
              <a:ext cx="2359080" cy="471240"/>
            </a:xfrm>
            <a:custGeom>
              <a:avLst/>
              <a:gdLst>
                <a:gd name="textAreaLeft" fmla="*/ 0 w 2359080"/>
                <a:gd name="textAreaRight" fmla="*/ 2359440 w 2359080"/>
                <a:gd name="textAreaTop" fmla="*/ 0 h 471240"/>
                <a:gd name="textAreaBottom" fmla="*/ 471600 h 471240"/>
              </a:gdLst>
              <a:ahLst/>
              <a:rect l="textAreaLeft" t="textAreaTop" r="textAreaRight" b="textAreaBottom"/>
              <a:pathLst>
                <a:path w="3146102" h="628650">
                  <a:moveTo>
                    <a:pt x="0" y="0"/>
                  </a:moveTo>
                  <a:lnTo>
                    <a:pt x="3146102" y="0"/>
                  </a:lnTo>
                  <a:lnTo>
                    <a:pt x="3146102" y="628650"/>
                  </a:lnTo>
                  <a:lnTo>
                    <a:pt x="0" y="628650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TextBox 48"/>
            <p:cNvSpPr/>
            <p:nvPr/>
          </p:nvSpPr>
          <p:spPr>
            <a:xfrm>
              <a:off x="4800600" y="7691400"/>
              <a:ext cx="2359080" cy="49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220"/>
                </a:lnSpc>
              </a:pPr>
              <a:r>
                <a:rPr b="1" lang="en-US" sz="185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Incremental 3665</a:t>
              </a:r>
              <a:endParaRPr b="0" lang="fr-FR" sz="1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" name="Group 49"/>
          <p:cNvGrpSpPr/>
          <p:nvPr/>
        </p:nvGrpSpPr>
        <p:grpSpPr>
          <a:xfrm>
            <a:off x="1314360" y="8631720"/>
            <a:ext cx="3028680" cy="285480"/>
            <a:chOff x="1314360" y="8631720"/>
            <a:chExt cx="3028680" cy="285480"/>
          </a:xfrm>
        </p:grpSpPr>
        <p:sp>
          <p:nvSpPr>
            <p:cNvPr id="177" name="Freeform 50"/>
            <p:cNvSpPr/>
            <p:nvPr/>
          </p:nvSpPr>
          <p:spPr>
            <a:xfrm>
              <a:off x="1314360" y="8646120"/>
              <a:ext cx="3028680" cy="271080"/>
            </a:xfrm>
            <a:custGeom>
              <a:avLst/>
              <a:gdLst>
                <a:gd name="textAreaLeft" fmla="*/ 0 w 3028680"/>
                <a:gd name="textAreaRight" fmla="*/ 3029040 w 302868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4038600" h="361950">
                  <a:moveTo>
                    <a:pt x="0" y="0"/>
                  </a:moveTo>
                  <a:lnTo>
                    <a:pt x="4038600" y="0"/>
                  </a:lnTo>
                  <a:lnTo>
                    <a:pt x="40386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" name="TextBox 51"/>
            <p:cNvSpPr/>
            <p:nvPr/>
          </p:nvSpPr>
          <p:spPr>
            <a:xfrm>
              <a:off x="1314360" y="8631720"/>
              <a:ext cx="302868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5a717e"/>
                  </a:solidFill>
                  <a:latin typeface="Arial"/>
                  <a:ea typeface="Arial"/>
                </a:rPr>
                <a:t>Raw Columns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" name="Group 52"/>
          <p:cNvGrpSpPr/>
          <p:nvPr/>
        </p:nvGrpSpPr>
        <p:grpSpPr>
          <a:xfrm>
            <a:off x="1357200" y="8852400"/>
            <a:ext cx="584280" cy="723240"/>
            <a:chOff x="1357200" y="8852400"/>
            <a:chExt cx="584280" cy="723240"/>
          </a:xfrm>
        </p:grpSpPr>
        <p:sp>
          <p:nvSpPr>
            <p:cNvPr id="180" name="Freeform 53"/>
            <p:cNvSpPr/>
            <p:nvPr/>
          </p:nvSpPr>
          <p:spPr>
            <a:xfrm>
              <a:off x="1357200" y="8873640"/>
              <a:ext cx="584280" cy="702000"/>
            </a:xfrm>
            <a:custGeom>
              <a:avLst/>
              <a:gdLst>
                <a:gd name="textAreaLeft" fmla="*/ 0 w 584280"/>
                <a:gd name="textAreaRight" fmla="*/ 584640 w 58428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523280" h="628650">
                  <a:moveTo>
                    <a:pt x="0" y="0"/>
                  </a:moveTo>
                  <a:lnTo>
                    <a:pt x="523280" y="0"/>
                  </a:lnTo>
                  <a:lnTo>
                    <a:pt x="523280" y="628650"/>
                  </a:lnTo>
                  <a:lnTo>
                    <a:pt x="0" y="628650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" name="TextBox 54"/>
            <p:cNvSpPr/>
            <p:nvPr/>
          </p:nvSpPr>
          <p:spPr>
            <a:xfrm>
              <a:off x="1357200" y="8852400"/>
              <a:ext cx="584280" cy="72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820"/>
                </a:lnSpc>
              </a:pPr>
              <a:r>
                <a:rPr b="1" lang="en-US" sz="235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65</a:t>
              </a:r>
              <a:endParaRPr b="0" lang="fr-FR" sz="2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" name="Group 55"/>
          <p:cNvGrpSpPr/>
          <p:nvPr/>
        </p:nvGrpSpPr>
        <p:grpSpPr>
          <a:xfrm>
            <a:off x="4800600" y="8631720"/>
            <a:ext cx="3028680" cy="285480"/>
            <a:chOff x="4800600" y="8631720"/>
            <a:chExt cx="3028680" cy="285480"/>
          </a:xfrm>
        </p:grpSpPr>
        <p:sp>
          <p:nvSpPr>
            <p:cNvPr id="183" name="Freeform 56"/>
            <p:cNvSpPr/>
            <p:nvPr/>
          </p:nvSpPr>
          <p:spPr>
            <a:xfrm>
              <a:off x="4800600" y="8646120"/>
              <a:ext cx="3028680" cy="271080"/>
            </a:xfrm>
            <a:custGeom>
              <a:avLst/>
              <a:gdLst>
                <a:gd name="textAreaLeft" fmla="*/ 0 w 3028680"/>
                <a:gd name="textAreaRight" fmla="*/ 3029040 w 302868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4038600" h="361950">
                  <a:moveTo>
                    <a:pt x="0" y="0"/>
                  </a:moveTo>
                  <a:lnTo>
                    <a:pt x="4038600" y="0"/>
                  </a:lnTo>
                  <a:lnTo>
                    <a:pt x="40386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TextBox 57"/>
            <p:cNvSpPr/>
            <p:nvPr/>
          </p:nvSpPr>
          <p:spPr>
            <a:xfrm>
              <a:off x="4800600" y="8631720"/>
              <a:ext cx="302868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5a717e"/>
                  </a:solidFill>
                  <a:latin typeface="Arial"/>
                  <a:ea typeface="Arial"/>
                </a:rPr>
                <a:t>Model Features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5" name="Group 58"/>
          <p:cNvGrpSpPr/>
          <p:nvPr/>
        </p:nvGrpSpPr>
        <p:grpSpPr>
          <a:xfrm>
            <a:off x="4800600" y="8982000"/>
            <a:ext cx="588240" cy="478440"/>
            <a:chOff x="4800600" y="8982000"/>
            <a:chExt cx="588240" cy="478440"/>
          </a:xfrm>
        </p:grpSpPr>
        <p:sp>
          <p:nvSpPr>
            <p:cNvPr id="186" name="Freeform 59"/>
            <p:cNvSpPr/>
            <p:nvPr/>
          </p:nvSpPr>
          <p:spPr>
            <a:xfrm>
              <a:off x="4800600" y="8989200"/>
              <a:ext cx="588240" cy="471240"/>
            </a:xfrm>
            <a:custGeom>
              <a:avLst/>
              <a:gdLst>
                <a:gd name="textAreaLeft" fmla="*/ 0 w 588240"/>
                <a:gd name="textAreaRight" fmla="*/ 588600 w 588240"/>
                <a:gd name="textAreaTop" fmla="*/ 0 h 471240"/>
                <a:gd name="textAreaBottom" fmla="*/ 471600 h 471240"/>
              </a:gdLst>
              <a:ahLst/>
              <a:rect l="textAreaLeft" t="textAreaTop" r="textAreaRight" b="textAreaBottom"/>
              <a:pathLst>
                <a:path w="784622" h="628650">
                  <a:moveTo>
                    <a:pt x="0" y="0"/>
                  </a:moveTo>
                  <a:lnTo>
                    <a:pt x="784622" y="0"/>
                  </a:lnTo>
                  <a:lnTo>
                    <a:pt x="784622" y="628650"/>
                  </a:lnTo>
                  <a:lnTo>
                    <a:pt x="0" y="62865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TextBox 60"/>
            <p:cNvSpPr/>
            <p:nvPr/>
          </p:nvSpPr>
          <p:spPr>
            <a:xfrm>
              <a:off x="4800600" y="8982000"/>
              <a:ext cx="588240" cy="47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3061"/>
                </a:lnSpc>
              </a:pPr>
              <a:r>
                <a:rPr b="1" lang="en-US" sz="255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371</a:t>
              </a:r>
              <a:endParaRPr b="0" lang="fr-FR" sz="25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" name="Group 61"/>
          <p:cNvGrpSpPr/>
          <p:nvPr/>
        </p:nvGrpSpPr>
        <p:grpSpPr>
          <a:xfrm>
            <a:off x="11724120" y="2336040"/>
            <a:ext cx="2869200" cy="392760"/>
            <a:chOff x="11724120" y="2336040"/>
            <a:chExt cx="2869200" cy="392760"/>
          </a:xfrm>
        </p:grpSpPr>
        <p:sp>
          <p:nvSpPr>
            <p:cNvPr id="189" name="Freeform 62"/>
            <p:cNvSpPr/>
            <p:nvPr/>
          </p:nvSpPr>
          <p:spPr>
            <a:xfrm>
              <a:off x="11724120" y="2343240"/>
              <a:ext cx="2869200" cy="385560"/>
            </a:xfrm>
            <a:custGeom>
              <a:avLst/>
              <a:gdLst>
                <a:gd name="textAreaLeft" fmla="*/ 0 w 2869200"/>
                <a:gd name="textAreaRight" fmla="*/ 2869560 w 2869200"/>
                <a:gd name="textAreaTop" fmla="*/ 0 h 385560"/>
                <a:gd name="textAreaBottom" fmla="*/ 385920 h 385560"/>
              </a:gdLst>
              <a:ahLst/>
              <a:rect l="textAreaLeft" t="textAreaTop" r="textAreaRight" b="textAreaBottom"/>
              <a:pathLst>
                <a:path w="3826074" h="514350">
                  <a:moveTo>
                    <a:pt x="0" y="0"/>
                  </a:moveTo>
                  <a:lnTo>
                    <a:pt x="3826074" y="0"/>
                  </a:lnTo>
                  <a:lnTo>
                    <a:pt x="3826074" y="514350"/>
                  </a:lnTo>
                  <a:lnTo>
                    <a:pt x="0" y="514350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" name="TextBox 63"/>
            <p:cNvSpPr/>
            <p:nvPr/>
          </p:nvSpPr>
          <p:spPr>
            <a:xfrm>
              <a:off x="11724120" y="2336040"/>
              <a:ext cx="2869200" cy="39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04a5c"/>
                  </a:solidFill>
                  <a:latin typeface="Arial Bold"/>
                  <a:ea typeface="Arial Bold"/>
                </a:rPr>
                <a:t>End-to-End Flow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" name="Group 64"/>
          <p:cNvGrpSpPr/>
          <p:nvPr/>
        </p:nvGrpSpPr>
        <p:grpSpPr>
          <a:xfrm>
            <a:off x="10487160" y="2728800"/>
            <a:ext cx="5028840" cy="1042560"/>
            <a:chOff x="10487160" y="2728800"/>
            <a:chExt cx="5028840" cy="1042560"/>
          </a:xfrm>
        </p:grpSpPr>
        <p:sp>
          <p:nvSpPr>
            <p:cNvPr id="192" name="Freeform 65"/>
            <p:cNvSpPr/>
            <p:nvPr/>
          </p:nvSpPr>
          <p:spPr>
            <a:xfrm>
              <a:off x="10487160" y="2728800"/>
              <a:ext cx="5028840" cy="104256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1042560"/>
                <a:gd name="textAreaBottom" fmla="*/ 1042920 h 1042560"/>
              </a:gdLst>
              <a:ahLst/>
              <a:rect l="textAreaLeft" t="textAreaTop" r="textAreaRight" b="textAreaBottom"/>
              <a:pathLst>
                <a:path w="6705600" h="1390650">
                  <a:moveTo>
                    <a:pt x="0" y="0"/>
                  </a:moveTo>
                  <a:lnTo>
                    <a:pt x="6705600" y="0"/>
                  </a:lnTo>
                  <a:lnTo>
                    <a:pt x="6705600" y="1390650"/>
                  </a:lnTo>
                  <a:lnTo>
                    <a:pt x="0" y="1390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" name="Group 66"/>
          <p:cNvGrpSpPr/>
          <p:nvPr/>
        </p:nvGrpSpPr>
        <p:grpSpPr>
          <a:xfrm>
            <a:off x="10801440" y="3037320"/>
            <a:ext cx="4400280" cy="356760"/>
            <a:chOff x="10801440" y="3037320"/>
            <a:chExt cx="4400280" cy="356760"/>
          </a:xfrm>
        </p:grpSpPr>
        <p:sp>
          <p:nvSpPr>
            <p:cNvPr id="194" name="Freeform 67"/>
            <p:cNvSpPr/>
            <p:nvPr/>
          </p:nvSpPr>
          <p:spPr>
            <a:xfrm>
              <a:off x="10801440" y="3051360"/>
              <a:ext cx="4400280" cy="3427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5867400" h="457200">
                  <a:moveTo>
                    <a:pt x="0" y="0"/>
                  </a:moveTo>
                  <a:lnTo>
                    <a:pt x="5867400" y="0"/>
                  </a:lnTo>
                  <a:lnTo>
                    <a:pt x="5867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2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TextBox 68"/>
            <p:cNvSpPr/>
            <p:nvPr/>
          </p:nvSpPr>
          <p:spPr>
            <a:xfrm>
              <a:off x="10801440" y="3037320"/>
              <a:ext cx="440028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ffffff"/>
                  </a:solidFill>
                  <a:latin typeface="Arial Bold"/>
                  <a:ea typeface="Arial Bold"/>
                </a:rPr>
                <a:t>Scrape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" name="Group 69"/>
          <p:cNvGrpSpPr/>
          <p:nvPr/>
        </p:nvGrpSpPr>
        <p:grpSpPr>
          <a:xfrm>
            <a:off x="12844440" y="3514680"/>
            <a:ext cx="313920" cy="328320"/>
            <a:chOff x="12844440" y="3514680"/>
            <a:chExt cx="313920" cy="328320"/>
          </a:xfrm>
        </p:grpSpPr>
        <p:sp>
          <p:nvSpPr>
            <p:cNvPr id="197" name="Freeform 70"/>
            <p:cNvSpPr/>
            <p:nvPr/>
          </p:nvSpPr>
          <p:spPr>
            <a:xfrm>
              <a:off x="12844440" y="3514680"/>
              <a:ext cx="313920" cy="3283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" name="Group 71"/>
          <p:cNvGrpSpPr/>
          <p:nvPr/>
        </p:nvGrpSpPr>
        <p:grpSpPr>
          <a:xfrm>
            <a:off x="10487160" y="3643200"/>
            <a:ext cx="5028840" cy="1042560"/>
            <a:chOff x="10487160" y="3643200"/>
            <a:chExt cx="5028840" cy="1042560"/>
          </a:xfrm>
        </p:grpSpPr>
        <p:sp>
          <p:nvSpPr>
            <p:cNvPr id="199" name="Freeform 72"/>
            <p:cNvSpPr/>
            <p:nvPr/>
          </p:nvSpPr>
          <p:spPr>
            <a:xfrm>
              <a:off x="10487160" y="3643200"/>
              <a:ext cx="5028840" cy="104256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1042560"/>
                <a:gd name="textAreaBottom" fmla="*/ 1042920 h 1042560"/>
              </a:gdLst>
              <a:ahLst/>
              <a:rect l="textAreaLeft" t="textAreaTop" r="textAreaRight" b="textAreaBottom"/>
              <a:pathLst>
                <a:path w="6705600" h="1390650">
                  <a:moveTo>
                    <a:pt x="0" y="0"/>
                  </a:moveTo>
                  <a:lnTo>
                    <a:pt x="6705600" y="0"/>
                  </a:lnTo>
                  <a:lnTo>
                    <a:pt x="6705600" y="1390650"/>
                  </a:lnTo>
                  <a:lnTo>
                    <a:pt x="0" y="1390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" name="Group 73"/>
          <p:cNvGrpSpPr/>
          <p:nvPr/>
        </p:nvGrpSpPr>
        <p:grpSpPr>
          <a:xfrm>
            <a:off x="10801440" y="3951720"/>
            <a:ext cx="4400280" cy="356760"/>
            <a:chOff x="10801440" y="3951720"/>
            <a:chExt cx="4400280" cy="356760"/>
          </a:xfrm>
        </p:grpSpPr>
        <p:sp>
          <p:nvSpPr>
            <p:cNvPr id="201" name="Freeform 74"/>
            <p:cNvSpPr/>
            <p:nvPr/>
          </p:nvSpPr>
          <p:spPr>
            <a:xfrm>
              <a:off x="10801440" y="3965760"/>
              <a:ext cx="4400280" cy="3427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5867400" h="457200">
                  <a:moveTo>
                    <a:pt x="0" y="0"/>
                  </a:moveTo>
                  <a:lnTo>
                    <a:pt x="5867400" y="0"/>
                  </a:lnTo>
                  <a:lnTo>
                    <a:pt x="5867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2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" name="TextBox 75"/>
            <p:cNvSpPr/>
            <p:nvPr/>
          </p:nvSpPr>
          <p:spPr>
            <a:xfrm>
              <a:off x="10801440" y="3951720"/>
              <a:ext cx="440028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ffffff"/>
                  </a:solidFill>
                  <a:latin typeface="Arial Bold"/>
                  <a:ea typeface="Arial Bold"/>
                </a:rPr>
                <a:t>Geo-enrich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" name="Group 76"/>
          <p:cNvGrpSpPr/>
          <p:nvPr/>
        </p:nvGrpSpPr>
        <p:grpSpPr>
          <a:xfrm>
            <a:off x="12844440" y="4429080"/>
            <a:ext cx="313920" cy="328320"/>
            <a:chOff x="12844440" y="4429080"/>
            <a:chExt cx="313920" cy="328320"/>
          </a:xfrm>
        </p:grpSpPr>
        <p:sp>
          <p:nvSpPr>
            <p:cNvPr id="204" name="Freeform 77"/>
            <p:cNvSpPr/>
            <p:nvPr/>
          </p:nvSpPr>
          <p:spPr>
            <a:xfrm>
              <a:off x="12844440" y="4429080"/>
              <a:ext cx="313920" cy="3283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" name="Group 78"/>
          <p:cNvGrpSpPr/>
          <p:nvPr/>
        </p:nvGrpSpPr>
        <p:grpSpPr>
          <a:xfrm>
            <a:off x="10487160" y="4557600"/>
            <a:ext cx="5028840" cy="1042560"/>
            <a:chOff x="10487160" y="4557600"/>
            <a:chExt cx="5028840" cy="1042560"/>
          </a:xfrm>
        </p:grpSpPr>
        <p:sp>
          <p:nvSpPr>
            <p:cNvPr id="206" name="Freeform 79"/>
            <p:cNvSpPr/>
            <p:nvPr/>
          </p:nvSpPr>
          <p:spPr>
            <a:xfrm>
              <a:off x="10487160" y="4557600"/>
              <a:ext cx="5028840" cy="104256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1042560"/>
                <a:gd name="textAreaBottom" fmla="*/ 1042920 h 1042560"/>
              </a:gdLst>
              <a:ahLst/>
              <a:rect l="textAreaLeft" t="textAreaTop" r="textAreaRight" b="textAreaBottom"/>
              <a:pathLst>
                <a:path w="6705600" h="1390650">
                  <a:moveTo>
                    <a:pt x="0" y="0"/>
                  </a:moveTo>
                  <a:lnTo>
                    <a:pt x="6705600" y="0"/>
                  </a:lnTo>
                  <a:lnTo>
                    <a:pt x="6705600" y="1390650"/>
                  </a:lnTo>
                  <a:lnTo>
                    <a:pt x="0" y="1390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7" name="Group 80"/>
          <p:cNvGrpSpPr/>
          <p:nvPr/>
        </p:nvGrpSpPr>
        <p:grpSpPr>
          <a:xfrm>
            <a:off x="10801440" y="4866120"/>
            <a:ext cx="4400280" cy="356760"/>
            <a:chOff x="10801440" y="4866120"/>
            <a:chExt cx="4400280" cy="356760"/>
          </a:xfrm>
        </p:grpSpPr>
        <p:sp>
          <p:nvSpPr>
            <p:cNvPr id="208" name="Freeform 81"/>
            <p:cNvSpPr/>
            <p:nvPr/>
          </p:nvSpPr>
          <p:spPr>
            <a:xfrm>
              <a:off x="10801440" y="4880160"/>
              <a:ext cx="4400280" cy="3427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5867400" h="457200">
                  <a:moveTo>
                    <a:pt x="0" y="0"/>
                  </a:moveTo>
                  <a:lnTo>
                    <a:pt x="5867400" y="0"/>
                  </a:lnTo>
                  <a:lnTo>
                    <a:pt x="5867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3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TextBox 82"/>
            <p:cNvSpPr/>
            <p:nvPr/>
          </p:nvSpPr>
          <p:spPr>
            <a:xfrm>
              <a:off x="10801440" y="4866120"/>
              <a:ext cx="440028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ffffff"/>
                  </a:solidFill>
                  <a:latin typeface="Arial Bold"/>
                  <a:ea typeface="Arial Bold"/>
                </a:rPr>
                <a:t>EDA/feature pipeline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" name="Group 83"/>
          <p:cNvGrpSpPr/>
          <p:nvPr/>
        </p:nvGrpSpPr>
        <p:grpSpPr>
          <a:xfrm>
            <a:off x="12844440" y="5343480"/>
            <a:ext cx="313920" cy="328320"/>
            <a:chOff x="12844440" y="5343480"/>
            <a:chExt cx="313920" cy="328320"/>
          </a:xfrm>
        </p:grpSpPr>
        <p:sp>
          <p:nvSpPr>
            <p:cNvPr id="211" name="Freeform 84"/>
            <p:cNvSpPr/>
            <p:nvPr/>
          </p:nvSpPr>
          <p:spPr>
            <a:xfrm>
              <a:off x="12844440" y="5343480"/>
              <a:ext cx="313920" cy="3283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" name="Group 85"/>
          <p:cNvGrpSpPr/>
          <p:nvPr/>
        </p:nvGrpSpPr>
        <p:grpSpPr>
          <a:xfrm>
            <a:off x="10487160" y="5472000"/>
            <a:ext cx="5028840" cy="1042560"/>
            <a:chOff x="10487160" y="5472000"/>
            <a:chExt cx="5028840" cy="1042560"/>
          </a:xfrm>
        </p:grpSpPr>
        <p:sp>
          <p:nvSpPr>
            <p:cNvPr id="213" name="Freeform 86"/>
            <p:cNvSpPr/>
            <p:nvPr/>
          </p:nvSpPr>
          <p:spPr>
            <a:xfrm>
              <a:off x="10487160" y="5472000"/>
              <a:ext cx="5028840" cy="104256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1042560"/>
                <a:gd name="textAreaBottom" fmla="*/ 1042920 h 1042560"/>
              </a:gdLst>
              <a:ahLst/>
              <a:rect l="textAreaLeft" t="textAreaTop" r="textAreaRight" b="textAreaBottom"/>
              <a:pathLst>
                <a:path w="6705600" h="1390650">
                  <a:moveTo>
                    <a:pt x="0" y="0"/>
                  </a:moveTo>
                  <a:lnTo>
                    <a:pt x="6705600" y="0"/>
                  </a:lnTo>
                  <a:lnTo>
                    <a:pt x="6705600" y="1390650"/>
                  </a:lnTo>
                  <a:lnTo>
                    <a:pt x="0" y="1390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" name="Group 87"/>
          <p:cNvGrpSpPr/>
          <p:nvPr/>
        </p:nvGrpSpPr>
        <p:grpSpPr>
          <a:xfrm>
            <a:off x="10801440" y="5780520"/>
            <a:ext cx="4400280" cy="356760"/>
            <a:chOff x="10801440" y="5780520"/>
            <a:chExt cx="4400280" cy="356760"/>
          </a:xfrm>
        </p:grpSpPr>
        <p:sp>
          <p:nvSpPr>
            <p:cNvPr id="215" name="Freeform 88"/>
            <p:cNvSpPr/>
            <p:nvPr/>
          </p:nvSpPr>
          <p:spPr>
            <a:xfrm>
              <a:off x="10801440" y="5794560"/>
              <a:ext cx="4400280" cy="3427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5867400" h="457200">
                  <a:moveTo>
                    <a:pt x="0" y="0"/>
                  </a:moveTo>
                  <a:lnTo>
                    <a:pt x="5867400" y="0"/>
                  </a:lnTo>
                  <a:lnTo>
                    <a:pt x="5867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3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TextBox 89"/>
            <p:cNvSpPr/>
            <p:nvPr/>
          </p:nvSpPr>
          <p:spPr>
            <a:xfrm>
              <a:off x="10801440" y="5780520"/>
              <a:ext cx="440028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ffffff"/>
                  </a:solidFill>
                  <a:latin typeface="Arial Bold"/>
                  <a:ea typeface="Arial Bold"/>
                </a:rPr>
                <a:t>Model training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" name="Group 90"/>
          <p:cNvGrpSpPr/>
          <p:nvPr/>
        </p:nvGrpSpPr>
        <p:grpSpPr>
          <a:xfrm>
            <a:off x="12844440" y="6257880"/>
            <a:ext cx="313920" cy="328320"/>
            <a:chOff x="12844440" y="6257880"/>
            <a:chExt cx="313920" cy="328320"/>
          </a:xfrm>
        </p:grpSpPr>
        <p:sp>
          <p:nvSpPr>
            <p:cNvPr id="218" name="Freeform 91"/>
            <p:cNvSpPr/>
            <p:nvPr/>
          </p:nvSpPr>
          <p:spPr>
            <a:xfrm>
              <a:off x="12844440" y="6257880"/>
              <a:ext cx="313920" cy="3283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" name="Group 92"/>
          <p:cNvGrpSpPr/>
          <p:nvPr/>
        </p:nvGrpSpPr>
        <p:grpSpPr>
          <a:xfrm>
            <a:off x="10487160" y="6386400"/>
            <a:ext cx="5028840" cy="1042560"/>
            <a:chOff x="10487160" y="6386400"/>
            <a:chExt cx="5028840" cy="1042560"/>
          </a:xfrm>
        </p:grpSpPr>
        <p:sp>
          <p:nvSpPr>
            <p:cNvPr id="220" name="Freeform 93"/>
            <p:cNvSpPr/>
            <p:nvPr/>
          </p:nvSpPr>
          <p:spPr>
            <a:xfrm>
              <a:off x="10487160" y="6386400"/>
              <a:ext cx="5028840" cy="104256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1042560"/>
                <a:gd name="textAreaBottom" fmla="*/ 1042920 h 1042560"/>
              </a:gdLst>
              <a:ahLst/>
              <a:rect l="textAreaLeft" t="textAreaTop" r="textAreaRight" b="textAreaBottom"/>
              <a:pathLst>
                <a:path w="6705600" h="1390650">
                  <a:moveTo>
                    <a:pt x="0" y="0"/>
                  </a:moveTo>
                  <a:lnTo>
                    <a:pt x="6705600" y="0"/>
                  </a:lnTo>
                  <a:lnTo>
                    <a:pt x="6705600" y="1390650"/>
                  </a:lnTo>
                  <a:lnTo>
                    <a:pt x="0" y="1390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1" name="Group 94"/>
          <p:cNvGrpSpPr/>
          <p:nvPr/>
        </p:nvGrpSpPr>
        <p:grpSpPr>
          <a:xfrm>
            <a:off x="10801440" y="6694920"/>
            <a:ext cx="4400280" cy="356760"/>
            <a:chOff x="10801440" y="6694920"/>
            <a:chExt cx="4400280" cy="356760"/>
          </a:xfrm>
        </p:grpSpPr>
        <p:sp>
          <p:nvSpPr>
            <p:cNvPr id="222" name="Freeform 95"/>
            <p:cNvSpPr/>
            <p:nvPr/>
          </p:nvSpPr>
          <p:spPr>
            <a:xfrm>
              <a:off x="10801440" y="6708960"/>
              <a:ext cx="4400280" cy="3427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5867400" h="457200">
                  <a:moveTo>
                    <a:pt x="0" y="0"/>
                  </a:moveTo>
                  <a:lnTo>
                    <a:pt x="5867400" y="0"/>
                  </a:lnTo>
                  <a:lnTo>
                    <a:pt x="5867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3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" name="TextBox 96"/>
            <p:cNvSpPr/>
            <p:nvPr/>
          </p:nvSpPr>
          <p:spPr>
            <a:xfrm>
              <a:off x="10801440" y="6694920"/>
              <a:ext cx="4400280" cy="3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ffffff"/>
                  </a:solidFill>
                  <a:latin typeface="Arial Bold"/>
                  <a:ea typeface="Arial Bold"/>
                </a:rPr>
                <a:t>MLflow registry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" name="Group 97"/>
          <p:cNvGrpSpPr/>
          <p:nvPr/>
        </p:nvGrpSpPr>
        <p:grpSpPr>
          <a:xfrm>
            <a:off x="12844440" y="7172280"/>
            <a:ext cx="313920" cy="328320"/>
            <a:chOff x="12844440" y="7172280"/>
            <a:chExt cx="313920" cy="328320"/>
          </a:xfrm>
        </p:grpSpPr>
        <p:sp>
          <p:nvSpPr>
            <p:cNvPr id="225" name="Freeform 98"/>
            <p:cNvSpPr/>
            <p:nvPr/>
          </p:nvSpPr>
          <p:spPr>
            <a:xfrm>
              <a:off x="12844440" y="7172280"/>
              <a:ext cx="313920" cy="3283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" name="Group 99"/>
          <p:cNvGrpSpPr/>
          <p:nvPr/>
        </p:nvGrpSpPr>
        <p:grpSpPr>
          <a:xfrm>
            <a:off x="10487160" y="7300800"/>
            <a:ext cx="5028840" cy="1042560"/>
            <a:chOff x="10487160" y="7300800"/>
            <a:chExt cx="5028840" cy="1042560"/>
          </a:xfrm>
        </p:grpSpPr>
        <p:sp>
          <p:nvSpPr>
            <p:cNvPr id="227" name="Freeform 100"/>
            <p:cNvSpPr/>
            <p:nvPr/>
          </p:nvSpPr>
          <p:spPr>
            <a:xfrm>
              <a:off x="10487160" y="7300800"/>
              <a:ext cx="5028840" cy="1042560"/>
            </a:xfrm>
            <a:custGeom>
              <a:avLst/>
              <a:gdLst>
                <a:gd name="textAreaLeft" fmla="*/ 0 w 5028840"/>
                <a:gd name="textAreaRight" fmla="*/ 5029200 w 5028840"/>
                <a:gd name="textAreaTop" fmla="*/ 0 h 1042560"/>
                <a:gd name="textAreaBottom" fmla="*/ 1042920 h 1042560"/>
              </a:gdLst>
              <a:ahLst/>
              <a:rect l="textAreaLeft" t="textAreaTop" r="textAreaRight" b="textAreaBottom"/>
              <a:pathLst>
                <a:path w="6705600" h="1390650">
                  <a:moveTo>
                    <a:pt x="0" y="0"/>
                  </a:moveTo>
                  <a:lnTo>
                    <a:pt x="6705600" y="0"/>
                  </a:lnTo>
                  <a:lnTo>
                    <a:pt x="6705600" y="1390650"/>
                  </a:lnTo>
                  <a:lnTo>
                    <a:pt x="0" y="1390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" name="Group 101"/>
          <p:cNvGrpSpPr/>
          <p:nvPr/>
        </p:nvGrpSpPr>
        <p:grpSpPr>
          <a:xfrm>
            <a:off x="10801440" y="7486560"/>
            <a:ext cx="4400280" cy="591120"/>
            <a:chOff x="10801440" y="7486560"/>
            <a:chExt cx="4400280" cy="591120"/>
          </a:xfrm>
        </p:grpSpPr>
        <p:sp>
          <p:nvSpPr>
            <p:cNvPr id="229" name="Freeform 102"/>
            <p:cNvSpPr/>
            <p:nvPr/>
          </p:nvSpPr>
          <p:spPr>
            <a:xfrm>
              <a:off x="10801440" y="7500960"/>
              <a:ext cx="4400280" cy="5767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576720"/>
                <a:gd name="textAreaBottom" fmla="*/ 577080 h 576720"/>
              </a:gdLst>
              <a:ahLst/>
              <a:rect l="textAreaLeft" t="textAreaTop" r="textAreaRight" b="textAreaBottom"/>
              <a:pathLst>
                <a:path w="5867400" h="769581">
                  <a:moveTo>
                    <a:pt x="0" y="0"/>
                  </a:moveTo>
                  <a:lnTo>
                    <a:pt x="5867400" y="0"/>
                  </a:lnTo>
                  <a:lnTo>
                    <a:pt x="5867400" y="769581"/>
                  </a:lnTo>
                  <a:lnTo>
                    <a:pt x="0" y="769581"/>
                  </a:lnTo>
                  <a:close/>
                </a:path>
              </a:pathLst>
            </a:custGeom>
            <a:blipFill rotWithShape="0">
              <a:blip r:embed="rId4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" name="TextBox 103"/>
            <p:cNvSpPr/>
            <p:nvPr/>
          </p:nvSpPr>
          <p:spPr>
            <a:xfrm>
              <a:off x="10801440" y="7486560"/>
              <a:ext cx="4400280" cy="59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b7e2f2"/>
                  </a:solidFill>
                  <a:latin typeface="Arial Bold"/>
                  <a:ea typeface="Arial Bold"/>
                </a:rPr>
                <a:t>Streamlit App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232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" name="Group 4"/>
          <p:cNvGrpSpPr/>
          <p:nvPr/>
        </p:nvGrpSpPr>
        <p:grpSpPr>
          <a:xfrm>
            <a:off x="671400" y="7658280"/>
            <a:ext cx="6743520" cy="1814040"/>
            <a:chOff x="671400" y="7658280"/>
            <a:chExt cx="6743520" cy="1814040"/>
          </a:xfrm>
        </p:grpSpPr>
        <p:sp>
          <p:nvSpPr>
            <p:cNvPr id="234" name="Freeform 5"/>
            <p:cNvSpPr/>
            <p:nvPr/>
          </p:nvSpPr>
          <p:spPr>
            <a:xfrm>
              <a:off x="671400" y="7658280"/>
              <a:ext cx="6743520" cy="1814040"/>
            </a:xfrm>
            <a:custGeom>
              <a:avLst/>
              <a:gdLst>
                <a:gd name="textAreaLeft" fmla="*/ 0 w 6743520"/>
                <a:gd name="textAreaRight" fmla="*/ 6743880 w 6743520"/>
                <a:gd name="textAreaTop" fmla="*/ 0 h 1814040"/>
                <a:gd name="textAreaBottom" fmla="*/ 1814400 h 1814040"/>
              </a:gdLst>
              <a:ahLst/>
              <a:rect l="textAreaLeft" t="textAreaTop" r="textAreaRight" b="textAreaBottom"/>
              <a:pathLst>
                <a:path w="8991600" h="2419350">
                  <a:moveTo>
                    <a:pt x="0" y="0"/>
                  </a:moveTo>
                  <a:lnTo>
                    <a:pt x="8991600" y="0"/>
                  </a:lnTo>
                  <a:lnTo>
                    <a:pt x="8991600" y="2419350"/>
                  </a:lnTo>
                  <a:lnTo>
                    <a:pt x="0" y="2419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" name="Group 6"/>
          <p:cNvGrpSpPr/>
          <p:nvPr/>
        </p:nvGrpSpPr>
        <p:grpSpPr>
          <a:xfrm>
            <a:off x="671400" y="6072120"/>
            <a:ext cx="6743520" cy="1814040"/>
            <a:chOff x="671400" y="6072120"/>
            <a:chExt cx="6743520" cy="1814040"/>
          </a:xfrm>
        </p:grpSpPr>
        <p:sp>
          <p:nvSpPr>
            <p:cNvPr id="236" name="Freeform 7"/>
            <p:cNvSpPr/>
            <p:nvPr/>
          </p:nvSpPr>
          <p:spPr>
            <a:xfrm>
              <a:off x="671400" y="6072120"/>
              <a:ext cx="6743520" cy="1814040"/>
            </a:xfrm>
            <a:custGeom>
              <a:avLst/>
              <a:gdLst>
                <a:gd name="textAreaLeft" fmla="*/ 0 w 6743520"/>
                <a:gd name="textAreaRight" fmla="*/ 6743880 w 6743520"/>
                <a:gd name="textAreaTop" fmla="*/ 0 h 1814040"/>
                <a:gd name="textAreaBottom" fmla="*/ 1814400 h 1814040"/>
              </a:gdLst>
              <a:ahLst/>
              <a:rect l="textAreaLeft" t="textAreaTop" r="textAreaRight" b="textAreaBottom"/>
              <a:pathLst>
                <a:path w="8991600" h="2419350">
                  <a:moveTo>
                    <a:pt x="0" y="0"/>
                  </a:moveTo>
                  <a:lnTo>
                    <a:pt x="8991600" y="0"/>
                  </a:lnTo>
                  <a:lnTo>
                    <a:pt x="8991600" y="2419350"/>
                  </a:lnTo>
                  <a:lnTo>
                    <a:pt x="0" y="2419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" name="Group 8"/>
          <p:cNvGrpSpPr/>
          <p:nvPr/>
        </p:nvGrpSpPr>
        <p:grpSpPr>
          <a:xfrm>
            <a:off x="671400" y="4486320"/>
            <a:ext cx="6743520" cy="1814040"/>
            <a:chOff x="671400" y="4486320"/>
            <a:chExt cx="6743520" cy="1814040"/>
          </a:xfrm>
        </p:grpSpPr>
        <p:sp>
          <p:nvSpPr>
            <p:cNvPr id="238" name="Freeform 9"/>
            <p:cNvSpPr/>
            <p:nvPr/>
          </p:nvSpPr>
          <p:spPr>
            <a:xfrm>
              <a:off x="671400" y="4486320"/>
              <a:ext cx="6743520" cy="1814040"/>
            </a:xfrm>
            <a:custGeom>
              <a:avLst/>
              <a:gdLst>
                <a:gd name="textAreaLeft" fmla="*/ 0 w 6743520"/>
                <a:gd name="textAreaRight" fmla="*/ 6743880 w 6743520"/>
                <a:gd name="textAreaTop" fmla="*/ 0 h 1814040"/>
                <a:gd name="textAreaBottom" fmla="*/ 1814400 h 1814040"/>
              </a:gdLst>
              <a:ahLst/>
              <a:rect l="textAreaLeft" t="textAreaTop" r="textAreaRight" b="textAreaBottom"/>
              <a:pathLst>
                <a:path w="8991600" h="2419350">
                  <a:moveTo>
                    <a:pt x="0" y="0"/>
                  </a:moveTo>
                  <a:lnTo>
                    <a:pt x="8991600" y="0"/>
                  </a:lnTo>
                  <a:lnTo>
                    <a:pt x="8991600" y="2419350"/>
                  </a:lnTo>
                  <a:lnTo>
                    <a:pt x="0" y="2419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" name="Group 10"/>
          <p:cNvGrpSpPr/>
          <p:nvPr/>
        </p:nvGrpSpPr>
        <p:grpSpPr>
          <a:xfrm>
            <a:off x="671400" y="2900520"/>
            <a:ext cx="6743520" cy="1814040"/>
            <a:chOff x="671400" y="2900520"/>
            <a:chExt cx="6743520" cy="1814040"/>
          </a:xfrm>
        </p:grpSpPr>
        <p:sp>
          <p:nvSpPr>
            <p:cNvPr id="240" name="Freeform 11"/>
            <p:cNvSpPr/>
            <p:nvPr/>
          </p:nvSpPr>
          <p:spPr>
            <a:xfrm>
              <a:off x="671400" y="2900520"/>
              <a:ext cx="6743520" cy="1814040"/>
            </a:xfrm>
            <a:custGeom>
              <a:avLst/>
              <a:gdLst>
                <a:gd name="textAreaLeft" fmla="*/ 0 w 6743520"/>
                <a:gd name="textAreaRight" fmla="*/ 6743880 w 6743520"/>
                <a:gd name="textAreaTop" fmla="*/ 0 h 1814040"/>
                <a:gd name="textAreaBottom" fmla="*/ 1814400 h 1814040"/>
              </a:gdLst>
              <a:ahLst/>
              <a:rect l="textAreaLeft" t="textAreaTop" r="textAreaRight" b="textAreaBottom"/>
              <a:pathLst>
                <a:path w="8991600" h="2419350">
                  <a:moveTo>
                    <a:pt x="0" y="0"/>
                  </a:moveTo>
                  <a:lnTo>
                    <a:pt x="8991600" y="0"/>
                  </a:lnTo>
                  <a:lnTo>
                    <a:pt x="8991600" y="2419350"/>
                  </a:lnTo>
                  <a:lnTo>
                    <a:pt x="0" y="2419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1" name="Group 12"/>
          <p:cNvGrpSpPr/>
          <p:nvPr/>
        </p:nvGrpSpPr>
        <p:grpSpPr>
          <a:xfrm>
            <a:off x="7786800" y="2714760"/>
            <a:ext cx="9658080" cy="2085480"/>
            <a:chOff x="7786800" y="2714760"/>
            <a:chExt cx="9658080" cy="2085480"/>
          </a:xfrm>
        </p:grpSpPr>
        <p:sp>
          <p:nvSpPr>
            <p:cNvPr id="242" name="Freeform 13"/>
            <p:cNvSpPr/>
            <p:nvPr/>
          </p:nvSpPr>
          <p:spPr>
            <a:xfrm>
              <a:off x="7786800" y="2714760"/>
              <a:ext cx="9658080" cy="2085480"/>
            </a:xfrm>
            <a:custGeom>
              <a:avLst/>
              <a:gdLst>
                <a:gd name="textAreaLeft" fmla="*/ 0 w 9658080"/>
                <a:gd name="textAreaRight" fmla="*/ 9658440 w 9658080"/>
                <a:gd name="textAreaTop" fmla="*/ 0 h 2085480"/>
                <a:gd name="textAreaBottom" fmla="*/ 2085840 h 2085480"/>
              </a:gdLst>
              <a:ahLst/>
              <a:rect l="textAreaLeft" t="textAreaTop" r="textAreaRight" b="textAreaBottom"/>
              <a:pathLst>
                <a:path w="12877800" h="2781300">
                  <a:moveTo>
                    <a:pt x="0" y="0"/>
                  </a:moveTo>
                  <a:lnTo>
                    <a:pt x="12877800" y="0"/>
                  </a:lnTo>
                  <a:lnTo>
                    <a:pt x="12877800" y="2781300"/>
                  </a:lnTo>
                  <a:lnTo>
                    <a:pt x="0" y="27813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3" name="Group 14"/>
          <p:cNvGrpSpPr/>
          <p:nvPr/>
        </p:nvGrpSpPr>
        <p:grpSpPr>
          <a:xfrm>
            <a:off x="7786800" y="5186520"/>
            <a:ext cx="4700160" cy="2657160"/>
            <a:chOff x="7786800" y="5186520"/>
            <a:chExt cx="4700160" cy="2657160"/>
          </a:xfrm>
        </p:grpSpPr>
        <p:sp>
          <p:nvSpPr>
            <p:cNvPr id="244" name="Freeform 15"/>
            <p:cNvSpPr/>
            <p:nvPr/>
          </p:nvSpPr>
          <p:spPr>
            <a:xfrm>
              <a:off x="7786800" y="5186520"/>
              <a:ext cx="4700160" cy="2657160"/>
            </a:xfrm>
            <a:custGeom>
              <a:avLst/>
              <a:gdLst>
                <a:gd name="textAreaLeft" fmla="*/ 0 w 4700160"/>
                <a:gd name="textAreaRight" fmla="*/ 4700520 w 4700160"/>
                <a:gd name="textAreaTop" fmla="*/ 0 h 2657160"/>
                <a:gd name="textAreaBottom" fmla="*/ 2657520 h 2657160"/>
              </a:gdLst>
              <a:ahLst/>
              <a:rect l="textAreaLeft" t="textAreaTop" r="textAreaRight" b="textAreaBottom"/>
              <a:pathLst>
                <a:path w="6267450" h="3543300">
                  <a:moveTo>
                    <a:pt x="0" y="0"/>
                  </a:moveTo>
                  <a:lnTo>
                    <a:pt x="6267450" y="0"/>
                  </a:lnTo>
                  <a:lnTo>
                    <a:pt x="6267450" y="3543300"/>
                  </a:lnTo>
                  <a:lnTo>
                    <a:pt x="0" y="35433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" name="Group 16"/>
          <p:cNvGrpSpPr/>
          <p:nvPr/>
        </p:nvGrpSpPr>
        <p:grpSpPr>
          <a:xfrm>
            <a:off x="12744360" y="5186520"/>
            <a:ext cx="4700160" cy="2657160"/>
            <a:chOff x="12744360" y="5186520"/>
            <a:chExt cx="4700160" cy="2657160"/>
          </a:xfrm>
        </p:grpSpPr>
        <p:sp>
          <p:nvSpPr>
            <p:cNvPr id="246" name="Freeform 17"/>
            <p:cNvSpPr/>
            <p:nvPr/>
          </p:nvSpPr>
          <p:spPr>
            <a:xfrm>
              <a:off x="12744360" y="5186520"/>
              <a:ext cx="4700160" cy="2657160"/>
            </a:xfrm>
            <a:custGeom>
              <a:avLst/>
              <a:gdLst>
                <a:gd name="textAreaLeft" fmla="*/ 0 w 4700160"/>
                <a:gd name="textAreaRight" fmla="*/ 4700520 w 4700160"/>
                <a:gd name="textAreaTop" fmla="*/ 0 h 2657160"/>
                <a:gd name="textAreaBottom" fmla="*/ 2657520 h 2657160"/>
              </a:gdLst>
              <a:ahLst/>
              <a:rect l="textAreaLeft" t="textAreaTop" r="textAreaRight" b="textAreaBottom"/>
              <a:pathLst>
                <a:path w="6267450" h="3543300">
                  <a:moveTo>
                    <a:pt x="0" y="0"/>
                  </a:moveTo>
                  <a:lnTo>
                    <a:pt x="6267450" y="0"/>
                  </a:lnTo>
                  <a:lnTo>
                    <a:pt x="6267450" y="3543300"/>
                  </a:lnTo>
                  <a:lnTo>
                    <a:pt x="0" y="35433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7" name="Group 18"/>
          <p:cNvGrpSpPr/>
          <p:nvPr/>
        </p:nvGrpSpPr>
        <p:grpSpPr>
          <a:xfrm>
            <a:off x="857160" y="714240"/>
            <a:ext cx="16573320" cy="1005480"/>
            <a:chOff x="857160" y="714240"/>
            <a:chExt cx="16573320" cy="1005480"/>
          </a:xfrm>
        </p:grpSpPr>
        <p:sp>
          <p:nvSpPr>
            <p:cNvPr id="248" name="Freeform 19"/>
            <p:cNvSpPr/>
            <p:nvPr/>
          </p:nvSpPr>
          <p:spPr>
            <a:xfrm>
              <a:off x="857160" y="714240"/>
              <a:ext cx="16573320" cy="1005480"/>
            </a:xfrm>
            <a:custGeom>
              <a:avLst/>
              <a:gdLst>
                <a:gd name="textAreaLeft" fmla="*/ 0 w 16573320"/>
                <a:gd name="textAreaRight" fmla="*/ 16573680 w 16573320"/>
                <a:gd name="textAreaTop" fmla="*/ 0 h 1005480"/>
                <a:gd name="textAreaBottom" fmla="*/ 1005840 h 1005480"/>
              </a:gdLst>
              <a:ahLst/>
              <a:rect l="textAreaLeft" t="textAreaTop" r="textAreaRight" b="textAreaBottom"/>
              <a:pathLst>
                <a:path w="22098000" h="1340942">
                  <a:moveTo>
                    <a:pt x="0" y="0"/>
                  </a:moveTo>
                  <a:lnTo>
                    <a:pt x="22098000" y="0"/>
                  </a:lnTo>
                  <a:lnTo>
                    <a:pt x="22098000" y="1340942"/>
                  </a:lnTo>
                  <a:lnTo>
                    <a:pt x="0" y="1340942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TextBox 20"/>
            <p:cNvSpPr/>
            <p:nvPr/>
          </p:nvSpPr>
          <p:spPr>
            <a:xfrm>
              <a:off x="857160" y="714240"/>
              <a:ext cx="16573320" cy="100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8101"/>
                </a:lnSpc>
              </a:pPr>
              <a:r>
                <a:rPr b="1" lang="en-US" sz="67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4-Layer Architecture &amp; Daily Run</a:t>
              </a:r>
              <a:endParaRPr b="0" lang="fr-FR" sz="67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0" name="Group 21"/>
          <p:cNvGrpSpPr/>
          <p:nvPr/>
        </p:nvGrpSpPr>
        <p:grpSpPr>
          <a:xfrm>
            <a:off x="857160" y="1720080"/>
            <a:ext cx="16573320" cy="442440"/>
            <a:chOff x="857160" y="1720080"/>
            <a:chExt cx="16573320" cy="442440"/>
          </a:xfrm>
        </p:grpSpPr>
        <p:sp>
          <p:nvSpPr>
            <p:cNvPr id="251" name="Freeform 22"/>
            <p:cNvSpPr/>
            <p:nvPr/>
          </p:nvSpPr>
          <p:spPr>
            <a:xfrm>
              <a:off x="857160" y="1720080"/>
              <a:ext cx="16573320" cy="442440"/>
            </a:xfrm>
            <a:custGeom>
              <a:avLst/>
              <a:gdLst>
                <a:gd name="textAreaLeft" fmla="*/ 0 w 16573320"/>
                <a:gd name="textAreaRight" fmla="*/ 16573680 w 16573320"/>
                <a:gd name="textAreaTop" fmla="*/ 0 h 442440"/>
                <a:gd name="textAreaBottom" fmla="*/ 442800 h 442440"/>
              </a:gdLst>
              <a:ahLst/>
              <a:rect l="textAreaLeft" t="textAreaTop" r="textAreaRight" b="textAreaBottom"/>
              <a:pathLst>
                <a:path w="22098000" h="590550">
                  <a:moveTo>
                    <a:pt x="0" y="0"/>
                  </a:moveTo>
                  <a:lnTo>
                    <a:pt x="22098000" y="0"/>
                  </a:lnTo>
                  <a:lnTo>
                    <a:pt x="22098000" y="590550"/>
                  </a:lnTo>
                  <a:lnTo>
                    <a:pt x="0" y="59055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" name="TextBox 23"/>
            <p:cNvSpPr/>
            <p:nvPr/>
          </p:nvSpPr>
          <p:spPr>
            <a:xfrm>
              <a:off x="857160" y="1720080"/>
              <a:ext cx="16573320" cy="44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0287aa"/>
                  </a:solidFill>
                  <a:latin typeface="Glacial Indifference"/>
                  <a:ea typeface="Glacial Indifference"/>
                </a:rPr>
                <a:t>Separation of concerns ensures repeatability, traceability, and easy deployment.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3" name="Group 24"/>
          <p:cNvGrpSpPr/>
          <p:nvPr/>
        </p:nvGrpSpPr>
        <p:grpSpPr>
          <a:xfrm>
            <a:off x="1228680" y="8053560"/>
            <a:ext cx="5714640" cy="249840"/>
            <a:chOff x="1228680" y="8053560"/>
            <a:chExt cx="5714640" cy="249840"/>
          </a:xfrm>
        </p:grpSpPr>
        <p:sp>
          <p:nvSpPr>
            <p:cNvPr id="254" name="Freeform 25"/>
            <p:cNvSpPr/>
            <p:nvPr/>
          </p:nvSpPr>
          <p:spPr>
            <a:xfrm>
              <a:off x="1228680" y="8060760"/>
              <a:ext cx="5714640" cy="242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7620000" h="323850">
                  <a:moveTo>
                    <a:pt x="0" y="0"/>
                  </a:moveTo>
                  <a:lnTo>
                    <a:pt x="7620000" y="0"/>
                  </a:lnTo>
                  <a:lnTo>
                    <a:pt x="7620000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TextBox 26"/>
            <p:cNvSpPr/>
            <p:nvPr/>
          </p:nvSpPr>
          <p:spPr>
            <a:xfrm>
              <a:off x="1228680" y="8053560"/>
              <a:ext cx="571464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Layer 1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" name="Group 27"/>
          <p:cNvGrpSpPr/>
          <p:nvPr/>
        </p:nvGrpSpPr>
        <p:grpSpPr>
          <a:xfrm>
            <a:off x="1228680" y="8353800"/>
            <a:ext cx="5714640" cy="349920"/>
            <a:chOff x="1228680" y="8353800"/>
            <a:chExt cx="5714640" cy="349920"/>
          </a:xfrm>
        </p:grpSpPr>
        <p:sp>
          <p:nvSpPr>
            <p:cNvPr id="257" name="Freeform 28"/>
            <p:cNvSpPr/>
            <p:nvPr/>
          </p:nvSpPr>
          <p:spPr>
            <a:xfrm>
              <a:off x="1228680" y="8361000"/>
              <a:ext cx="5714640" cy="34272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7620000" h="457200">
                  <a:moveTo>
                    <a:pt x="0" y="0"/>
                  </a:moveTo>
                  <a:lnTo>
                    <a:pt x="7620000" y="0"/>
                  </a:lnTo>
                  <a:lnTo>
                    <a:pt x="76200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" name="TextBox 29"/>
            <p:cNvSpPr/>
            <p:nvPr/>
          </p:nvSpPr>
          <p:spPr>
            <a:xfrm>
              <a:off x="1228680" y="8353800"/>
              <a:ext cx="5714640" cy="34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Docker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9" name="Group 30"/>
          <p:cNvGrpSpPr/>
          <p:nvPr/>
        </p:nvGrpSpPr>
        <p:grpSpPr>
          <a:xfrm>
            <a:off x="1228680" y="8746560"/>
            <a:ext cx="5714640" cy="284400"/>
            <a:chOff x="1228680" y="8746560"/>
            <a:chExt cx="5714640" cy="284400"/>
          </a:xfrm>
        </p:grpSpPr>
        <p:sp>
          <p:nvSpPr>
            <p:cNvPr id="260" name="Freeform 31"/>
            <p:cNvSpPr/>
            <p:nvPr/>
          </p:nvSpPr>
          <p:spPr>
            <a:xfrm>
              <a:off x="1228680" y="8760960"/>
              <a:ext cx="5714640" cy="27000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7620000" h="360350">
                  <a:moveTo>
                    <a:pt x="0" y="0"/>
                  </a:moveTo>
                  <a:lnTo>
                    <a:pt x="7620000" y="0"/>
                  </a:lnTo>
                  <a:lnTo>
                    <a:pt x="76200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" name="TextBox 32"/>
            <p:cNvSpPr/>
            <p:nvPr/>
          </p:nvSpPr>
          <p:spPr>
            <a:xfrm>
              <a:off x="1228680" y="8746560"/>
              <a:ext cx="571464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5a717e"/>
                  </a:solidFill>
                  <a:latin typeface="arial"/>
                  <a:ea typeface="arial"/>
                </a:rPr>
                <a:t>Reproducible environment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2" name="Group 33"/>
          <p:cNvGrpSpPr/>
          <p:nvPr/>
        </p:nvGrpSpPr>
        <p:grpSpPr>
          <a:xfrm>
            <a:off x="1228680" y="6467760"/>
            <a:ext cx="5714640" cy="249840"/>
            <a:chOff x="1228680" y="6467760"/>
            <a:chExt cx="5714640" cy="249840"/>
          </a:xfrm>
        </p:grpSpPr>
        <p:sp>
          <p:nvSpPr>
            <p:cNvPr id="263" name="Freeform 34"/>
            <p:cNvSpPr/>
            <p:nvPr/>
          </p:nvSpPr>
          <p:spPr>
            <a:xfrm>
              <a:off x="1228680" y="6474960"/>
              <a:ext cx="5714640" cy="242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7620000" h="323850">
                  <a:moveTo>
                    <a:pt x="0" y="0"/>
                  </a:moveTo>
                  <a:lnTo>
                    <a:pt x="7620000" y="0"/>
                  </a:lnTo>
                  <a:lnTo>
                    <a:pt x="7620000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" name="TextBox 35"/>
            <p:cNvSpPr/>
            <p:nvPr/>
          </p:nvSpPr>
          <p:spPr>
            <a:xfrm>
              <a:off x="1228680" y="6467760"/>
              <a:ext cx="571464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Layer 2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5" name="Group 36"/>
          <p:cNvGrpSpPr/>
          <p:nvPr/>
        </p:nvGrpSpPr>
        <p:grpSpPr>
          <a:xfrm>
            <a:off x="1228680" y="6767640"/>
            <a:ext cx="5714640" cy="349920"/>
            <a:chOff x="1228680" y="6767640"/>
            <a:chExt cx="5714640" cy="349920"/>
          </a:xfrm>
        </p:grpSpPr>
        <p:sp>
          <p:nvSpPr>
            <p:cNvPr id="266" name="Freeform 37"/>
            <p:cNvSpPr/>
            <p:nvPr/>
          </p:nvSpPr>
          <p:spPr>
            <a:xfrm>
              <a:off x="1228680" y="6774840"/>
              <a:ext cx="5714640" cy="34272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7620000" h="457200">
                  <a:moveTo>
                    <a:pt x="0" y="0"/>
                  </a:moveTo>
                  <a:lnTo>
                    <a:pt x="7620000" y="0"/>
                  </a:lnTo>
                  <a:lnTo>
                    <a:pt x="76200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" name="TextBox 38"/>
            <p:cNvSpPr/>
            <p:nvPr/>
          </p:nvSpPr>
          <p:spPr>
            <a:xfrm>
              <a:off x="1228680" y="6767640"/>
              <a:ext cx="5714640" cy="34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Airflow DAG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8" name="Group 39"/>
          <p:cNvGrpSpPr/>
          <p:nvPr/>
        </p:nvGrpSpPr>
        <p:grpSpPr>
          <a:xfrm>
            <a:off x="1228680" y="7160760"/>
            <a:ext cx="5714640" cy="284400"/>
            <a:chOff x="1228680" y="7160760"/>
            <a:chExt cx="5714640" cy="284400"/>
          </a:xfrm>
        </p:grpSpPr>
        <p:sp>
          <p:nvSpPr>
            <p:cNvPr id="269" name="Freeform 40"/>
            <p:cNvSpPr/>
            <p:nvPr/>
          </p:nvSpPr>
          <p:spPr>
            <a:xfrm>
              <a:off x="1228680" y="7175160"/>
              <a:ext cx="5714640" cy="27000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7620000" h="360350">
                  <a:moveTo>
                    <a:pt x="0" y="0"/>
                  </a:moveTo>
                  <a:lnTo>
                    <a:pt x="7620000" y="0"/>
                  </a:lnTo>
                  <a:lnTo>
                    <a:pt x="76200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" name="TextBox 41"/>
            <p:cNvSpPr/>
            <p:nvPr/>
          </p:nvSpPr>
          <p:spPr>
            <a:xfrm>
              <a:off x="1228680" y="7160760"/>
              <a:ext cx="571464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5a717e"/>
                  </a:solidFill>
                  <a:latin typeface="arial"/>
                  <a:ea typeface="arial"/>
                </a:rPr>
                <a:t>03:00 UTC daily schedule, retries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" name="Group 42"/>
          <p:cNvGrpSpPr/>
          <p:nvPr/>
        </p:nvGrpSpPr>
        <p:grpSpPr>
          <a:xfrm>
            <a:off x="1228680" y="4881960"/>
            <a:ext cx="5714640" cy="249840"/>
            <a:chOff x="1228680" y="4881960"/>
            <a:chExt cx="5714640" cy="249840"/>
          </a:xfrm>
        </p:grpSpPr>
        <p:sp>
          <p:nvSpPr>
            <p:cNvPr id="272" name="Freeform 43"/>
            <p:cNvSpPr/>
            <p:nvPr/>
          </p:nvSpPr>
          <p:spPr>
            <a:xfrm>
              <a:off x="1228680" y="4889160"/>
              <a:ext cx="5714640" cy="242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7620000" h="323850">
                  <a:moveTo>
                    <a:pt x="0" y="0"/>
                  </a:moveTo>
                  <a:lnTo>
                    <a:pt x="7620000" y="0"/>
                  </a:lnTo>
                  <a:lnTo>
                    <a:pt x="7620000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" name="TextBox 44"/>
            <p:cNvSpPr/>
            <p:nvPr/>
          </p:nvSpPr>
          <p:spPr>
            <a:xfrm>
              <a:off x="1228680" y="4881960"/>
              <a:ext cx="571464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Layer 3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4" name="Group 45"/>
          <p:cNvGrpSpPr/>
          <p:nvPr/>
        </p:nvGrpSpPr>
        <p:grpSpPr>
          <a:xfrm>
            <a:off x="1228680" y="5181840"/>
            <a:ext cx="5714640" cy="349920"/>
            <a:chOff x="1228680" y="5181840"/>
            <a:chExt cx="5714640" cy="349920"/>
          </a:xfrm>
        </p:grpSpPr>
        <p:sp>
          <p:nvSpPr>
            <p:cNvPr id="275" name="Freeform 46"/>
            <p:cNvSpPr/>
            <p:nvPr/>
          </p:nvSpPr>
          <p:spPr>
            <a:xfrm>
              <a:off x="1228680" y="5189040"/>
              <a:ext cx="5714640" cy="34272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7620000" h="457200">
                  <a:moveTo>
                    <a:pt x="0" y="0"/>
                  </a:moveTo>
                  <a:lnTo>
                    <a:pt x="7620000" y="0"/>
                  </a:lnTo>
                  <a:lnTo>
                    <a:pt x="76200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TextBox 47"/>
            <p:cNvSpPr/>
            <p:nvPr/>
          </p:nvSpPr>
          <p:spPr>
            <a:xfrm>
              <a:off x="1228680" y="5181840"/>
              <a:ext cx="5714640" cy="34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DVC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7" name="Group 48"/>
          <p:cNvGrpSpPr/>
          <p:nvPr/>
        </p:nvGrpSpPr>
        <p:grpSpPr>
          <a:xfrm>
            <a:off x="1228680" y="5574960"/>
            <a:ext cx="5714640" cy="284040"/>
            <a:chOff x="1228680" y="5574960"/>
            <a:chExt cx="5714640" cy="284040"/>
          </a:xfrm>
        </p:grpSpPr>
        <p:sp>
          <p:nvSpPr>
            <p:cNvPr id="278" name="Freeform 49"/>
            <p:cNvSpPr/>
            <p:nvPr/>
          </p:nvSpPr>
          <p:spPr>
            <a:xfrm>
              <a:off x="1228680" y="5589000"/>
              <a:ext cx="5714640" cy="27000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7620000" h="360350">
                  <a:moveTo>
                    <a:pt x="0" y="0"/>
                  </a:moveTo>
                  <a:lnTo>
                    <a:pt x="7620000" y="0"/>
                  </a:lnTo>
                  <a:lnTo>
                    <a:pt x="76200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" name="TextBox 50"/>
            <p:cNvSpPr/>
            <p:nvPr/>
          </p:nvSpPr>
          <p:spPr>
            <a:xfrm>
              <a:off x="1228680" y="5574960"/>
              <a:ext cx="571464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5a717e"/>
                  </a:solidFill>
                  <a:latin typeface="arial"/>
                  <a:ea typeface="arial"/>
                </a:rPr>
                <a:t>Data + artifact versioning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" name="Group 51"/>
          <p:cNvGrpSpPr/>
          <p:nvPr/>
        </p:nvGrpSpPr>
        <p:grpSpPr>
          <a:xfrm>
            <a:off x="1228680" y="3295800"/>
            <a:ext cx="5714640" cy="249840"/>
            <a:chOff x="1228680" y="3295800"/>
            <a:chExt cx="5714640" cy="249840"/>
          </a:xfrm>
        </p:grpSpPr>
        <p:sp>
          <p:nvSpPr>
            <p:cNvPr id="281" name="Freeform 52"/>
            <p:cNvSpPr/>
            <p:nvPr/>
          </p:nvSpPr>
          <p:spPr>
            <a:xfrm>
              <a:off x="1228680" y="3303000"/>
              <a:ext cx="5714640" cy="242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7620000" h="323850">
                  <a:moveTo>
                    <a:pt x="0" y="0"/>
                  </a:moveTo>
                  <a:lnTo>
                    <a:pt x="7620000" y="0"/>
                  </a:lnTo>
                  <a:lnTo>
                    <a:pt x="7620000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" name="TextBox 53"/>
            <p:cNvSpPr/>
            <p:nvPr/>
          </p:nvSpPr>
          <p:spPr>
            <a:xfrm>
              <a:off x="1228680" y="3295800"/>
              <a:ext cx="571464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Layer 4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" name="Group 54"/>
          <p:cNvGrpSpPr/>
          <p:nvPr/>
        </p:nvGrpSpPr>
        <p:grpSpPr>
          <a:xfrm>
            <a:off x="1228680" y="3596040"/>
            <a:ext cx="5714640" cy="349920"/>
            <a:chOff x="1228680" y="3596040"/>
            <a:chExt cx="5714640" cy="349920"/>
          </a:xfrm>
        </p:grpSpPr>
        <p:sp>
          <p:nvSpPr>
            <p:cNvPr id="284" name="Freeform 55"/>
            <p:cNvSpPr/>
            <p:nvPr/>
          </p:nvSpPr>
          <p:spPr>
            <a:xfrm>
              <a:off x="1228680" y="3603240"/>
              <a:ext cx="5714640" cy="34272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7620000" h="457200">
                  <a:moveTo>
                    <a:pt x="0" y="0"/>
                  </a:moveTo>
                  <a:lnTo>
                    <a:pt x="7620000" y="0"/>
                  </a:lnTo>
                  <a:lnTo>
                    <a:pt x="76200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" name="TextBox 56"/>
            <p:cNvSpPr/>
            <p:nvPr/>
          </p:nvSpPr>
          <p:spPr>
            <a:xfrm>
              <a:off x="1228680" y="3596040"/>
              <a:ext cx="5714640" cy="34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MLflow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6" name="Group 57"/>
          <p:cNvGrpSpPr/>
          <p:nvPr/>
        </p:nvGrpSpPr>
        <p:grpSpPr>
          <a:xfrm>
            <a:off x="1228680" y="3988800"/>
            <a:ext cx="5714640" cy="284400"/>
            <a:chOff x="1228680" y="3988800"/>
            <a:chExt cx="5714640" cy="284400"/>
          </a:xfrm>
        </p:grpSpPr>
        <p:sp>
          <p:nvSpPr>
            <p:cNvPr id="287" name="Freeform 58"/>
            <p:cNvSpPr/>
            <p:nvPr/>
          </p:nvSpPr>
          <p:spPr>
            <a:xfrm>
              <a:off x="1228680" y="4003200"/>
              <a:ext cx="5714640" cy="27000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7620000" h="360350">
                  <a:moveTo>
                    <a:pt x="0" y="0"/>
                  </a:moveTo>
                  <a:lnTo>
                    <a:pt x="7620000" y="0"/>
                  </a:lnTo>
                  <a:lnTo>
                    <a:pt x="76200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" name="TextBox 59"/>
            <p:cNvSpPr/>
            <p:nvPr/>
          </p:nvSpPr>
          <p:spPr>
            <a:xfrm>
              <a:off x="1228680" y="3988800"/>
              <a:ext cx="571464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5a717e"/>
                  </a:solidFill>
                  <a:latin typeface="arial"/>
                  <a:ea typeface="arial"/>
                </a:rPr>
                <a:t>Experiment tracking + model registry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" name="Group 60"/>
          <p:cNvGrpSpPr/>
          <p:nvPr/>
        </p:nvGrpSpPr>
        <p:grpSpPr>
          <a:xfrm>
            <a:off x="8158320" y="3077280"/>
            <a:ext cx="8915040" cy="484560"/>
            <a:chOff x="8158320" y="3077280"/>
            <a:chExt cx="8915040" cy="484560"/>
          </a:xfrm>
        </p:grpSpPr>
        <p:sp>
          <p:nvSpPr>
            <p:cNvPr id="290" name="Freeform 61"/>
            <p:cNvSpPr/>
            <p:nvPr/>
          </p:nvSpPr>
          <p:spPr>
            <a:xfrm>
              <a:off x="8158320" y="3091680"/>
              <a:ext cx="8915040" cy="470160"/>
            </a:xfrm>
            <a:custGeom>
              <a:avLst/>
              <a:gdLst>
                <a:gd name="textAreaLeft" fmla="*/ 0 w 8915040"/>
                <a:gd name="textAreaRight" fmla="*/ 8915400 w 8915040"/>
                <a:gd name="textAreaTop" fmla="*/ 0 h 470160"/>
                <a:gd name="textAreaBottom" fmla="*/ 470520 h 470160"/>
              </a:gdLst>
              <a:ahLst/>
              <a:rect l="textAreaLeft" t="textAreaTop" r="textAreaRight" b="textAreaBottom"/>
              <a:pathLst>
                <a:path w="11887200" h="627558">
                  <a:moveTo>
                    <a:pt x="0" y="0"/>
                  </a:moveTo>
                  <a:lnTo>
                    <a:pt x="11887200" y="0"/>
                  </a:lnTo>
                  <a:lnTo>
                    <a:pt x="11887200" y="627558"/>
                  </a:lnTo>
                  <a:lnTo>
                    <a:pt x="0" y="627558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" name="TextBox 62"/>
            <p:cNvSpPr/>
            <p:nvPr/>
          </p:nvSpPr>
          <p:spPr>
            <a:xfrm>
              <a:off x="8158320" y="3077280"/>
              <a:ext cx="8915040" cy="48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04a5c"/>
                  </a:solidFill>
                  <a:latin typeface="Arimo Bold"/>
                  <a:ea typeface="Arimo Bold"/>
                </a:rPr>
                <a:t>Daily DAG (High Level)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" name="Group 63"/>
          <p:cNvGrpSpPr/>
          <p:nvPr/>
        </p:nvGrpSpPr>
        <p:grpSpPr>
          <a:xfrm>
            <a:off x="8486640" y="5477760"/>
            <a:ext cx="1999800" cy="347400"/>
            <a:chOff x="8486640" y="5477760"/>
            <a:chExt cx="1999800" cy="347400"/>
          </a:xfrm>
        </p:grpSpPr>
        <p:sp>
          <p:nvSpPr>
            <p:cNvPr id="293" name="Freeform 64"/>
            <p:cNvSpPr/>
            <p:nvPr/>
          </p:nvSpPr>
          <p:spPr>
            <a:xfrm>
              <a:off x="8486640" y="5492160"/>
              <a:ext cx="1999800" cy="333000"/>
            </a:xfrm>
            <a:custGeom>
              <a:avLst/>
              <a:gdLst>
                <a:gd name="textAreaLeft" fmla="*/ 0 w 1999800"/>
                <a:gd name="textAreaRight" fmla="*/ 2000160 w 1999800"/>
                <a:gd name="textAreaTop" fmla="*/ 0 h 333000"/>
                <a:gd name="textAreaBottom" fmla="*/ 333360 h 333000"/>
              </a:gdLst>
              <a:ahLst/>
              <a:rect l="textAreaLeft" t="textAreaTop" r="textAreaRight" b="textAreaBottom"/>
              <a:pathLst>
                <a:path w="2667000" h="444661">
                  <a:moveTo>
                    <a:pt x="0" y="0"/>
                  </a:moveTo>
                  <a:lnTo>
                    <a:pt x="2667000" y="0"/>
                  </a:lnTo>
                  <a:lnTo>
                    <a:pt x="2667000" y="444661"/>
                  </a:lnTo>
                  <a:lnTo>
                    <a:pt x="0" y="444661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4" name="TextBox 65"/>
            <p:cNvSpPr/>
            <p:nvPr/>
          </p:nvSpPr>
          <p:spPr>
            <a:xfrm>
              <a:off x="8486640" y="5477760"/>
              <a:ext cx="199980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981"/>
                </a:lnSpc>
              </a:pPr>
              <a:r>
                <a:rPr b="1" lang="en-US" sz="1650" spc="-1" strike="noStrike">
                  <a:solidFill>
                    <a:srgbClr val="0287aa"/>
                  </a:solidFill>
                  <a:latin typeface="Arimo Bold"/>
                  <a:ea typeface="Arimo Bold"/>
                </a:rPr>
                <a:t>Operational notes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5" name="Group 66"/>
          <p:cNvGrpSpPr/>
          <p:nvPr/>
        </p:nvGrpSpPr>
        <p:grpSpPr>
          <a:xfrm>
            <a:off x="8072280" y="5500800"/>
            <a:ext cx="313920" cy="271080"/>
            <a:chOff x="8072280" y="5500800"/>
            <a:chExt cx="313920" cy="271080"/>
          </a:xfrm>
        </p:grpSpPr>
        <p:sp>
          <p:nvSpPr>
            <p:cNvPr id="296" name="Freeform 67"/>
            <p:cNvSpPr/>
            <p:nvPr/>
          </p:nvSpPr>
          <p:spPr>
            <a:xfrm>
              <a:off x="8072280" y="5500800"/>
              <a:ext cx="313920" cy="27108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419100" h="361950">
                  <a:moveTo>
                    <a:pt x="0" y="0"/>
                  </a:moveTo>
                  <a:lnTo>
                    <a:pt x="419100" y="0"/>
                  </a:lnTo>
                  <a:lnTo>
                    <a:pt x="4191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7" name="Group 68"/>
          <p:cNvGrpSpPr/>
          <p:nvPr/>
        </p:nvGrpSpPr>
        <p:grpSpPr>
          <a:xfrm>
            <a:off x="8300880" y="5906160"/>
            <a:ext cx="3885840" cy="334080"/>
            <a:chOff x="8300880" y="5906160"/>
            <a:chExt cx="3885840" cy="334080"/>
          </a:xfrm>
        </p:grpSpPr>
        <p:sp>
          <p:nvSpPr>
            <p:cNvPr id="298" name="Freeform 69"/>
            <p:cNvSpPr/>
            <p:nvPr/>
          </p:nvSpPr>
          <p:spPr>
            <a:xfrm>
              <a:off x="8300880" y="5920560"/>
              <a:ext cx="3885840" cy="319680"/>
            </a:xfrm>
            <a:custGeom>
              <a:avLst/>
              <a:gdLst>
                <a:gd name="textAreaLeft" fmla="*/ 0 w 3885840"/>
                <a:gd name="textAreaRight" fmla="*/ 3886200 w 3885840"/>
                <a:gd name="textAreaTop" fmla="*/ 0 h 319680"/>
                <a:gd name="textAreaBottom" fmla="*/ 320040 h 319680"/>
              </a:gdLst>
              <a:ahLst/>
              <a:rect l="textAreaLeft" t="textAreaTop" r="textAreaRight" b="textAreaBottom"/>
              <a:pathLst>
                <a:path w="5181600" h="426542">
                  <a:moveTo>
                    <a:pt x="0" y="0"/>
                  </a:moveTo>
                  <a:lnTo>
                    <a:pt x="5181600" y="0"/>
                  </a:lnTo>
                  <a:lnTo>
                    <a:pt x="5181600" y="426542"/>
                  </a:lnTo>
                  <a:lnTo>
                    <a:pt x="0" y="426542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" name="TextBox 70"/>
            <p:cNvSpPr/>
            <p:nvPr/>
          </p:nvSpPr>
          <p:spPr>
            <a:xfrm>
              <a:off x="8300880" y="5906160"/>
              <a:ext cx="38858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arial"/>
                  <a:ea typeface="arial"/>
                </a:rPr>
                <a:t>Max active runs: 1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" name="Group 71"/>
          <p:cNvGrpSpPr/>
          <p:nvPr/>
        </p:nvGrpSpPr>
        <p:grpSpPr>
          <a:xfrm>
            <a:off x="8300880" y="6311880"/>
            <a:ext cx="3885840" cy="334080"/>
            <a:chOff x="8300880" y="6311880"/>
            <a:chExt cx="3885840" cy="334080"/>
          </a:xfrm>
        </p:grpSpPr>
        <p:sp>
          <p:nvSpPr>
            <p:cNvPr id="301" name="Freeform 72"/>
            <p:cNvSpPr/>
            <p:nvPr/>
          </p:nvSpPr>
          <p:spPr>
            <a:xfrm>
              <a:off x="8300880" y="6326280"/>
              <a:ext cx="3885840" cy="319680"/>
            </a:xfrm>
            <a:custGeom>
              <a:avLst/>
              <a:gdLst>
                <a:gd name="textAreaLeft" fmla="*/ 0 w 3885840"/>
                <a:gd name="textAreaRight" fmla="*/ 3886200 w 3885840"/>
                <a:gd name="textAreaTop" fmla="*/ 0 h 319680"/>
                <a:gd name="textAreaBottom" fmla="*/ 320040 h 319680"/>
              </a:gdLst>
              <a:ahLst/>
              <a:rect l="textAreaLeft" t="textAreaTop" r="textAreaRight" b="textAreaBottom"/>
              <a:pathLst>
                <a:path w="5181600" h="426542">
                  <a:moveTo>
                    <a:pt x="0" y="0"/>
                  </a:moveTo>
                  <a:lnTo>
                    <a:pt x="5181600" y="0"/>
                  </a:lnTo>
                  <a:lnTo>
                    <a:pt x="5181600" y="426542"/>
                  </a:lnTo>
                  <a:lnTo>
                    <a:pt x="0" y="426542"/>
                  </a:lnTo>
                  <a:close/>
                </a:path>
              </a:pathLst>
            </a:custGeom>
            <a:blipFill rotWithShape="0">
              <a:blip r:embed="rId2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" name="TextBox 73"/>
            <p:cNvSpPr/>
            <p:nvPr/>
          </p:nvSpPr>
          <p:spPr>
            <a:xfrm>
              <a:off x="8300880" y="6311880"/>
              <a:ext cx="38858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arial"/>
                  <a:ea typeface="arial"/>
                </a:rPr>
                <a:t>Retries with backoff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3" name="Group 74"/>
          <p:cNvGrpSpPr/>
          <p:nvPr/>
        </p:nvGrpSpPr>
        <p:grpSpPr>
          <a:xfrm>
            <a:off x="13387320" y="5477760"/>
            <a:ext cx="1885680" cy="347400"/>
            <a:chOff x="13387320" y="5477760"/>
            <a:chExt cx="1885680" cy="347400"/>
          </a:xfrm>
        </p:grpSpPr>
        <p:sp>
          <p:nvSpPr>
            <p:cNvPr id="304" name="Freeform 75"/>
            <p:cNvSpPr/>
            <p:nvPr/>
          </p:nvSpPr>
          <p:spPr>
            <a:xfrm>
              <a:off x="13387320" y="5492160"/>
              <a:ext cx="1885680" cy="333000"/>
            </a:xfrm>
            <a:custGeom>
              <a:avLst/>
              <a:gdLst>
                <a:gd name="textAreaLeft" fmla="*/ 0 w 1885680"/>
                <a:gd name="textAreaRight" fmla="*/ 1886040 w 1885680"/>
                <a:gd name="textAreaTop" fmla="*/ 0 h 333000"/>
                <a:gd name="textAreaBottom" fmla="*/ 333360 h 333000"/>
              </a:gdLst>
              <a:ahLst/>
              <a:rect l="textAreaLeft" t="textAreaTop" r="textAreaRight" b="textAreaBottom"/>
              <a:pathLst>
                <a:path w="2514600" h="444661">
                  <a:moveTo>
                    <a:pt x="0" y="0"/>
                  </a:moveTo>
                  <a:lnTo>
                    <a:pt x="2514600" y="0"/>
                  </a:lnTo>
                  <a:lnTo>
                    <a:pt x="2514600" y="444661"/>
                  </a:lnTo>
                  <a:lnTo>
                    <a:pt x="0" y="444661"/>
                  </a:lnTo>
                  <a:close/>
                </a:path>
              </a:pathLst>
            </a:custGeom>
            <a:blipFill rotWithShape="0">
              <a:blip r:embed="rId2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" name="TextBox 76"/>
            <p:cNvSpPr/>
            <p:nvPr/>
          </p:nvSpPr>
          <p:spPr>
            <a:xfrm>
              <a:off x="13387320" y="5477760"/>
              <a:ext cx="188568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981"/>
                </a:lnSpc>
              </a:pPr>
              <a:r>
                <a:rPr b="1" lang="en-US" sz="1650" spc="-1" strike="noStrike">
                  <a:solidFill>
                    <a:srgbClr val="0287aa"/>
                  </a:solidFill>
                  <a:latin typeface="Arimo Bold"/>
                  <a:ea typeface="Arimo Bold"/>
                </a:rPr>
                <a:t>Artifacts tracked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" name="Group 77"/>
          <p:cNvGrpSpPr/>
          <p:nvPr/>
        </p:nvGrpSpPr>
        <p:grpSpPr>
          <a:xfrm>
            <a:off x="13030200" y="5500800"/>
            <a:ext cx="256680" cy="271080"/>
            <a:chOff x="13030200" y="5500800"/>
            <a:chExt cx="256680" cy="271080"/>
          </a:xfrm>
        </p:grpSpPr>
        <p:sp>
          <p:nvSpPr>
            <p:cNvPr id="307" name="Freeform 78"/>
            <p:cNvSpPr/>
            <p:nvPr/>
          </p:nvSpPr>
          <p:spPr>
            <a:xfrm>
              <a:off x="13030200" y="5500800"/>
              <a:ext cx="256680" cy="27108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" name="Group 79"/>
          <p:cNvGrpSpPr/>
          <p:nvPr/>
        </p:nvGrpSpPr>
        <p:grpSpPr>
          <a:xfrm>
            <a:off x="13258800" y="5906160"/>
            <a:ext cx="3885840" cy="334080"/>
            <a:chOff x="13258800" y="5906160"/>
            <a:chExt cx="3885840" cy="334080"/>
          </a:xfrm>
        </p:grpSpPr>
        <p:sp>
          <p:nvSpPr>
            <p:cNvPr id="309" name="Freeform 80"/>
            <p:cNvSpPr/>
            <p:nvPr/>
          </p:nvSpPr>
          <p:spPr>
            <a:xfrm>
              <a:off x="13258800" y="5920560"/>
              <a:ext cx="3885840" cy="319680"/>
            </a:xfrm>
            <a:custGeom>
              <a:avLst/>
              <a:gdLst>
                <a:gd name="textAreaLeft" fmla="*/ 0 w 3885840"/>
                <a:gd name="textAreaRight" fmla="*/ 3886200 w 3885840"/>
                <a:gd name="textAreaTop" fmla="*/ 0 h 319680"/>
                <a:gd name="textAreaBottom" fmla="*/ 320040 h 319680"/>
              </a:gdLst>
              <a:ahLst/>
              <a:rect l="textAreaLeft" t="textAreaTop" r="textAreaRight" b="textAreaBottom"/>
              <a:pathLst>
                <a:path w="5181600" h="426542">
                  <a:moveTo>
                    <a:pt x="0" y="0"/>
                  </a:moveTo>
                  <a:lnTo>
                    <a:pt x="5181600" y="0"/>
                  </a:lnTo>
                  <a:lnTo>
                    <a:pt x="5181600" y="426542"/>
                  </a:lnTo>
                  <a:lnTo>
                    <a:pt x="0" y="426542"/>
                  </a:lnTo>
                  <a:close/>
                </a:path>
              </a:pathLst>
            </a:custGeom>
            <a:blipFill rotWithShape="0">
              <a:blip r:embed="rId3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" name="TextBox 81"/>
            <p:cNvSpPr/>
            <p:nvPr/>
          </p:nvSpPr>
          <p:spPr>
            <a:xfrm>
              <a:off x="13258800" y="5906160"/>
              <a:ext cx="38858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arial"/>
                  <a:ea typeface="arial"/>
                </a:rPr>
                <a:t>Dataset CSV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" name="Group 82"/>
          <p:cNvGrpSpPr/>
          <p:nvPr/>
        </p:nvGrpSpPr>
        <p:grpSpPr>
          <a:xfrm>
            <a:off x="13258800" y="6311880"/>
            <a:ext cx="3885840" cy="334080"/>
            <a:chOff x="13258800" y="6311880"/>
            <a:chExt cx="3885840" cy="334080"/>
          </a:xfrm>
        </p:grpSpPr>
        <p:sp>
          <p:nvSpPr>
            <p:cNvPr id="312" name="Freeform 83"/>
            <p:cNvSpPr/>
            <p:nvPr/>
          </p:nvSpPr>
          <p:spPr>
            <a:xfrm>
              <a:off x="13258800" y="6326280"/>
              <a:ext cx="3885840" cy="319680"/>
            </a:xfrm>
            <a:custGeom>
              <a:avLst/>
              <a:gdLst>
                <a:gd name="textAreaLeft" fmla="*/ 0 w 3885840"/>
                <a:gd name="textAreaRight" fmla="*/ 3886200 w 3885840"/>
                <a:gd name="textAreaTop" fmla="*/ 0 h 319680"/>
                <a:gd name="textAreaBottom" fmla="*/ 320040 h 319680"/>
              </a:gdLst>
              <a:ahLst/>
              <a:rect l="textAreaLeft" t="textAreaTop" r="textAreaRight" b="textAreaBottom"/>
              <a:pathLst>
                <a:path w="5181600" h="426542">
                  <a:moveTo>
                    <a:pt x="0" y="0"/>
                  </a:moveTo>
                  <a:lnTo>
                    <a:pt x="5181600" y="0"/>
                  </a:lnTo>
                  <a:lnTo>
                    <a:pt x="5181600" y="426542"/>
                  </a:lnTo>
                  <a:lnTo>
                    <a:pt x="0" y="426542"/>
                  </a:lnTo>
                  <a:close/>
                </a:path>
              </a:pathLst>
            </a:custGeom>
            <a:blipFill rotWithShape="0">
              <a:blip r:embed="rId3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" name="TextBox 84"/>
            <p:cNvSpPr/>
            <p:nvPr/>
          </p:nvSpPr>
          <p:spPr>
            <a:xfrm>
              <a:off x="13258800" y="6311880"/>
              <a:ext cx="38858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arial"/>
                  <a:ea typeface="arial"/>
                </a:rPr>
                <a:t>Train/test pickles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" name="Group 85"/>
          <p:cNvGrpSpPr/>
          <p:nvPr/>
        </p:nvGrpSpPr>
        <p:grpSpPr>
          <a:xfrm>
            <a:off x="13258800" y="6717600"/>
            <a:ext cx="3885840" cy="334080"/>
            <a:chOff x="13258800" y="6717600"/>
            <a:chExt cx="3885840" cy="334080"/>
          </a:xfrm>
        </p:grpSpPr>
        <p:sp>
          <p:nvSpPr>
            <p:cNvPr id="315" name="Freeform 86"/>
            <p:cNvSpPr/>
            <p:nvPr/>
          </p:nvSpPr>
          <p:spPr>
            <a:xfrm>
              <a:off x="13258800" y="6732000"/>
              <a:ext cx="3885840" cy="319680"/>
            </a:xfrm>
            <a:custGeom>
              <a:avLst/>
              <a:gdLst>
                <a:gd name="textAreaLeft" fmla="*/ 0 w 3885840"/>
                <a:gd name="textAreaRight" fmla="*/ 3886200 w 3885840"/>
                <a:gd name="textAreaTop" fmla="*/ 0 h 319680"/>
                <a:gd name="textAreaBottom" fmla="*/ 320040 h 319680"/>
              </a:gdLst>
              <a:ahLst/>
              <a:rect l="textAreaLeft" t="textAreaTop" r="textAreaRight" b="textAreaBottom"/>
              <a:pathLst>
                <a:path w="5181600" h="426542">
                  <a:moveTo>
                    <a:pt x="0" y="0"/>
                  </a:moveTo>
                  <a:lnTo>
                    <a:pt x="5181600" y="0"/>
                  </a:lnTo>
                  <a:lnTo>
                    <a:pt x="5181600" y="426542"/>
                  </a:lnTo>
                  <a:lnTo>
                    <a:pt x="0" y="426542"/>
                  </a:lnTo>
                  <a:close/>
                </a:path>
              </a:pathLst>
            </a:custGeom>
            <a:blipFill rotWithShape="0">
              <a:blip r:embed="rId3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" name="TextBox 87"/>
            <p:cNvSpPr/>
            <p:nvPr/>
          </p:nvSpPr>
          <p:spPr>
            <a:xfrm>
              <a:off x="13258800" y="6717600"/>
              <a:ext cx="38858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arial"/>
                  <a:ea typeface="arial"/>
                </a:rPr>
                <a:t>metrics.json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" name="Group 88"/>
          <p:cNvGrpSpPr/>
          <p:nvPr/>
        </p:nvGrpSpPr>
        <p:grpSpPr>
          <a:xfrm>
            <a:off x="8086680" y="5913360"/>
            <a:ext cx="159840" cy="246960"/>
            <a:chOff x="8086680" y="5913360"/>
            <a:chExt cx="159840" cy="246960"/>
          </a:xfrm>
        </p:grpSpPr>
        <p:sp>
          <p:nvSpPr>
            <p:cNvPr id="318" name="Freeform 89"/>
            <p:cNvSpPr/>
            <p:nvPr/>
          </p:nvSpPr>
          <p:spPr>
            <a:xfrm>
              <a:off x="8086680" y="5920560"/>
              <a:ext cx="159840" cy="23976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239760"/>
                <a:gd name="textAreaBottom" fmla="*/ 240120 h 239760"/>
              </a:gdLst>
              <a:ahLst/>
              <a:rect l="textAreaLeft" t="textAreaTop" r="textAreaRight" b="textAreaBottom"/>
              <a:pathLst>
                <a:path w="213360" h="320040">
                  <a:moveTo>
                    <a:pt x="0" y="0"/>
                  </a:moveTo>
                  <a:lnTo>
                    <a:pt x="213360" y="0"/>
                  </a:lnTo>
                  <a:lnTo>
                    <a:pt x="213360" y="320040"/>
                  </a:lnTo>
                  <a:lnTo>
                    <a:pt x="0" y="320040"/>
                  </a:lnTo>
                  <a:close/>
                </a:path>
              </a:pathLst>
            </a:custGeom>
            <a:blipFill rotWithShape="0">
              <a:blip r:embed="rId3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" name="TextBox 90"/>
            <p:cNvSpPr/>
            <p:nvPr/>
          </p:nvSpPr>
          <p:spPr>
            <a:xfrm>
              <a:off x="8086680" y="5913360"/>
              <a:ext cx="159840" cy="24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287aa"/>
                  </a:solidFill>
                  <a:latin typeface="Segoe Script"/>
                  <a:ea typeface="Segoe Script"/>
                </a:rPr>
                <a:t>•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" name="Group 91"/>
          <p:cNvGrpSpPr/>
          <p:nvPr/>
        </p:nvGrpSpPr>
        <p:grpSpPr>
          <a:xfrm>
            <a:off x="8086680" y="6319080"/>
            <a:ext cx="159840" cy="246960"/>
            <a:chOff x="8086680" y="6319080"/>
            <a:chExt cx="159840" cy="246960"/>
          </a:xfrm>
        </p:grpSpPr>
        <p:sp>
          <p:nvSpPr>
            <p:cNvPr id="321" name="Freeform 92"/>
            <p:cNvSpPr/>
            <p:nvPr/>
          </p:nvSpPr>
          <p:spPr>
            <a:xfrm>
              <a:off x="8086680" y="6326280"/>
              <a:ext cx="159840" cy="23976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239760"/>
                <a:gd name="textAreaBottom" fmla="*/ 240120 h 239760"/>
              </a:gdLst>
              <a:ahLst/>
              <a:rect l="textAreaLeft" t="textAreaTop" r="textAreaRight" b="textAreaBottom"/>
              <a:pathLst>
                <a:path w="213360" h="320040">
                  <a:moveTo>
                    <a:pt x="0" y="0"/>
                  </a:moveTo>
                  <a:lnTo>
                    <a:pt x="213360" y="0"/>
                  </a:lnTo>
                  <a:lnTo>
                    <a:pt x="213360" y="320040"/>
                  </a:lnTo>
                  <a:lnTo>
                    <a:pt x="0" y="320040"/>
                  </a:lnTo>
                  <a:close/>
                </a:path>
              </a:pathLst>
            </a:custGeom>
            <a:blipFill rotWithShape="0">
              <a:blip r:embed="rId3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" name="TextBox 93"/>
            <p:cNvSpPr/>
            <p:nvPr/>
          </p:nvSpPr>
          <p:spPr>
            <a:xfrm>
              <a:off x="8086680" y="6319080"/>
              <a:ext cx="159840" cy="24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287aa"/>
                  </a:solidFill>
                  <a:latin typeface="Segoe Script"/>
                  <a:ea typeface="Segoe Script"/>
                </a:rPr>
                <a:t>•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3" name="Group 94"/>
          <p:cNvGrpSpPr/>
          <p:nvPr/>
        </p:nvGrpSpPr>
        <p:grpSpPr>
          <a:xfrm>
            <a:off x="13044600" y="5913360"/>
            <a:ext cx="159840" cy="246960"/>
            <a:chOff x="13044600" y="5913360"/>
            <a:chExt cx="159840" cy="246960"/>
          </a:xfrm>
        </p:grpSpPr>
        <p:sp>
          <p:nvSpPr>
            <p:cNvPr id="324" name="Freeform 95"/>
            <p:cNvSpPr/>
            <p:nvPr/>
          </p:nvSpPr>
          <p:spPr>
            <a:xfrm>
              <a:off x="13044600" y="5920560"/>
              <a:ext cx="159840" cy="23976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239760"/>
                <a:gd name="textAreaBottom" fmla="*/ 240120 h 239760"/>
              </a:gdLst>
              <a:ahLst/>
              <a:rect l="textAreaLeft" t="textAreaTop" r="textAreaRight" b="textAreaBottom"/>
              <a:pathLst>
                <a:path w="213360" h="320040">
                  <a:moveTo>
                    <a:pt x="0" y="0"/>
                  </a:moveTo>
                  <a:lnTo>
                    <a:pt x="213360" y="0"/>
                  </a:lnTo>
                  <a:lnTo>
                    <a:pt x="213360" y="320040"/>
                  </a:lnTo>
                  <a:lnTo>
                    <a:pt x="0" y="320040"/>
                  </a:lnTo>
                  <a:close/>
                </a:path>
              </a:pathLst>
            </a:custGeom>
            <a:blipFill rotWithShape="0">
              <a:blip r:embed="rId3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" name="TextBox 96"/>
            <p:cNvSpPr/>
            <p:nvPr/>
          </p:nvSpPr>
          <p:spPr>
            <a:xfrm>
              <a:off x="13044600" y="5913360"/>
              <a:ext cx="159840" cy="24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287aa"/>
                  </a:solidFill>
                  <a:latin typeface="Segoe Script"/>
                  <a:ea typeface="Segoe Script"/>
                </a:rPr>
                <a:t>•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" name="Group 97"/>
          <p:cNvGrpSpPr/>
          <p:nvPr/>
        </p:nvGrpSpPr>
        <p:grpSpPr>
          <a:xfrm>
            <a:off x="13044600" y="6319080"/>
            <a:ext cx="159840" cy="246960"/>
            <a:chOff x="13044600" y="6319080"/>
            <a:chExt cx="159840" cy="246960"/>
          </a:xfrm>
        </p:grpSpPr>
        <p:sp>
          <p:nvSpPr>
            <p:cNvPr id="327" name="Freeform 98"/>
            <p:cNvSpPr/>
            <p:nvPr/>
          </p:nvSpPr>
          <p:spPr>
            <a:xfrm>
              <a:off x="13044600" y="6326280"/>
              <a:ext cx="159840" cy="23976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239760"/>
                <a:gd name="textAreaBottom" fmla="*/ 240120 h 239760"/>
              </a:gdLst>
              <a:ahLst/>
              <a:rect l="textAreaLeft" t="textAreaTop" r="textAreaRight" b="textAreaBottom"/>
              <a:pathLst>
                <a:path w="213360" h="320040">
                  <a:moveTo>
                    <a:pt x="0" y="0"/>
                  </a:moveTo>
                  <a:lnTo>
                    <a:pt x="213360" y="0"/>
                  </a:lnTo>
                  <a:lnTo>
                    <a:pt x="213360" y="320040"/>
                  </a:lnTo>
                  <a:lnTo>
                    <a:pt x="0" y="320040"/>
                  </a:lnTo>
                  <a:close/>
                </a:path>
              </a:pathLst>
            </a:custGeom>
            <a:blipFill rotWithShape="0">
              <a:blip r:embed="rId3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TextBox 99"/>
            <p:cNvSpPr/>
            <p:nvPr/>
          </p:nvSpPr>
          <p:spPr>
            <a:xfrm>
              <a:off x="13044600" y="6319080"/>
              <a:ext cx="159840" cy="24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287aa"/>
                  </a:solidFill>
                  <a:latin typeface="Segoe Script"/>
                  <a:ea typeface="Segoe Script"/>
                </a:rPr>
                <a:t>•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" name="Group 100"/>
          <p:cNvGrpSpPr/>
          <p:nvPr/>
        </p:nvGrpSpPr>
        <p:grpSpPr>
          <a:xfrm>
            <a:off x="13044600" y="6724800"/>
            <a:ext cx="159840" cy="246960"/>
            <a:chOff x="13044600" y="6724800"/>
            <a:chExt cx="159840" cy="246960"/>
          </a:xfrm>
        </p:grpSpPr>
        <p:sp>
          <p:nvSpPr>
            <p:cNvPr id="330" name="Freeform 101"/>
            <p:cNvSpPr/>
            <p:nvPr/>
          </p:nvSpPr>
          <p:spPr>
            <a:xfrm>
              <a:off x="13044600" y="6732000"/>
              <a:ext cx="159840" cy="23976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239760"/>
                <a:gd name="textAreaBottom" fmla="*/ 240120 h 239760"/>
              </a:gdLst>
              <a:ahLst/>
              <a:rect l="textAreaLeft" t="textAreaTop" r="textAreaRight" b="textAreaBottom"/>
              <a:pathLst>
                <a:path w="213360" h="320040">
                  <a:moveTo>
                    <a:pt x="0" y="0"/>
                  </a:moveTo>
                  <a:lnTo>
                    <a:pt x="213360" y="0"/>
                  </a:lnTo>
                  <a:lnTo>
                    <a:pt x="213360" y="320040"/>
                  </a:lnTo>
                  <a:lnTo>
                    <a:pt x="0" y="320040"/>
                  </a:lnTo>
                  <a:close/>
                </a:path>
              </a:pathLst>
            </a:custGeom>
            <a:blipFill rotWithShape="0">
              <a:blip r:embed="rId3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TextBox 102"/>
            <p:cNvSpPr/>
            <p:nvPr/>
          </p:nvSpPr>
          <p:spPr>
            <a:xfrm>
              <a:off x="13044600" y="6724800"/>
              <a:ext cx="159840" cy="24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287aa"/>
                  </a:solidFill>
                  <a:latin typeface="Segoe Script"/>
                  <a:ea typeface="Segoe Script"/>
                </a:rPr>
                <a:t>•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2" name="Group 103"/>
          <p:cNvGrpSpPr/>
          <p:nvPr/>
        </p:nvGrpSpPr>
        <p:grpSpPr>
          <a:xfrm>
            <a:off x="13044600" y="7130520"/>
            <a:ext cx="159840" cy="246960"/>
            <a:chOff x="13044600" y="7130520"/>
            <a:chExt cx="159840" cy="246960"/>
          </a:xfrm>
        </p:grpSpPr>
        <p:sp>
          <p:nvSpPr>
            <p:cNvPr id="333" name="Freeform 104"/>
            <p:cNvSpPr/>
            <p:nvPr/>
          </p:nvSpPr>
          <p:spPr>
            <a:xfrm>
              <a:off x="13044600" y="7137360"/>
              <a:ext cx="159840" cy="23976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239760"/>
                <a:gd name="textAreaBottom" fmla="*/ 240120 h 239760"/>
              </a:gdLst>
              <a:ahLst/>
              <a:rect l="textAreaLeft" t="textAreaTop" r="textAreaRight" b="textAreaBottom"/>
              <a:pathLst>
                <a:path w="213360" h="320040">
                  <a:moveTo>
                    <a:pt x="0" y="0"/>
                  </a:moveTo>
                  <a:lnTo>
                    <a:pt x="213360" y="0"/>
                  </a:lnTo>
                  <a:lnTo>
                    <a:pt x="213360" y="320040"/>
                  </a:lnTo>
                  <a:lnTo>
                    <a:pt x="0" y="320040"/>
                  </a:lnTo>
                  <a:close/>
                </a:path>
              </a:pathLst>
            </a:custGeom>
            <a:blipFill rotWithShape="0">
              <a:blip r:embed="rId3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" name="TextBox 105"/>
            <p:cNvSpPr/>
            <p:nvPr/>
          </p:nvSpPr>
          <p:spPr>
            <a:xfrm>
              <a:off x="13044600" y="7130520"/>
              <a:ext cx="159840" cy="24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287aa"/>
                  </a:solidFill>
                  <a:latin typeface="Segoe Script"/>
                  <a:ea typeface="Segoe Script"/>
                </a:rPr>
                <a:t>•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" name="Group 106"/>
          <p:cNvGrpSpPr/>
          <p:nvPr/>
        </p:nvGrpSpPr>
        <p:grpSpPr>
          <a:xfrm>
            <a:off x="13258800" y="7123320"/>
            <a:ext cx="3885840" cy="333720"/>
            <a:chOff x="13258800" y="7123320"/>
            <a:chExt cx="3885840" cy="333720"/>
          </a:xfrm>
        </p:grpSpPr>
        <p:sp>
          <p:nvSpPr>
            <p:cNvPr id="336" name="Freeform 107"/>
            <p:cNvSpPr/>
            <p:nvPr/>
          </p:nvSpPr>
          <p:spPr>
            <a:xfrm>
              <a:off x="13258800" y="7137360"/>
              <a:ext cx="3885840" cy="319680"/>
            </a:xfrm>
            <a:custGeom>
              <a:avLst/>
              <a:gdLst>
                <a:gd name="textAreaLeft" fmla="*/ 0 w 3885840"/>
                <a:gd name="textAreaRight" fmla="*/ 3886200 w 3885840"/>
                <a:gd name="textAreaTop" fmla="*/ 0 h 319680"/>
                <a:gd name="textAreaBottom" fmla="*/ 320040 h 319680"/>
              </a:gdLst>
              <a:ahLst/>
              <a:rect l="textAreaLeft" t="textAreaTop" r="textAreaRight" b="textAreaBottom"/>
              <a:pathLst>
                <a:path w="5181600" h="426542">
                  <a:moveTo>
                    <a:pt x="0" y="0"/>
                  </a:moveTo>
                  <a:lnTo>
                    <a:pt x="5181600" y="0"/>
                  </a:lnTo>
                  <a:lnTo>
                    <a:pt x="5181600" y="426542"/>
                  </a:lnTo>
                  <a:lnTo>
                    <a:pt x="0" y="426542"/>
                  </a:lnTo>
                  <a:close/>
                </a:path>
              </a:pathLst>
            </a:custGeom>
            <a:blipFill rotWithShape="0">
              <a:blip r:embed="rId3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" name="TextBox 108"/>
            <p:cNvSpPr/>
            <p:nvPr/>
          </p:nvSpPr>
          <p:spPr>
            <a:xfrm>
              <a:off x="13258800" y="7123320"/>
              <a:ext cx="3885840" cy="33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arial"/>
                  <a:ea typeface="arial"/>
                </a:rPr>
                <a:t>model.pkl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" name="Group 109"/>
          <p:cNvGrpSpPr/>
          <p:nvPr/>
        </p:nvGrpSpPr>
        <p:grpSpPr>
          <a:xfrm>
            <a:off x="8143920" y="3772080"/>
            <a:ext cx="1314000" cy="556920"/>
            <a:chOff x="8143920" y="3772080"/>
            <a:chExt cx="1314000" cy="556920"/>
          </a:xfrm>
        </p:grpSpPr>
        <p:sp>
          <p:nvSpPr>
            <p:cNvPr id="339" name="Freeform 110"/>
            <p:cNvSpPr/>
            <p:nvPr/>
          </p:nvSpPr>
          <p:spPr>
            <a:xfrm>
              <a:off x="8143920" y="3772080"/>
              <a:ext cx="1314000" cy="556920"/>
            </a:xfrm>
            <a:custGeom>
              <a:avLst/>
              <a:gdLst>
                <a:gd name="textAreaLeft" fmla="*/ 0 w 1314000"/>
                <a:gd name="textAreaRight" fmla="*/ 1314360 w 1314000"/>
                <a:gd name="textAreaTop" fmla="*/ 0 h 556920"/>
                <a:gd name="textAreaBottom" fmla="*/ 557280 h 556920"/>
              </a:gdLst>
              <a:ahLst/>
              <a:rect l="textAreaLeft" t="textAreaTop" r="textAreaRight" b="textAreaBottom"/>
              <a:pathLst>
                <a:path w="1752600" h="742950">
                  <a:moveTo>
                    <a:pt x="0" y="0"/>
                  </a:moveTo>
                  <a:lnTo>
                    <a:pt x="1752600" y="0"/>
                  </a:lnTo>
                  <a:lnTo>
                    <a:pt x="17526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" name="Group 111"/>
          <p:cNvGrpSpPr/>
          <p:nvPr/>
        </p:nvGrpSpPr>
        <p:grpSpPr>
          <a:xfrm>
            <a:off x="8372520" y="3920400"/>
            <a:ext cx="856800" cy="284400"/>
            <a:chOff x="8372520" y="3920400"/>
            <a:chExt cx="856800" cy="284400"/>
          </a:xfrm>
        </p:grpSpPr>
        <p:sp>
          <p:nvSpPr>
            <p:cNvPr id="341" name="Freeform 112"/>
            <p:cNvSpPr/>
            <p:nvPr/>
          </p:nvSpPr>
          <p:spPr>
            <a:xfrm>
              <a:off x="8372520" y="3934800"/>
              <a:ext cx="856800" cy="270000"/>
            </a:xfrm>
            <a:custGeom>
              <a:avLst/>
              <a:gdLst>
                <a:gd name="textAreaLeft" fmla="*/ 0 w 856800"/>
                <a:gd name="textAreaRight" fmla="*/ 857160 w 85680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1143000" h="360350">
                  <a:moveTo>
                    <a:pt x="0" y="0"/>
                  </a:moveTo>
                  <a:lnTo>
                    <a:pt x="1143000" y="0"/>
                  </a:lnTo>
                  <a:lnTo>
                    <a:pt x="11430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4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2" name="TextBox 113"/>
            <p:cNvSpPr/>
            <p:nvPr/>
          </p:nvSpPr>
          <p:spPr>
            <a:xfrm>
              <a:off x="8372520" y="3920400"/>
              <a:ext cx="85680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ffffff"/>
                  </a:solidFill>
                  <a:latin typeface="Arimo Bold"/>
                  <a:ea typeface="Arimo Bold"/>
                </a:rPr>
                <a:t>scrape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3" name="Group 114"/>
          <p:cNvGrpSpPr/>
          <p:nvPr/>
        </p:nvGrpSpPr>
        <p:grpSpPr>
          <a:xfrm>
            <a:off x="9572760" y="3772080"/>
            <a:ext cx="1314000" cy="556920"/>
            <a:chOff x="9572760" y="3772080"/>
            <a:chExt cx="1314000" cy="556920"/>
          </a:xfrm>
        </p:grpSpPr>
        <p:sp>
          <p:nvSpPr>
            <p:cNvPr id="344" name="Freeform 115"/>
            <p:cNvSpPr/>
            <p:nvPr/>
          </p:nvSpPr>
          <p:spPr>
            <a:xfrm>
              <a:off x="9572760" y="3772080"/>
              <a:ext cx="1314000" cy="556920"/>
            </a:xfrm>
            <a:custGeom>
              <a:avLst/>
              <a:gdLst>
                <a:gd name="textAreaLeft" fmla="*/ 0 w 1314000"/>
                <a:gd name="textAreaRight" fmla="*/ 1314360 w 1314000"/>
                <a:gd name="textAreaTop" fmla="*/ 0 h 556920"/>
                <a:gd name="textAreaBottom" fmla="*/ 557280 h 556920"/>
              </a:gdLst>
              <a:ahLst/>
              <a:rect l="textAreaLeft" t="textAreaTop" r="textAreaRight" b="textAreaBottom"/>
              <a:pathLst>
                <a:path w="1752600" h="742950">
                  <a:moveTo>
                    <a:pt x="0" y="0"/>
                  </a:moveTo>
                  <a:lnTo>
                    <a:pt x="1752600" y="0"/>
                  </a:lnTo>
                  <a:lnTo>
                    <a:pt x="17526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5" name="Group 116"/>
          <p:cNvGrpSpPr/>
          <p:nvPr/>
        </p:nvGrpSpPr>
        <p:grpSpPr>
          <a:xfrm>
            <a:off x="9801360" y="3920400"/>
            <a:ext cx="856800" cy="284400"/>
            <a:chOff x="9801360" y="3920400"/>
            <a:chExt cx="856800" cy="284400"/>
          </a:xfrm>
        </p:grpSpPr>
        <p:sp>
          <p:nvSpPr>
            <p:cNvPr id="346" name="Freeform 117"/>
            <p:cNvSpPr/>
            <p:nvPr/>
          </p:nvSpPr>
          <p:spPr>
            <a:xfrm>
              <a:off x="9801360" y="3934800"/>
              <a:ext cx="856800" cy="270000"/>
            </a:xfrm>
            <a:custGeom>
              <a:avLst/>
              <a:gdLst>
                <a:gd name="textAreaLeft" fmla="*/ 0 w 856800"/>
                <a:gd name="textAreaRight" fmla="*/ 857160 w 85680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1143000" h="360350">
                  <a:moveTo>
                    <a:pt x="0" y="0"/>
                  </a:moveTo>
                  <a:lnTo>
                    <a:pt x="1143000" y="0"/>
                  </a:lnTo>
                  <a:lnTo>
                    <a:pt x="11430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4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" name="TextBox 118"/>
            <p:cNvSpPr/>
            <p:nvPr/>
          </p:nvSpPr>
          <p:spPr>
            <a:xfrm>
              <a:off x="9801360" y="3920400"/>
              <a:ext cx="85680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ffffff"/>
                  </a:solidFill>
                  <a:latin typeface="Arimo Bold"/>
                  <a:ea typeface="Arimo Bold"/>
                </a:rPr>
                <a:t>geo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" name="Group 119"/>
          <p:cNvGrpSpPr/>
          <p:nvPr/>
        </p:nvGrpSpPr>
        <p:grpSpPr>
          <a:xfrm>
            <a:off x="11001240" y="3657600"/>
            <a:ext cx="1399680" cy="785520"/>
            <a:chOff x="11001240" y="3657600"/>
            <a:chExt cx="1399680" cy="785520"/>
          </a:xfrm>
        </p:grpSpPr>
        <p:sp>
          <p:nvSpPr>
            <p:cNvPr id="349" name="Freeform 120"/>
            <p:cNvSpPr/>
            <p:nvPr/>
          </p:nvSpPr>
          <p:spPr>
            <a:xfrm>
              <a:off x="11001240" y="3657600"/>
              <a:ext cx="1399680" cy="785520"/>
            </a:xfrm>
            <a:custGeom>
              <a:avLst/>
              <a:gdLst>
                <a:gd name="textAreaLeft" fmla="*/ 0 w 1399680"/>
                <a:gd name="textAreaRight" fmla="*/ 1400040 w 1399680"/>
                <a:gd name="textAreaTop" fmla="*/ 0 h 785520"/>
                <a:gd name="textAreaBottom" fmla="*/ 785880 h 785520"/>
              </a:gdLst>
              <a:ahLst/>
              <a:rect l="textAreaLeft" t="textAreaTop" r="textAreaRight" b="textAreaBottom"/>
              <a:pathLst>
                <a:path w="1866900" h="1047750">
                  <a:moveTo>
                    <a:pt x="0" y="0"/>
                  </a:moveTo>
                  <a:lnTo>
                    <a:pt x="1866900" y="0"/>
                  </a:lnTo>
                  <a:lnTo>
                    <a:pt x="1866900" y="1047750"/>
                  </a:lnTo>
                  <a:lnTo>
                    <a:pt x="0" y="1047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" name="Group 121"/>
          <p:cNvGrpSpPr/>
          <p:nvPr/>
        </p:nvGrpSpPr>
        <p:grpSpPr>
          <a:xfrm>
            <a:off x="11229840" y="3805920"/>
            <a:ext cx="936720" cy="484200"/>
            <a:chOff x="11229840" y="3805920"/>
            <a:chExt cx="936720" cy="484200"/>
          </a:xfrm>
        </p:grpSpPr>
        <p:sp>
          <p:nvSpPr>
            <p:cNvPr id="351" name="Freeform 122"/>
            <p:cNvSpPr/>
            <p:nvPr/>
          </p:nvSpPr>
          <p:spPr>
            <a:xfrm>
              <a:off x="11229840" y="3820320"/>
              <a:ext cx="936720" cy="469800"/>
            </a:xfrm>
            <a:custGeom>
              <a:avLst/>
              <a:gdLst>
                <a:gd name="textAreaLeft" fmla="*/ 0 w 936720"/>
                <a:gd name="textAreaRight" fmla="*/ 937080 w 936720"/>
                <a:gd name="textAreaTop" fmla="*/ 0 h 469800"/>
                <a:gd name="textAreaBottom" fmla="*/ 470160 h 469800"/>
              </a:gdLst>
              <a:ahLst/>
              <a:rect l="textAreaLeft" t="textAreaTop" r="textAreaRight" b="textAreaBottom"/>
              <a:pathLst>
                <a:path w="1249560" h="627050">
                  <a:moveTo>
                    <a:pt x="0" y="0"/>
                  </a:moveTo>
                  <a:lnTo>
                    <a:pt x="1249560" y="0"/>
                  </a:lnTo>
                  <a:lnTo>
                    <a:pt x="1249560" y="627050"/>
                  </a:lnTo>
                  <a:lnTo>
                    <a:pt x="0" y="627050"/>
                  </a:lnTo>
                  <a:close/>
                </a:path>
              </a:pathLst>
            </a:custGeom>
            <a:blipFill rotWithShape="0">
              <a:blip r:embed="rId4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2" name="TextBox 123"/>
            <p:cNvSpPr/>
            <p:nvPr/>
          </p:nvSpPr>
          <p:spPr>
            <a:xfrm>
              <a:off x="11229840" y="3805920"/>
              <a:ext cx="93672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ffffff"/>
                  </a:solidFill>
                  <a:latin typeface="Arimo Bold"/>
                  <a:ea typeface="Arimo Bold"/>
                </a:rPr>
                <a:t>dvc repro (01_EDA)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" name="Group 124"/>
          <p:cNvGrpSpPr/>
          <p:nvPr/>
        </p:nvGrpSpPr>
        <p:grpSpPr>
          <a:xfrm>
            <a:off x="12501720" y="3657600"/>
            <a:ext cx="1685520" cy="785520"/>
            <a:chOff x="12501720" y="3657600"/>
            <a:chExt cx="1685520" cy="785520"/>
          </a:xfrm>
        </p:grpSpPr>
        <p:sp>
          <p:nvSpPr>
            <p:cNvPr id="354" name="Freeform 125"/>
            <p:cNvSpPr/>
            <p:nvPr/>
          </p:nvSpPr>
          <p:spPr>
            <a:xfrm>
              <a:off x="12501720" y="3657600"/>
              <a:ext cx="1685520" cy="785520"/>
            </a:xfrm>
            <a:custGeom>
              <a:avLst/>
              <a:gdLst>
                <a:gd name="textAreaLeft" fmla="*/ 0 w 1685520"/>
                <a:gd name="textAreaRight" fmla="*/ 1685880 w 1685520"/>
                <a:gd name="textAreaTop" fmla="*/ 0 h 785520"/>
                <a:gd name="textAreaBottom" fmla="*/ 785880 h 785520"/>
              </a:gdLst>
              <a:ahLst/>
              <a:rect l="textAreaLeft" t="textAreaTop" r="textAreaRight" b="textAreaBottom"/>
              <a:pathLst>
                <a:path w="2247900" h="1047750">
                  <a:moveTo>
                    <a:pt x="0" y="0"/>
                  </a:moveTo>
                  <a:lnTo>
                    <a:pt x="2247900" y="0"/>
                  </a:lnTo>
                  <a:lnTo>
                    <a:pt x="2247900" y="1047750"/>
                  </a:lnTo>
                  <a:lnTo>
                    <a:pt x="0" y="1047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" name="Group 126"/>
          <p:cNvGrpSpPr/>
          <p:nvPr/>
        </p:nvGrpSpPr>
        <p:grpSpPr>
          <a:xfrm>
            <a:off x="12738600" y="3805920"/>
            <a:ext cx="1214640" cy="484200"/>
            <a:chOff x="12738600" y="3805920"/>
            <a:chExt cx="1214640" cy="484200"/>
          </a:xfrm>
        </p:grpSpPr>
        <p:sp>
          <p:nvSpPr>
            <p:cNvPr id="356" name="Freeform 127"/>
            <p:cNvSpPr/>
            <p:nvPr/>
          </p:nvSpPr>
          <p:spPr>
            <a:xfrm>
              <a:off x="12738600" y="3820320"/>
              <a:ext cx="1214640" cy="469800"/>
            </a:xfrm>
            <a:custGeom>
              <a:avLst/>
              <a:gdLst>
                <a:gd name="textAreaLeft" fmla="*/ 0 w 1214640"/>
                <a:gd name="textAreaRight" fmla="*/ 1215000 w 1214640"/>
                <a:gd name="textAreaTop" fmla="*/ 0 h 469800"/>
                <a:gd name="textAreaBottom" fmla="*/ 470160 h 469800"/>
              </a:gdLst>
              <a:ahLst/>
              <a:rect l="textAreaLeft" t="textAreaTop" r="textAreaRight" b="textAreaBottom"/>
              <a:pathLst>
                <a:path w="1620142" h="627050">
                  <a:moveTo>
                    <a:pt x="0" y="0"/>
                  </a:moveTo>
                  <a:lnTo>
                    <a:pt x="1620142" y="0"/>
                  </a:lnTo>
                  <a:lnTo>
                    <a:pt x="1620142" y="627050"/>
                  </a:lnTo>
                  <a:lnTo>
                    <a:pt x="0" y="627050"/>
                  </a:lnTo>
                  <a:close/>
                </a:path>
              </a:pathLst>
            </a:custGeom>
            <a:blipFill rotWithShape="0">
              <a:blip r:embed="rId4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" name="TextBox 128"/>
            <p:cNvSpPr/>
            <p:nvPr/>
          </p:nvSpPr>
          <p:spPr>
            <a:xfrm>
              <a:off x="12738600" y="3805920"/>
              <a:ext cx="121464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ffffff"/>
                  </a:solidFill>
                  <a:latin typeface="Arimo Bold"/>
                  <a:ea typeface="Arimo Bold"/>
                </a:rPr>
                <a:t>dvc repro (02_Modeling)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" name="Group 129"/>
          <p:cNvGrpSpPr/>
          <p:nvPr/>
        </p:nvGrpSpPr>
        <p:grpSpPr>
          <a:xfrm>
            <a:off x="14287680" y="3657600"/>
            <a:ext cx="1371240" cy="785520"/>
            <a:chOff x="14287680" y="3657600"/>
            <a:chExt cx="1371240" cy="785520"/>
          </a:xfrm>
        </p:grpSpPr>
        <p:sp>
          <p:nvSpPr>
            <p:cNvPr id="359" name="Freeform 130"/>
            <p:cNvSpPr/>
            <p:nvPr/>
          </p:nvSpPr>
          <p:spPr>
            <a:xfrm>
              <a:off x="14287680" y="3657600"/>
              <a:ext cx="1371240" cy="785520"/>
            </a:xfrm>
            <a:custGeom>
              <a:avLst/>
              <a:gdLst>
                <a:gd name="textAreaLeft" fmla="*/ 0 w 1371240"/>
                <a:gd name="textAreaRight" fmla="*/ 1371600 w 1371240"/>
                <a:gd name="textAreaTop" fmla="*/ 0 h 785520"/>
                <a:gd name="textAreaBottom" fmla="*/ 785880 h 785520"/>
              </a:gdLst>
              <a:ahLst/>
              <a:rect l="textAreaLeft" t="textAreaTop" r="textAreaRight" b="textAreaBottom"/>
              <a:pathLst>
                <a:path w="1828800" h="1047750">
                  <a:moveTo>
                    <a:pt x="0" y="0"/>
                  </a:moveTo>
                  <a:lnTo>
                    <a:pt x="1828800" y="0"/>
                  </a:lnTo>
                  <a:lnTo>
                    <a:pt x="1828800" y="1047750"/>
                  </a:lnTo>
                  <a:lnTo>
                    <a:pt x="0" y="1047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" name="Group 131"/>
          <p:cNvGrpSpPr/>
          <p:nvPr/>
        </p:nvGrpSpPr>
        <p:grpSpPr>
          <a:xfrm>
            <a:off x="14525280" y="3805920"/>
            <a:ext cx="905040" cy="484200"/>
            <a:chOff x="14525280" y="3805920"/>
            <a:chExt cx="905040" cy="484200"/>
          </a:xfrm>
        </p:grpSpPr>
        <p:sp>
          <p:nvSpPr>
            <p:cNvPr id="361" name="Freeform 132"/>
            <p:cNvSpPr/>
            <p:nvPr/>
          </p:nvSpPr>
          <p:spPr>
            <a:xfrm>
              <a:off x="14525280" y="3820320"/>
              <a:ext cx="905040" cy="469800"/>
            </a:xfrm>
            <a:custGeom>
              <a:avLst/>
              <a:gdLst>
                <a:gd name="textAreaLeft" fmla="*/ 0 w 905040"/>
                <a:gd name="textAreaRight" fmla="*/ 905400 w 905040"/>
                <a:gd name="textAreaTop" fmla="*/ 0 h 469800"/>
                <a:gd name="textAreaBottom" fmla="*/ 470160 h 469800"/>
              </a:gdLst>
              <a:ahLst/>
              <a:rect l="textAreaLeft" t="textAreaTop" r="textAreaRight" b="textAreaBottom"/>
              <a:pathLst>
                <a:path w="1206996" h="627050">
                  <a:moveTo>
                    <a:pt x="0" y="0"/>
                  </a:moveTo>
                  <a:lnTo>
                    <a:pt x="1206996" y="0"/>
                  </a:lnTo>
                  <a:lnTo>
                    <a:pt x="1206996" y="627050"/>
                  </a:lnTo>
                  <a:lnTo>
                    <a:pt x="0" y="627050"/>
                  </a:lnTo>
                  <a:close/>
                </a:path>
              </a:pathLst>
            </a:custGeom>
            <a:blipFill rotWithShape="0">
              <a:blip r:embed="rId49">
                <a:alphaModFix amt="0"/>
              </a:blip>
              <a:srcRect/>
              <a:stretch>
                <a:fillRect l="-36416" r="-36416" b="-29731"/>
              </a:stretch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" name="TextBox 133"/>
            <p:cNvSpPr/>
            <p:nvPr/>
          </p:nvSpPr>
          <p:spPr>
            <a:xfrm>
              <a:off x="14525280" y="3805920"/>
              <a:ext cx="90504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ffffff"/>
                  </a:solidFill>
                  <a:latin typeface="Arimo Bold"/>
                  <a:ea typeface="Arimo Bold"/>
                </a:rPr>
                <a:t>registry promotion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" name="Group 134"/>
          <p:cNvGrpSpPr/>
          <p:nvPr/>
        </p:nvGrpSpPr>
        <p:grpSpPr>
          <a:xfrm>
            <a:off x="15773400" y="3772080"/>
            <a:ext cx="1314000" cy="556920"/>
            <a:chOff x="15773400" y="3772080"/>
            <a:chExt cx="1314000" cy="556920"/>
          </a:xfrm>
        </p:grpSpPr>
        <p:sp>
          <p:nvSpPr>
            <p:cNvPr id="364" name="Freeform 135"/>
            <p:cNvSpPr/>
            <p:nvPr/>
          </p:nvSpPr>
          <p:spPr>
            <a:xfrm>
              <a:off x="15773400" y="3772080"/>
              <a:ext cx="1314000" cy="556920"/>
            </a:xfrm>
            <a:custGeom>
              <a:avLst/>
              <a:gdLst>
                <a:gd name="textAreaLeft" fmla="*/ 0 w 1314000"/>
                <a:gd name="textAreaRight" fmla="*/ 1314360 w 1314000"/>
                <a:gd name="textAreaTop" fmla="*/ 0 h 556920"/>
                <a:gd name="textAreaBottom" fmla="*/ 557280 h 556920"/>
              </a:gdLst>
              <a:ahLst/>
              <a:rect l="textAreaLeft" t="textAreaTop" r="textAreaRight" b="textAreaBottom"/>
              <a:pathLst>
                <a:path w="1752600" h="742950">
                  <a:moveTo>
                    <a:pt x="0" y="0"/>
                  </a:moveTo>
                  <a:lnTo>
                    <a:pt x="1752600" y="0"/>
                  </a:lnTo>
                  <a:lnTo>
                    <a:pt x="17526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" name="Group 136"/>
          <p:cNvGrpSpPr/>
          <p:nvPr/>
        </p:nvGrpSpPr>
        <p:grpSpPr>
          <a:xfrm>
            <a:off x="16002000" y="3920400"/>
            <a:ext cx="856800" cy="284400"/>
            <a:chOff x="16002000" y="3920400"/>
            <a:chExt cx="856800" cy="284400"/>
          </a:xfrm>
        </p:grpSpPr>
        <p:sp>
          <p:nvSpPr>
            <p:cNvPr id="366" name="Freeform 137"/>
            <p:cNvSpPr/>
            <p:nvPr/>
          </p:nvSpPr>
          <p:spPr>
            <a:xfrm>
              <a:off x="16002000" y="3934800"/>
              <a:ext cx="856800" cy="270000"/>
            </a:xfrm>
            <a:custGeom>
              <a:avLst/>
              <a:gdLst>
                <a:gd name="textAreaLeft" fmla="*/ 0 w 856800"/>
                <a:gd name="textAreaRight" fmla="*/ 857160 w 85680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1143000" h="360350">
                  <a:moveTo>
                    <a:pt x="0" y="0"/>
                  </a:moveTo>
                  <a:lnTo>
                    <a:pt x="1143000" y="0"/>
                  </a:lnTo>
                  <a:lnTo>
                    <a:pt x="11430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5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" name="TextBox 138"/>
            <p:cNvSpPr/>
            <p:nvPr/>
          </p:nvSpPr>
          <p:spPr>
            <a:xfrm>
              <a:off x="16002000" y="3920400"/>
              <a:ext cx="85680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ffffff"/>
                  </a:solidFill>
                  <a:latin typeface="Arimo Bold"/>
                  <a:ea typeface="Arimo Bold"/>
                </a:rPr>
                <a:t>dvc push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roup 2"/>
          <p:cNvGrpSpPr/>
          <p:nvPr/>
        </p:nvGrpSpPr>
        <p:grpSpPr>
          <a:xfrm>
            <a:off x="0" y="153360"/>
            <a:ext cx="18287640" cy="10286640"/>
            <a:chOff x="0" y="153360"/>
            <a:chExt cx="18287640" cy="10286640"/>
          </a:xfrm>
        </p:grpSpPr>
        <p:sp>
          <p:nvSpPr>
            <p:cNvPr id="369" name="Freeform 3"/>
            <p:cNvSpPr/>
            <p:nvPr/>
          </p:nvSpPr>
          <p:spPr>
            <a:xfrm>
              <a:off x="0" y="15336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0" name="Group 6"/>
          <p:cNvGrpSpPr/>
          <p:nvPr/>
        </p:nvGrpSpPr>
        <p:grpSpPr>
          <a:xfrm>
            <a:off x="843120" y="3381480"/>
            <a:ext cx="6600600" cy="3471480"/>
            <a:chOff x="843120" y="3381480"/>
            <a:chExt cx="6600600" cy="3471480"/>
          </a:xfrm>
        </p:grpSpPr>
        <p:sp>
          <p:nvSpPr>
            <p:cNvPr id="371" name="Freeform 7"/>
            <p:cNvSpPr/>
            <p:nvPr/>
          </p:nvSpPr>
          <p:spPr>
            <a:xfrm>
              <a:off x="843120" y="3381480"/>
              <a:ext cx="6600600" cy="3471480"/>
            </a:xfrm>
            <a:custGeom>
              <a:avLst/>
              <a:gdLst>
                <a:gd name="textAreaLeft" fmla="*/ 0 w 6600600"/>
                <a:gd name="textAreaRight" fmla="*/ 6600960 w 6600600"/>
                <a:gd name="textAreaTop" fmla="*/ 0 h 3471480"/>
                <a:gd name="textAreaBottom" fmla="*/ 3471840 h 3471480"/>
              </a:gdLst>
              <a:ahLst/>
              <a:rect l="textAreaLeft" t="textAreaTop" r="textAreaRight" b="textAreaBottom"/>
              <a:pathLst>
                <a:path w="8801100" h="4629150">
                  <a:moveTo>
                    <a:pt x="0" y="0"/>
                  </a:moveTo>
                  <a:lnTo>
                    <a:pt x="8801100" y="0"/>
                  </a:lnTo>
                  <a:lnTo>
                    <a:pt x="8801100" y="4629150"/>
                  </a:lnTo>
                  <a:lnTo>
                    <a:pt x="0" y="4629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2" name="Group 8"/>
          <p:cNvGrpSpPr/>
          <p:nvPr/>
        </p:nvGrpSpPr>
        <p:grpSpPr>
          <a:xfrm>
            <a:off x="779400" y="6745680"/>
            <a:ext cx="6600600" cy="2614320"/>
            <a:chOff x="779400" y="6745680"/>
            <a:chExt cx="6600600" cy="2614320"/>
          </a:xfrm>
        </p:grpSpPr>
        <p:sp>
          <p:nvSpPr>
            <p:cNvPr id="373" name="Freeform 9"/>
            <p:cNvSpPr/>
            <p:nvPr/>
          </p:nvSpPr>
          <p:spPr>
            <a:xfrm>
              <a:off x="779400" y="6745680"/>
              <a:ext cx="6600600" cy="2614320"/>
            </a:xfrm>
            <a:custGeom>
              <a:avLst/>
              <a:gdLst>
                <a:gd name="textAreaLeft" fmla="*/ 0 w 6600600"/>
                <a:gd name="textAreaRight" fmla="*/ 6600960 w 6600600"/>
                <a:gd name="textAreaTop" fmla="*/ 0 h 2614320"/>
                <a:gd name="textAreaBottom" fmla="*/ 2614680 h 2614320"/>
              </a:gdLst>
              <a:ahLst/>
              <a:rect l="textAreaLeft" t="textAreaTop" r="textAreaRight" b="textAreaBottom"/>
              <a:pathLst>
                <a:path w="8801100" h="3486150">
                  <a:moveTo>
                    <a:pt x="0" y="0"/>
                  </a:moveTo>
                  <a:lnTo>
                    <a:pt x="8801100" y="0"/>
                  </a:lnTo>
                  <a:lnTo>
                    <a:pt x="8801100" y="3486150"/>
                  </a:lnTo>
                  <a:lnTo>
                    <a:pt x="0" y="3486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" name="Group 10"/>
          <p:cNvGrpSpPr/>
          <p:nvPr/>
        </p:nvGrpSpPr>
        <p:grpSpPr>
          <a:xfrm>
            <a:off x="1224000" y="7772040"/>
            <a:ext cx="5628960" cy="1299960"/>
            <a:chOff x="1224000" y="7772040"/>
            <a:chExt cx="5628960" cy="1299960"/>
          </a:xfrm>
        </p:grpSpPr>
        <p:sp>
          <p:nvSpPr>
            <p:cNvPr id="375" name="Freeform 11"/>
            <p:cNvSpPr/>
            <p:nvPr/>
          </p:nvSpPr>
          <p:spPr>
            <a:xfrm>
              <a:off x="1224000" y="7772040"/>
              <a:ext cx="5628960" cy="1299960"/>
            </a:xfrm>
            <a:custGeom>
              <a:avLst/>
              <a:gdLst>
                <a:gd name="textAreaLeft" fmla="*/ 0 w 5628960"/>
                <a:gd name="textAreaRight" fmla="*/ 5629320 w 5628960"/>
                <a:gd name="textAreaTop" fmla="*/ 0 h 1299960"/>
                <a:gd name="textAreaBottom" fmla="*/ 1300320 h 1299960"/>
              </a:gdLst>
              <a:ahLst/>
              <a:rect l="textAreaLeft" t="textAreaTop" r="textAreaRight" b="textAreaBottom"/>
              <a:pathLst>
                <a:path w="7505700" h="1733550">
                  <a:moveTo>
                    <a:pt x="0" y="0"/>
                  </a:moveTo>
                  <a:lnTo>
                    <a:pt x="7505700" y="0"/>
                  </a:lnTo>
                  <a:lnTo>
                    <a:pt x="7505700" y="1733550"/>
                  </a:lnTo>
                  <a:lnTo>
                    <a:pt x="0" y="1733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" name="Group 12"/>
          <p:cNvGrpSpPr/>
          <p:nvPr/>
        </p:nvGrpSpPr>
        <p:grpSpPr>
          <a:xfrm>
            <a:off x="1143000" y="857160"/>
            <a:ext cx="16001640" cy="1005480"/>
            <a:chOff x="1143000" y="857160"/>
            <a:chExt cx="16001640" cy="1005480"/>
          </a:xfrm>
        </p:grpSpPr>
        <p:sp>
          <p:nvSpPr>
            <p:cNvPr id="377" name="Freeform 13"/>
            <p:cNvSpPr/>
            <p:nvPr/>
          </p:nvSpPr>
          <p:spPr>
            <a:xfrm>
              <a:off x="1143000" y="857160"/>
              <a:ext cx="16001640" cy="1005480"/>
            </a:xfrm>
            <a:custGeom>
              <a:avLst/>
              <a:gdLst>
                <a:gd name="textAreaLeft" fmla="*/ 0 w 16001640"/>
                <a:gd name="textAreaRight" fmla="*/ 16002000 w 16001640"/>
                <a:gd name="textAreaTop" fmla="*/ 0 h 1005480"/>
                <a:gd name="textAreaBottom" fmla="*/ 1005840 h 1005480"/>
              </a:gdLst>
              <a:ahLst/>
              <a:rect l="textAreaLeft" t="textAreaTop" r="textAreaRight" b="textAreaBottom"/>
              <a:pathLst>
                <a:path w="21336000" h="1340942">
                  <a:moveTo>
                    <a:pt x="0" y="0"/>
                  </a:moveTo>
                  <a:lnTo>
                    <a:pt x="21336000" y="0"/>
                  </a:lnTo>
                  <a:lnTo>
                    <a:pt x="21336000" y="1340942"/>
                  </a:lnTo>
                  <a:lnTo>
                    <a:pt x="0" y="1340942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" name="TextBox 14"/>
            <p:cNvSpPr/>
            <p:nvPr/>
          </p:nvSpPr>
          <p:spPr>
            <a:xfrm>
              <a:off x="1143000" y="857160"/>
              <a:ext cx="16001640" cy="100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8101"/>
                </a:lnSpc>
              </a:pPr>
              <a:r>
                <a:rPr b="1" lang="en-US" sz="67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Notebook 01 EDA Overview</a:t>
              </a:r>
              <a:endParaRPr b="0" lang="fr-FR" sz="67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" name="Group 15"/>
          <p:cNvGrpSpPr/>
          <p:nvPr/>
        </p:nvGrpSpPr>
        <p:grpSpPr>
          <a:xfrm>
            <a:off x="1143000" y="2134440"/>
            <a:ext cx="16001640" cy="374400"/>
            <a:chOff x="1143000" y="2134440"/>
            <a:chExt cx="16001640" cy="374400"/>
          </a:xfrm>
        </p:grpSpPr>
        <p:sp>
          <p:nvSpPr>
            <p:cNvPr id="380" name="Freeform 16"/>
            <p:cNvSpPr/>
            <p:nvPr/>
          </p:nvSpPr>
          <p:spPr>
            <a:xfrm>
              <a:off x="1143000" y="2148840"/>
              <a:ext cx="16001640" cy="360000"/>
            </a:xfrm>
            <a:custGeom>
              <a:avLst/>
              <a:gdLst>
                <a:gd name="textAreaLeft" fmla="*/ 0 w 16001640"/>
                <a:gd name="textAreaRight" fmla="*/ 16002000 w 16001640"/>
                <a:gd name="textAreaTop" fmla="*/ 0 h 360000"/>
                <a:gd name="textAreaBottom" fmla="*/ 360360 h 360000"/>
              </a:gdLst>
              <a:ahLst/>
              <a:rect l="textAreaLeft" t="textAreaTop" r="textAreaRight" b="textAreaBottom"/>
              <a:pathLst>
                <a:path w="21336000" h="480467">
                  <a:moveTo>
                    <a:pt x="0" y="0"/>
                  </a:moveTo>
                  <a:lnTo>
                    <a:pt x="21336000" y="0"/>
                  </a:lnTo>
                  <a:lnTo>
                    <a:pt x="21336000" y="480467"/>
                  </a:lnTo>
                  <a:lnTo>
                    <a:pt x="0" y="480467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1" name="TextBox 17"/>
            <p:cNvSpPr/>
            <p:nvPr/>
          </p:nvSpPr>
          <p:spPr>
            <a:xfrm>
              <a:off x="1143000" y="2134440"/>
              <a:ext cx="16001640" cy="37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287aa"/>
                  </a:solidFill>
                  <a:latin typeface="Arimo Bold"/>
                  <a:ea typeface="Arimo Bold"/>
                </a:rPr>
                <a:t>Transform raw scraped listings into clean, encoded, scaled train/test artifacts.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" name="Group 18"/>
          <p:cNvGrpSpPr/>
          <p:nvPr/>
        </p:nvGrpSpPr>
        <p:grpSpPr>
          <a:xfrm>
            <a:off x="1628640" y="3931920"/>
            <a:ext cx="1942920" cy="284400"/>
            <a:chOff x="1628640" y="3931920"/>
            <a:chExt cx="1942920" cy="284400"/>
          </a:xfrm>
        </p:grpSpPr>
        <p:sp>
          <p:nvSpPr>
            <p:cNvPr id="383" name="Freeform 19"/>
            <p:cNvSpPr/>
            <p:nvPr/>
          </p:nvSpPr>
          <p:spPr>
            <a:xfrm>
              <a:off x="1628640" y="3946320"/>
              <a:ext cx="1942920" cy="270000"/>
            </a:xfrm>
            <a:custGeom>
              <a:avLst/>
              <a:gdLst>
                <a:gd name="textAreaLeft" fmla="*/ 0 w 1942920"/>
                <a:gd name="textAreaRight" fmla="*/ 1943280 w 194292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2590800" h="360350">
                  <a:moveTo>
                    <a:pt x="0" y="0"/>
                  </a:moveTo>
                  <a:lnTo>
                    <a:pt x="2590800" y="0"/>
                  </a:lnTo>
                  <a:lnTo>
                    <a:pt x="25908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" name="TextBox 20"/>
            <p:cNvSpPr/>
            <p:nvPr/>
          </p:nvSpPr>
          <p:spPr>
            <a:xfrm>
              <a:off x="1628640" y="3931920"/>
              <a:ext cx="194292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5a717e"/>
                  </a:solidFill>
                  <a:latin typeface="Arimo Bold"/>
                  <a:ea typeface="Arimo Bold"/>
                </a:rPr>
                <a:t>Key EDA Themes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" name="Group 21"/>
          <p:cNvGrpSpPr/>
          <p:nvPr/>
        </p:nvGrpSpPr>
        <p:grpSpPr>
          <a:xfrm>
            <a:off x="1328760" y="3940560"/>
            <a:ext cx="199800" cy="242640"/>
            <a:chOff x="1328760" y="3940560"/>
            <a:chExt cx="199800" cy="242640"/>
          </a:xfrm>
        </p:grpSpPr>
        <p:sp>
          <p:nvSpPr>
            <p:cNvPr id="386" name="Freeform 22"/>
            <p:cNvSpPr/>
            <p:nvPr/>
          </p:nvSpPr>
          <p:spPr>
            <a:xfrm>
              <a:off x="1328760" y="3940560"/>
              <a:ext cx="199800" cy="2426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266700" h="323850">
                  <a:moveTo>
                    <a:pt x="0" y="0"/>
                  </a:moveTo>
                  <a:lnTo>
                    <a:pt x="266700" y="0"/>
                  </a:lnTo>
                  <a:lnTo>
                    <a:pt x="26670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" name="Group 23"/>
          <p:cNvGrpSpPr/>
          <p:nvPr/>
        </p:nvGrpSpPr>
        <p:grpSpPr>
          <a:xfrm>
            <a:off x="1657440" y="4309560"/>
            <a:ext cx="4771800" cy="320760"/>
            <a:chOff x="1657440" y="4309560"/>
            <a:chExt cx="4771800" cy="320760"/>
          </a:xfrm>
        </p:grpSpPr>
        <p:sp>
          <p:nvSpPr>
            <p:cNvPr id="388" name="Freeform 24"/>
            <p:cNvSpPr/>
            <p:nvPr/>
          </p:nvSpPr>
          <p:spPr>
            <a:xfrm>
              <a:off x="1657440" y="4323960"/>
              <a:ext cx="4771800" cy="306360"/>
            </a:xfrm>
            <a:custGeom>
              <a:avLst/>
              <a:gdLst>
                <a:gd name="textAreaLeft" fmla="*/ 0 w 4771800"/>
                <a:gd name="textAreaRight" fmla="*/ 4772160 w 4771800"/>
                <a:gd name="textAreaTop" fmla="*/ 0 h 306360"/>
                <a:gd name="textAreaBottom" fmla="*/ 306720 h 306360"/>
              </a:gdLst>
              <a:ahLst/>
              <a:rect l="textAreaLeft" t="textAreaTop" r="textAreaRight" b="textAreaBottom"/>
              <a:pathLst>
                <a:path w="6362700" h="408856">
                  <a:moveTo>
                    <a:pt x="0" y="0"/>
                  </a:moveTo>
                  <a:lnTo>
                    <a:pt x="6362700" y="0"/>
                  </a:lnTo>
                  <a:lnTo>
                    <a:pt x="6362700" y="408856"/>
                  </a:lnTo>
                  <a:lnTo>
                    <a:pt x="0" y="408856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" name="TextBox 25"/>
            <p:cNvSpPr/>
            <p:nvPr/>
          </p:nvSpPr>
          <p:spPr>
            <a:xfrm>
              <a:off x="1657440" y="4309560"/>
              <a:ext cx="4771800" cy="32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0" lang="en-US" sz="1500" spc="-1" strike="noStrike">
                  <a:solidFill>
                    <a:srgbClr val="3f5968"/>
                  </a:solidFill>
                  <a:latin typeface="arial"/>
                  <a:ea typeface="arial"/>
                </a:rPr>
                <a:t>Missingness decisions (drop vs impute vs flag)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" name="Group 26"/>
          <p:cNvGrpSpPr/>
          <p:nvPr/>
        </p:nvGrpSpPr>
        <p:grpSpPr>
          <a:xfrm>
            <a:off x="1328760" y="4368600"/>
            <a:ext cx="199800" cy="213840"/>
            <a:chOff x="1328760" y="4368600"/>
            <a:chExt cx="199800" cy="213840"/>
          </a:xfrm>
        </p:grpSpPr>
        <p:sp>
          <p:nvSpPr>
            <p:cNvPr id="391" name="Freeform 27"/>
            <p:cNvSpPr/>
            <p:nvPr/>
          </p:nvSpPr>
          <p:spPr>
            <a:xfrm>
              <a:off x="1328760" y="4368600"/>
              <a:ext cx="199800" cy="2138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66700" h="28575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" name="Group 28"/>
          <p:cNvGrpSpPr/>
          <p:nvPr/>
        </p:nvGrpSpPr>
        <p:grpSpPr>
          <a:xfrm>
            <a:off x="1657440" y="4723560"/>
            <a:ext cx="4100040" cy="320760"/>
            <a:chOff x="1657440" y="4723560"/>
            <a:chExt cx="4100040" cy="320760"/>
          </a:xfrm>
        </p:grpSpPr>
        <p:sp>
          <p:nvSpPr>
            <p:cNvPr id="393" name="Freeform 29"/>
            <p:cNvSpPr/>
            <p:nvPr/>
          </p:nvSpPr>
          <p:spPr>
            <a:xfrm>
              <a:off x="1657440" y="4737960"/>
              <a:ext cx="4100040" cy="306360"/>
            </a:xfrm>
            <a:custGeom>
              <a:avLst/>
              <a:gdLst>
                <a:gd name="textAreaLeft" fmla="*/ 0 w 4100040"/>
                <a:gd name="textAreaRight" fmla="*/ 4100400 w 4100040"/>
                <a:gd name="textAreaTop" fmla="*/ 0 h 306360"/>
                <a:gd name="textAreaBottom" fmla="*/ 306720 h 306360"/>
              </a:gdLst>
              <a:ahLst/>
              <a:rect l="textAreaLeft" t="textAreaTop" r="textAreaRight" b="textAreaBottom"/>
              <a:pathLst>
                <a:path w="5467350" h="408856">
                  <a:moveTo>
                    <a:pt x="0" y="0"/>
                  </a:moveTo>
                  <a:lnTo>
                    <a:pt x="5467350" y="0"/>
                  </a:lnTo>
                  <a:lnTo>
                    <a:pt x="5467350" y="408856"/>
                  </a:lnTo>
                  <a:lnTo>
                    <a:pt x="0" y="408856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4" name="TextBox 30"/>
            <p:cNvSpPr/>
            <p:nvPr/>
          </p:nvSpPr>
          <p:spPr>
            <a:xfrm>
              <a:off x="1657440" y="4723560"/>
              <a:ext cx="4100040" cy="32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0" lang="en-US" sz="1500" spc="-1" strike="noStrike">
                  <a:solidFill>
                    <a:srgbClr val="3f5968"/>
                  </a:solidFill>
                  <a:latin typeface="arial"/>
                  <a:ea typeface="arial"/>
                </a:rPr>
                <a:t>Target distribution repair (log transform)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5" name="Group 31"/>
          <p:cNvGrpSpPr/>
          <p:nvPr/>
        </p:nvGrpSpPr>
        <p:grpSpPr>
          <a:xfrm>
            <a:off x="1328760" y="4782600"/>
            <a:ext cx="199800" cy="213840"/>
            <a:chOff x="1328760" y="4782600"/>
            <a:chExt cx="199800" cy="213840"/>
          </a:xfrm>
        </p:grpSpPr>
        <p:sp>
          <p:nvSpPr>
            <p:cNvPr id="396" name="Freeform 32"/>
            <p:cNvSpPr/>
            <p:nvPr/>
          </p:nvSpPr>
          <p:spPr>
            <a:xfrm>
              <a:off x="1328760" y="4782600"/>
              <a:ext cx="199800" cy="2138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66700" h="28575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7" name="Group 33"/>
          <p:cNvGrpSpPr/>
          <p:nvPr/>
        </p:nvGrpSpPr>
        <p:grpSpPr>
          <a:xfrm>
            <a:off x="1657440" y="5129280"/>
            <a:ext cx="2723760" cy="328680"/>
            <a:chOff x="1657440" y="5129280"/>
            <a:chExt cx="2723760" cy="328680"/>
          </a:xfrm>
        </p:grpSpPr>
        <p:sp>
          <p:nvSpPr>
            <p:cNvPr id="398" name="Freeform 34"/>
            <p:cNvSpPr/>
            <p:nvPr/>
          </p:nvSpPr>
          <p:spPr>
            <a:xfrm>
              <a:off x="1657440" y="5144040"/>
              <a:ext cx="2723760" cy="313920"/>
            </a:xfrm>
            <a:custGeom>
              <a:avLst/>
              <a:gdLst>
                <a:gd name="textAreaLeft" fmla="*/ 0 w 2723760"/>
                <a:gd name="textAreaRight" fmla="*/ 2724120 w 272376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3543300" h="408856">
                  <a:moveTo>
                    <a:pt x="0" y="0"/>
                  </a:moveTo>
                  <a:lnTo>
                    <a:pt x="3543300" y="0"/>
                  </a:lnTo>
                  <a:lnTo>
                    <a:pt x="3543300" y="408856"/>
                  </a:lnTo>
                  <a:lnTo>
                    <a:pt x="0" y="408856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9" name="TextBox 35"/>
            <p:cNvSpPr/>
            <p:nvPr/>
          </p:nvSpPr>
          <p:spPr>
            <a:xfrm>
              <a:off x="1657440" y="5129280"/>
              <a:ext cx="2723760" cy="32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0" lang="en-US" sz="1500" spc="-1" strike="noStrike">
                  <a:solidFill>
                    <a:srgbClr val="3f5968"/>
                  </a:solidFill>
                  <a:latin typeface="arial"/>
                  <a:ea typeface="arial"/>
                </a:rPr>
                <a:t>Outlier + leakage handling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0" name="Group 36"/>
          <p:cNvGrpSpPr/>
          <p:nvPr/>
        </p:nvGrpSpPr>
        <p:grpSpPr>
          <a:xfrm>
            <a:off x="1328760" y="5160240"/>
            <a:ext cx="199800" cy="213840"/>
            <a:chOff x="1328760" y="5160240"/>
            <a:chExt cx="199800" cy="213840"/>
          </a:xfrm>
        </p:grpSpPr>
        <p:sp>
          <p:nvSpPr>
            <p:cNvPr id="401" name="Freeform 37"/>
            <p:cNvSpPr/>
            <p:nvPr/>
          </p:nvSpPr>
          <p:spPr>
            <a:xfrm>
              <a:off x="1328760" y="5160240"/>
              <a:ext cx="199800" cy="2138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66700" h="28575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2" name="Group 38"/>
          <p:cNvGrpSpPr/>
          <p:nvPr/>
        </p:nvGrpSpPr>
        <p:grpSpPr>
          <a:xfrm>
            <a:off x="1657440" y="5551200"/>
            <a:ext cx="2928600" cy="320400"/>
            <a:chOff x="1657440" y="5551200"/>
            <a:chExt cx="2928600" cy="320400"/>
          </a:xfrm>
        </p:grpSpPr>
        <p:sp>
          <p:nvSpPr>
            <p:cNvPr id="403" name="Freeform 39"/>
            <p:cNvSpPr/>
            <p:nvPr/>
          </p:nvSpPr>
          <p:spPr>
            <a:xfrm>
              <a:off x="1657440" y="5565240"/>
              <a:ext cx="2928600" cy="306360"/>
            </a:xfrm>
            <a:custGeom>
              <a:avLst/>
              <a:gdLst>
                <a:gd name="textAreaLeft" fmla="*/ 0 w 2928600"/>
                <a:gd name="textAreaRight" fmla="*/ 2928960 w 2928600"/>
                <a:gd name="textAreaTop" fmla="*/ 0 h 306360"/>
                <a:gd name="textAreaBottom" fmla="*/ 306720 h 306360"/>
              </a:gdLst>
              <a:ahLst/>
              <a:rect l="textAreaLeft" t="textAreaTop" r="textAreaRight" b="textAreaBottom"/>
              <a:pathLst>
                <a:path w="3905250" h="408856">
                  <a:moveTo>
                    <a:pt x="0" y="0"/>
                  </a:moveTo>
                  <a:lnTo>
                    <a:pt x="3905250" y="0"/>
                  </a:lnTo>
                  <a:lnTo>
                    <a:pt x="3905250" y="408856"/>
                  </a:lnTo>
                  <a:lnTo>
                    <a:pt x="0" y="408856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4" name="TextBox 40"/>
            <p:cNvSpPr/>
            <p:nvPr/>
          </p:nvSpPr>
          <p:spPr>
            <a:xfrm>
              <a:off x="1657440" y="5551200"/>
              <a:ext cx="2928600" cy="32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0" lang="en-US" sz="1500" spc="-1" strike="noStrike">
                  <a:solidFill>
                    <a:srgbClr val="3f5968"/>
                  </a:solidFill>
                  <a:latin typeface="arial"/>
                  <a:ea typeface="arial"/>
                </a:rPr>
                <a:t>Geographic signal extraction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5" name="Group 41"/>
          <p:cNvGrpSpPr/>
          <p:nvPr/>
        </p:nvGrpSpPr>
        <p:grpSpPr>
          <a:xfrm>
            <a:off x="1328760" y="5609880"/>
            <a:ext cx="199800" cy="213840"/>
            <a:chOff x="1328760" y="5609880"/>
            <a:chExt cx="199800" cy="213840"/>
          </a:xfrm>
        </p:grpSpPr>
        <p:sp>
          <p:nvSpPr>
            <p:cNvPr id="406" name="Freeform 42"/>
            <p:cNvSpPr/>
            <p:nvPr/>
          </p:nvSpPr>
          <p:spPr>
            <a:xfrm>
              <a:off x="1328760" y="5609880"/>
              <a:ext cx="199800" cy="2138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66700" h="28575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7" name="Group 43"/>
          <p:cNvGrpSpPr/>
          <p:nvPr/>
        </p:nvGrpSpPr>
        <p:grpSpPr>
          <a:xfrm>
            <a:off x="1808280" y="7335720"/>
            <a:ext cx="2014200" cy="284400"/>
            <a:chOff x="1808280" y="7335720"/>
            <a:chExt cx="2014200" cy="284400"/>
          </a:xfrm>
        </p:grpSpPr>
        <p:sp>
          <p:nvSpPr>
            <p:cNvPr id="408" name="Freeform 44"/>
            <p:cNvSpPr/>
            <p:nvPr/>
          </p:nvSpPr>
          <p:spPr>
            <a:xfrm>
              <a:off x="1808280" y="7350120"/>
              <a:ext cx="2014200" cy="270000"/>
            </a:xfrm>
            <a:custGeom>
              <a:avLst/>
              <a:gdLst>
                <a:gd name="textAreaLeft" fmla="*/ 0 w 2014200"/>
                <a:gd name="textAreaRight" fmla="*/ 2014560 w 201420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2686050" h="360350">
                  <a:moveTo>
                    <a:pt x="0" y="0"/>
                  </a:moveTo>
                  <a:lnTo>
                    <a:pt x="2686050" y="0"/>
                  </a:lnTo>
                  <a:lnTo>
                    <a:pt x="268605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9" name="TextBox 45"/>
            <p:cNvSpPr/>
            <p:nvPr/>
          </p:nvSpPr>
          <p:spPr>
            <a:xfrm>
              <a:off x="1808280" y="7335720"/>
              <a:ext cx="201420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5a717e"/>
                  </a:solidFill>
                  <a:latin typeface="Arimo Bold"/>
                  <a:ea typeface="Arimo Bold"/>
                </a:rPr>
                <a:t>Saved Artifacts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0" name="Group 46"/>
          <p:cNvGrpSpPr/>
          <p:nvPr/>
        </p:nvGrpSpPr>
        <p:grpSpPr>
          <a:xfrm>
            <a:off x="1400760" y="7380360"/>
            <a:ext cx="271080" cy="242640"/>
            <a:chOff x="1400760" y="7380360"/>
            <a:chExt cx="271080" cy="242640"/>
          </a:xfrm>
        </p:grpSpPr>
        <p:sp>
          <p:nvSpPr>
            <p:cNvPr id="411" name="Freeform 47"/>
            <p:cNvSpPr/>
            <p:nvPr/>
          </p:nvSpPr>
          <p:spPr>
            <a:xfrm>
              <a:off x="1400760" y="7380360"/>
              <a:ext cx="271080" cy="242640"/>
            </a:xfrm>
            <a:custGeom>
              <a:avLst/>
              <a:gdLst>
                <a:gd name="textAreaLeft" fmla="*/ 0 w 271080"/>
                <a:gd name="textAreaRight" fmla="*/ 271440 w 27108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361950" h="323850">
                  <a:moveTo>
                    <a:pt x="0" y="0"/>
                  </a:moveTo>
                  <a:lnTo>
                    <a:pt x="361950" y="0"/>
                  </a:lnTo>
                  <a:lnTo>
                    <a:pt x="3619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2" name="Group 50"/>
          <p:cNvGrpSpPr/>
          <p:nvPr/>
        </p:nvGrpSpPr>
        <p:grpSpPr>
          <a:xfrm>
            <a:off x="1850040" y="7919640"/>
            <a:ext cx="1474200" cy="433800"/>
            <a:chOff x="1850040" y="7919640"/>
            <a:chExt cx="1474200" cy="433800"/>
          </a:xfrm>
        </p:grpSpPr>
        <p:sp>
          <p:nvSpPr>
            <p:cNvPr id="413" name="Freeform 51"/>
            <p:cNvSpPr/>
            <p:nvPr/>
          </p:nvSpPr>
          <p:spPr>
            <a:xfrm>
              <a:off x="1850040" y="7929360"/>
              <a:ext cx="1474200" cy="424080"/>
            </a:xfrm>
            <a:custGeom>
              <a:avLst/>
              <a:gdLst>
                <a:gd name="textAreaLeft" fmla="*/ 0 w 1474200"/>
                <a:gd name="textAreaRight" fmla="*/ 1474560 w 1474200"/>
                <a:gd name="textAreaTop" fmla="*/ 0 h 424080"/>
                <a:gd name="textAreaBottom" fmla="*/ 424440 h 424080"/>
              </a:gdLst>
              <a:ahLst/>
              <a:rect l="textAreaLeft" t="textAreaTop" r="textAreaRight" b="textAreaBottom"/>
              <a:pathLst>
                <a:path w="2871192" h="826592">
                  <a:moveTo>
                    <a:pt x="0" y="0"/>
                  </a:moveTo>
                  <a:lnTo>
                    <a:pt x="2871192" y="0"/>
                  </a:lnTo>
                  <a:lnTo>
                    <a:pt x="2871192" y="826592"/>
                  </a:lnTo>
                  <a:lnTo>
                    <a:pt x="0" y="826592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TextBox 52"/>
            <p:cNvSpPr/>
            <p:nvPr/>
          </p:nvSpPr>
          <p:spPr>
            <a:xfrm>
              <a:off x="1850040" y="7919640"/>
              <a:ext cx="1474200" cy="43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04a5c"/>
                  </a:solidFill>
                  <a:latin typeface="Arial"/>
                  <a:ea typeface="Arial"/>
                </a:rPr>
                <a:t>X_train 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5" name="Group 55"/>
          <p:cNvGrpSpPr/>
          <p:nvPr/>
        </p:nvGrpSpPr>
        <p:grpSpPr>
          <a:xfrm>
            <a:off x="3711600" y="7881480"/>
            <a:ext cx="1817640" cy="512640"/>
            <a:chOff x="3711600" y="7881480"/>
            <a:chExt cx="1817640" cy="512640"/>
          </a:xfrm>
        </p:grpSpPr>
        <p:sp>
          <p:nvSpPr>
            <p:cNvPr id="416" name="Freeform 56"/>
            <p:cNvSpPr/>
            <p:nvPr/>
          </p:nvSpPr>
          <p:spPr>
            <a:xfrm>
              <a:off x="3711600" y="7895880"/>
              <a:ext cx="1817640" cy="498240"/>
            </a:xfrm>
            <a:custGeom>
              <a:avLst/>
              <a:gdLst>
                <a:gd name="textAreaLeft" fmla="*/ 0 w 1817640"/>
                <a:gd name="textAreaRight" fmla="*/ 1818000 w 181764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23814" h="664667">
                  <a:moveTo>
                    <a:pt x="0" y="0"/>
                  </a:moveTo>
                  <a:lnTo>
                    <a:pt x="2423814" y="0"/>
                  </a:lnTo>
                  <a:lnTo>
                    <a:pt x="2423814" y="664667"/>
                  </a:lnTo>
                  <a:lnTo>
                    <a:pt x="0" y="664667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7" name="TextBox 57"/>
            <p:cNvSpPr/>
            <p:nvPr/>
          </p:nvSpPr>
          <p:spPr>
            <a:xfrm>
              <a:off x="3711600" y="7881480"/>
              <a:ext cx="1817640" cy="51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04a5c"/>
                  </a:solidFill>
                  <a:latin typeface="Arial"/>
                  <a:ea typeface="Arial"/>
                </a:rPr>
                <a:t>X_test 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8" name="Group 60"/>
          <p:cNvGrpSpPr/>
          <p:nvPr/>
        </p:nvGrpSpPr>
        <p:grpSpPr>
          <a:xfrm>
            <a:off x="5408280" y="7995960"/>
            <a:ext cx="811080" cy="257040"/>
            <a:chOff x="5408280" y="7995960"/>
            <a:chExt cx="811080" cy="257040"/>
          </a:xfrm>
        </p:grpSpPr>
        <p:sp>
          <p:nvSpPr>
            <p:cNvPr id="419" name="Freeform 61"/>
            <p:cNvSpPr/>
            <p:nvPr/>
          </p:nvSpPr>
          <p:spPr>
            <a:xfrm>
              <a:off x="5408280" y="8010360"/>
              <a:ext cx="811080" cy="242640"/>
            </a:xfrm>
            <a:custGeom>
              <a:avLst/>
              <a:gdLst>
                <a:gd name="textAreaLeft" fmla="*/ 0 w 811080"/>
                <a:gd name="textAreaRight" fmla="*/ 811440 w 81108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1081980" h="323850">
                  <a:moveTo>
                    <a:pt x="0" y="0"/>
                  </a:moveTo>
                  <a:lnTo>
                    <a:pt x="1081980" y="0"/>
                  </a:lnTo>
                  <a:lnTo>
                    <a:pt x="1081980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TextBox 62"/>
            <p:cNvSpPr/>
            <p:nvPr/>
          </p:nvSpPr>
          <p:spPr>
            <a:xfrm>
              <a:off x="5408280" y="7995960"/>
              <a:ext cx="811080" cy="25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04a5c"/>
                  </a:solidFill>
                  <a:latin typeface="Arial"/>
                  <a:ea typeface="Arial"/>
                </a:rPr>
                <a:t>y_train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1" name="Group 65"/>
          <p:cNvGrpSpPr/>
          <p:nvPr/>
        </p:nvGrpSpPr>
        <p:grpSpPr>
          <a:xfrm>
            <a:off x="2587320" y="8607960"/>
            <a:ext cx="699120" cy="257040"/>
            <a:chOff x="2587320" y="8607960"/>
            <a:chExt cx="699120" cy="257040"/>
          </a:xfrm>
        </p:grpSpPr>
        <p:sp>
          <p:nvSpPr>
            <p:cNvPr id="422" name="Freeform 66"/>
            <p:cNvSpPr/>
            <p:nvPr/>
          </p:nvSpPr>
          <p:spPr>
            <a:xfrm>
              <a:off x="2587320" y="8622360"/>
              <a:ext cx="699120" cy="242640"/>
            </a:xfrm>
            <a:custGeom>
              <a:avLst/>
              <a:gdLst>
                <a:gd name="textAreaLeft" fmla="*/ 0 w 699120"/>
                <a:gd name="textAreaRight" fmla="*/ 699480 w 69912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932854" h="323850">
                  <a:moveTo>
                    <a:pt x="0" y="0"/>
                  </a:moveTo>
                  <a:lnTo>
                    <a:pt x="932854" y="0"/>
                  </a:lnTo>
                  <a:lnTo>
                    <a:pt x="932854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TextBox 67"/>
            <p:cNvSpPr/>
            <p:nvPr/>
          </p:nvSpPr>
          <p:spPr>
            <a:xfrm>
              <a:off x="2587320" y="8607960"/>
              <a:ext cx="699120" cy="25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04a5c"/>
                  </a:solidFill>
                  <a:latin typeface="Arial"/>
                  <a:ea typeface="Arial"/>
                </a:rPr>
                <a:t>y_test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4" name="Group 70"/>
          <p:cNvGrpSpPr/>
          <p:nvPr/>
        </p:nvGrpSpPr>
        <p:grpSpPr>
          <a:xfrm>
            <a:off x="4154400" y="8607960"/>
            <a:ext cx="1705680" cy="257040"/>
            <a:chOff x="4154400" y="8607960"/>
            <a:chExt cx="1705680" cy="257040"/>
          </a:xfrm>
        </p:grpSpPr>
        <p:sp>
          <p:nvSpPr>
            <p:cNvPr id="425" name="Freeform 71"/>
            <p:cNvSpPr/>
            <p:nvPr/>
          </p:nvSpPr>
          <p:spPr>
            <a:xfrm>
              <a:off x="4154400" y="8622360"/>
              <a:ext cx="1705680" cy="242640"/>
            </a:xfrm>
            <a:custGeom>
              <a:avLst/>
              <a:gdLst>
                <a:gd name="textAreaLeft" fmla="*/ 0 w 1705680"/>
                <a:gd name="textAreaRight" fmla="*/ 1706040 w 170568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2274690" h="323850">
                  <a:moveTo>
                    <a:pt x="0" y="0"/>
                  </a:moveTo>
                  <a:lnTo>
                    <a:pt x="2274690" y="0"/>
                  </a:lnTo>
                  <a:lnTo>
                    <a:pt x="2274690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TextBox 72"/>
            <p:cNvSpPr/>
            <p:nvPr/>
          </p:nvSpPr>
          <p:spPr>
            <a:xfrm>
              <a:off x="4154400" y="8607960"/>
              <a:ext cx="1705680" cy="25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004a5c"/>
                  </a:solidFill>
                  <a:latin typeface="Arial"/>
                  <a:ea typeface="Arial"/>
                </a:rPr>
                <a:t>feature_columns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7" name="Group 73"/>
          <p:cNvGrpSpPr/>
          <p:nvPr/>
        </p:nvGrpSpPr>
        <p:grpSpPr>
          <a:xfrm>
            <a:off x="8072280" y="3434760"/>
            <a:ext cx="3800160" cy="284040"/>
            <a:chOff x="8072280" y="3434760"/>
            <a:chExt cx="3800160" cy="284040"/>
          </a:xfrm>
        </p:grpSpPr>
        <p:sp>
          <p:nvSpPr>
            <p:cNvPr id="428" name="Freeform 74"/>
            <p:cNvSpPr/>
            <p:nvPr/>
          </p:nvSpPr>
          <p:spPr>
            <a:xfrm>
              <a:off x="8072280" y="3448800"/>
              <a:ext cx="3800160" cy="270000"/>
            </a:xfrm>
            <a:custGeom>
              <a:avLst/>
              <a:gdLst>
                <a:gd name="textAreaLeft" fmla="*/ 0 w 3800160"/>
                <a:gd name="textAreaRight" fmla="*/ 3800520 w 380016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5067300" h="360350">
                  <a:moveTo>
                    <a:pt x="0" y="0"/>
                  </a:moveTo>
                  <a:lnTo>
                    <a:pt x="5067300" y="0"/>
                  </a:lnTo>
                  <a:lnTo>
                    <a:pt x="5067300" y="360350"/>
                  </a:lnTo>
                  <a:lnTo>
                    <a:pt x="0" y="360350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9" name="TextBox 75"/>
            <p:cNvSpPr/>
            <p:nvPr/>
          </p:nvSpPr>
          <p:spPr>
            <a:xfrm>
              <a:off x="8072280" y="3434760"/>
              <a:ext cx="380016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5a717e"/>
                  </a:solidFill>
                  <a:latin typeface="Arimo Bold"/>
                  <a:ea typeface="Arimo Bold"/>
                </a:rPr>
                <a:t>Data Transformation Pipeline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0" name="Group 76"/>
          <p:cNvGrpSpPr/>
          <p:nvPr/>
        </p:nvGrpSpPr>
        <p:grpSpPr>
          <a:xfrm>
            <a:off x="7701120" y="3443400"/>
            <a:ext cx="271080" cy="242640"/>
            <a:chOff x="7701120" y="3443400"/>
            <a:chExt cx="271080" cy="242640"/>
          </a:xfrm>
        </p:grpSpPr>
        <p:sp>
          <p:nvSpPr>
            <p:cNvPr id="431" name="Freeform 77"/>
            <p:cNvSpPr/>
            <p:nvPr/>
          </p:nvSpPr>
          <p:spPr>
            <a:xfrm>
              <a:off x="7701120" y="3443400"/>
              <a:ext cx="271080" cy="242640"/>
            </a:xfrm>
            <a:custGeom>
              <a:avLst/>
              <a:gdLst>
                <a:gd name="textAreaLeft" fmla="*/ 0 w 271080"/>
                <a:gd name="textAreaRight" fmla="*/ 271440 w 27108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361950" h="323850">
                  <a:moveTo>
                    <a:pt x="0" y="0"/>
                  </a:moveTo>
                  <a:lnTo>
                    <a:pt x="361950" y="0"/>
                  </a:lnTo>
                  <a:lnTo>
                    <a:pt x="3619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2" name="Group 78"/>
          <p:cNvGrpSpPr/>
          <p:nvPr/>
        </p:nvGrpSpPr>
        <p:grpSpPr>
          <a:xfrm>
            <a:off x="9844200" y="3700440"/>
            <a:ext cx="5171760" cy="956880"/>
            <a:chOff x="9844200" y="3700440"/>
            <a:chExt cx="5171760" cy="956880"/>
          </a:xfrm>
        </p:grpSpPr>
        <p:sp>
          <p:nvSpPr>
            <p:cNvPr id="433" name="Freeform 79"/>
            <p:cNvSpPr/>
            <p:nvPr/>
          </p:nvSpPr>
          <p:spPr>
            <a:xfrm>
              <a:off x="9844200" y="3700440"/>
              <a:ext cx="5171760" cy="956880"/>
            </a:xfrm>
            <a:custGeom>
              <a:avLst/>
              <a:gdLst>
                <a:gd name="textAreaLeft" fmla="*/ 0 w 5171760"/>
                <a:gd name="textAreaRight" fmla="*/ 5172120 w 5171760"/>
                <a:gd name="textAreaTop" fmla="*/ 0 h 956880"/>
                <a:gd name="textAreaBottom" fmla="*/ 957240 h 956880"/>
              </a:gdLst>
              <a:ahLst/>
              <a:rect l="textAreaLeft" t="textAreaTop" r="textAreaRight" b="textAreaBottom"/>
              <a:pathLst>
                <a:path w="6896100" h="1276350">
                  <a:moveTo>
                    <a:pt x="0" y="0"/>
                  </a:moveTo>
                  <a:lnTo>
                    <a:pt x="6896100" y="0"/>
                  </a:lnTo>
                  <a:lnTo>
                    <a:pt x="68961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4" name="Group 80"/>
          <p:cNvGrpSpPr/>
          <p:nvPr/>
        </p:nvGrpSpPr>
        <p:grpSpPr>
          <a:xfrm>
            <a:off x="10001160" y="3848760"/>
            <a:ext cx="4857480" cy="585720"/>
            <a:chOff x="10001160" y="3848760"/>
            <a:chExt cx="4857480" cy="585720"/>
          </a:xfrm>
        </p:grpSpPr>
        <p:sp>
          <p:nvSpPr>
            <p:cNvPr id="435" name="Freeform 81"/>
            <p:cNvSpPr/>
            <p:nvPr/>
          </p:nvSpPr>
          <p:spPr>
            <a:xfrm>
              <a:off x="10001160" y="3863160"/>
              <a:ext cx="4857480" cy="571320"/>
            </a:xfrm>
            <a:custGeom>
              <a:avLst/>
              <a:gdLst>
                <a:gd name="textAreaLeft" fmla="*/ 0 w 4857480"/>
                <a:gd name="textAreaRight" fmla="*/ 4857840 w 485748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6477000" h="762000">
                  <a:moveTo>
                    <a:pt x="0" y="0"/>
                  </a:moveTo>
                  <a:lnTo>
                    <a:pt x="6477000" y="0"/>
                  </a:lnTo>
                  <a:lnTo>
                    <a:pt x="64770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0">
              <a:blip r:embed="rId2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6" name="TextBox 82"/>
            <p:cNvSpPr/>
            <p:nvPr/>
          </p:nvSpPr>
          <p:spPr>
            <a:xfrm>
              <a:off x="10001160" y="3848760"/>
              <a:ext cx="4857480" cy="58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981"/>
                </a:lnSpc>
              </a:pPr>
              <a:r>
                <a:rPr b="1" lang="en-US" sz="1650" spc="-1" strike="noStrike">
                  <a:solidFill>
                    <a:srgbClr val="004a5c"/>
                  </a:solidFill>
                  <a:latin typeface="Arimo Bold"/>
                  <a:ea typeface="Arimo Bold"/>
                </a:rPr>
                <a:t>Raw CSV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7" name="Group 83"/>
          <p:cNvGrpSpPr/>
          <p:nvPr/>
        </p:nvGrpSpPr>
        <p:grpSpPr>
          <a:xfrm>
            <a:off x="12315960" y="4529160"/>
            <a:ext cx="228240" cy="242640"/>
            <a:chOff x="12315960" y="4529160"/>
            <a:chExt cx="228240" cy="242640"/>
          </a:xfrm>
        </p:grpSpPr>
        <p:sp>
          <p:nvSpPr>
            <p:cNvPr id="438" name="Freeform 84"/>
            <p:cNvSpPr/>
            <p:nvPr/>
          </p:nvSpPr>
          <p:spPr>
            <a:xfrm>
              <a:off x="12315960" y="4529160"/>
              <a:ext cx="228240" cy="2426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304800" h="323850">
                  <a:moveTo>
                    <a:pt x="0" y="0"/>
                  </a:moveTo>
                  <a:lnTo>
                    <a:pt x="304800" y="0"/>
                  </a:lnTo>
                  <a:lnTo>
                    <a:pt x="30480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9" name="Group 85"/>
          <p:cNvGrpSpPr/>
          <p:nvPr/>
        </p:nvGrpSpPr>
        <p:grpSpPr>
          <a:xfrm>
            <a:off x="9844200" y="4700520"/>
            <a:ext cx="5171760" cy="956880"/>
            <a:chOff x="9844200" y="4700520"/>
            <a:chExt cx="5171760" cy="956880"/>
          </a:xfrm>
        </p:grpSpPr>
        <p:sp>
          <p:nvSpPr>
            <p:cNvPr id="440" name="Freeform 86"/>
            <p:cNvSpPr/>
            <p:nvPr/>
          </p:nvSpPr>
          <p:spPr>
            <a:xfrm>
              <a:off x="9844200" y="4700520"/>
              <a:ext cx="5171760" cy="956880"/>
            </a:xfrm>
            <a:custGeom>
              <a:avLst/>
              <a:gdLst>
                <a:gd name="textAreaLeft" fmla="*/ 0 w 5171760"/>
                <a:gd name="textAreaRight" fmla="*/ 5172120 w 5171760"/>
                <a:gd name="textAreaTop" fmla="*/ 0 h 956880"/>
                <a:gd name="textAreaBottom" fmla="*/ 957240 h 956880"/>
              </a:gdLst>
              <a:ahLst/>
              <a:rect l="textAreaLeft" t="textAreaTop" r="textAreaRight" b="textAreaBottom"/>
              <a:pathLst>
                <a:path w="6896100" h="1276350">
                  <a:moveTo>
                    <a:pt x="0" y="0"/>
                  </a:moveTo>
                  <a:lnTo>
                    <a:pt x="6896100" y="0"/>
                  </a:lnTo>
                  <a:lnTo>
                    <a:pt x="68961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1" name="Group 87"/>
          <p:cNvGrpSpPr/>
          <p:nvPr/>
        </p:nvGrpSpPr>
        <p:grpSpPr>
          <a:xfrm>
            <a:off x="10001160" y="4849200"/>
            <a:ext cx="4857480" cy="585360"/>
            <a:chOff x="10001160" y="4849200"/>
            <a:chExt cx="4857480" cy="585360"/>
          </a:xfrm>
        </p:grpSpPr>
        <p:sp>
          <p:nvSpPr>
            <p:cNvPr id="442" name="Freeform 88"/>
            <p:cNvSpPr/>
            <p:nvPr/>
          </p:nvSpPr>
          <p:spPr>
            <a:xfrm>
              <a:off x="10001160" y="4863240"/>
              <a:ext cx="4857480" cy="571320"/>
            </a:xfrm>
            <a:custGeom>
              <a:avLst/>
              <a:gdLst>
                <a:gd name="textAreaLeft" fmla="*/ 0 w 4857480"/>
                <a:gd name="textAreaRight" fmla="*/ 4857840 w 485748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6477000" h="762000">
                  <a:moveTo>
                    <a:pt x="0" y="0"/>
                  </a:moveTo>
                  <a:lnTo>
                    <a:pt x="6477000" y="0"/>
                  </a:lnTo>
                  <a:lnTo>
                    <a:pt x="64770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0">
              <a:blip r:embed="rId3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3" name="TextBox 89"/>
            <p:cNvSpPr/>
            <p:nvPr/>
          </p:nvSpPr>
          <p:spPr>
            <a:xfrm>
              <a:off x="10001160" y="4849200"/>
              <a:ext cx="4857480" cy="58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981"/>
                </a:lnSpc>
              </a:pPr>
              <a:r>
                <a:rPr b="1" lang="en-US" sz="1650" spc="-1" strike="noStrike">
                  <a:solidFill>
                    <a:srgbClr val="004a5c"/>
                  </a:solidFill>
                  <a:latin typeface="Arimo Bold"/>
                  <a:ea typeface="Arimo Bold"/>
                </a:rPr>
                <a:t>Clean / Impute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4" name="Group 90"/>
          <p:cNvGrpSpPr/>
          <p:nvPr/>
        </p:nvGrpSpPr>
        <p:grpSpPr>
          <a:xfrm>
            <a:off x="12315960" y="5529240"/>
            <a:ext cx="228240" cy="242640"/>
            <a:chOff x="12315960" y="5529240"/>
            <a:chExt cx="228240" cy="242640"/>
          </a:xfrm>
        </p:grpSpPr>
        <p:sp>
          <p:nvSpPr>
            <p:cNvPr id="445" name="Freeform 91"/>
            <p:cNvSpPr/>
            <p:nvPr/>
          </p:nvSpPr>
          <p:spPr>
            <a:xfrm>
              <a:off x="12315960" y="5529240"/>
              <a:ext cx="228240" cy="2426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304800" h="323850">
                  <a:moveTo>
                    <a:pt x="0" y="0"/>
                  </a:moveTo>
                  <a:lnTo>
                    <a:pt x="304800" y="0"/>
                  </a:lnTo>
                  <a:lnTo>
                    <a:pt x="30480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6" name="Group 92"/>
          <p:cNvGrpSpPr/>
          <p:nvPr/>
        </p:nvGrpSpPr>
        <p:grpSpPr>
          <a:xfrm>
            <a:off x="9844200" y="5700600"/>
            <a:ext cx="5171760" cy="956880"/>
            <a:chOff x="9844200" y="5700600"/>
            <a:chExt cx="5171760" cy="956880"/>
          </a:xfrm>
        </p:grpSpPr>
        <p:sp>
          <p:nvSpPr>
            <p:cNvPr id="447" name="Freeform 93"/>
            <p:cNvSpPr/>
            <p:nvPr/>
          </p:nvSpPr>
          <p:spPr>
            <a:xfrm>
              <a:off x="9844200" y="5700600"/>
              <a:ext cx="5171760" cy="956880"/>
            </a:xfrm>
            <a:custGeom>
              <a:avLst/>
              <a:gdLst>
                <a:gd name="textAreaLeft" fmla="*/ 0 w 5171760"/>
                <a:gd name="textAreaRight" fmla="*/ 5172120 w 5171760"/>
                <a:gd name="textAreaTop" fmla="*/ 0 h 956880"/>
                <a:gd name="textAreaBottom" fmla="*/ 957240 h 956880"/>
              </a:gdLst>
              <a:ahLst/>
              <a:rect l="textAreaLeft" t="textAreaTop" r="textAreaRight" b="textAreaBottom"/>
              <a:pathLst>
                <a:path w="6896100" h="1276350">
                  <a:moveTo>
                    <a:pt x="0" y="0"/>
                  </a:moveTo>
                  <a:lnTo>
                    <a:pt x="6896100" y="0"/>
                  </a:lnTo>
                  <a:lnTo>
                    <a:pt x="68961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8" name="Group 94"/>
          <p:cNvGrpSpPr/>
          <p:nvPr/>
        </p:nvGrpSpPr>
        <p:grpSpPr>
          <a:xfrm>
            <a:off x="10001160" y="5849280"/>
            <a:ext cx="4857480" cy="585360"/>
            <a:chOff x="10001160" y="5849280"/>
            <a:chExt cx="4857480" cy="585360"/>
          </a:xfrm>
        </p:grpSpPr>
        <p:sp>
          <p:nvSpPr>
            <p:cNvPr id="449" name="Freeform 95"/>
            <p:cNvSpPr/>
            <p:nvPr/>
          </p:nvSpPr>
          <p:spPr>
            <a:xfrm>
              <a:off x="10001160" y="5863320"/>
              <a:ext cx="4857480" cy="571320"/>
            </a:xfrm>
            <a:custGeom>
              <a:avLst/>
              <a:gdLst>
                <a:gd name="textAreaLeft" fmla="*/ 0 w 4857480"/>
                <a:gd name="textAreaRight" fmla="*/ 4857840 w 485748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6477000" h="762000">
                  <a:moveTo>
                    <a:pt x="0" y="0"/>
                  </a:moveTo>
                  <a:lnTo>
                    <a:pt x="6477000" y="0"/>
                  </a:lnTo>
                  <a:lnTo>
                    <a:pt x="64770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0">
              <a:blip r:embed="rId3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0" name="TextBox 96"/>
            <p:cNvSpPr/>
            <p:nvPr/>
          </p:nvSpPr>
          <p:spPr>
            <a:xfrm>
              <a:off x="10001160" y="5849280"/>
              <a:ext cx="4857480" cy="58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981"/>
                </a:lnSpc>
              </a:pPr>
              <a:r>
                <a:rPr b="1" lang="en-US" sz="1650" spc="-1" strike="noStrike">
                  <a:solidFill>
                    <a:srgbClr val="004a5c"/>
                  </a:solidFill>
                  <a:latin typeface="Arimo Bold"/>
                  <a:ea typeface="Arimo Bold"/>
                </a:rPr>
                <a:t>Engineer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1" name="Group 97"/>
          <p:cNvGrpSpPr/>
          <p:nvPr/>
        </p:nvGrpSpPr>
        <p:grpSpPr>
          <a:xfrm>
            <a:off x="12315960" y="6529320"/>
            <a:ext cx="228240" cy="242640"/>
            <a:chOff x="12315960" y="6529320"/>
            <a:chExt cx="228240" cy="242640"/>
          </a:xfrm>
        </p:grpSpPr>
        <p:sp>
          <p:nvSpPr>
            <p:cNvPr id="452" name="Freeform 98"/>
            <p:cNvSpPr/>
            <p:nvPr/>
          </p:nvSpPr>
          <p:spPr>
            <a:xfrm>
              <a:off x="12315960" y="6529320"/>
              <a:ext cx="228240" cy="2426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304800" h="323850">
                  <a:moveTo>
                    <a:pt x="0" y="0"/>
                  </a:moveTo>
                  <a:lnTo>
                    <a:pt x="304800" y="0"/>
                  </a:lnTo>
                  <a:lnTo>
                    <a:pt x="30480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3" name="Group 99"/>
          <p:cNvGrpSpPr/>
          <p:nvPr/>
        </p:nvGrpSpPr>
        <p:grpSpPr>
          <a:xfrm>
            <a:off x="9844200" y="6700680"/>
            <a:ext cx="5171760" cy="956880"/>
            <a:chOff x="9844200" y="6700680"/>
            <a:chExt cx="5171760" cy="956880"/>
          </a:xfrm>
        </p:grpSpPr>
        <p:sp>
          <p:nvSpPr>
            <p:cNvPr id="454" name="Freeform 100"/>
            <p:cNvSpPr/>
            <p:nvPr/>
          </p:nvSpPr>
          <p:spPr>
            <a:xfrm>
              <a:off x="9844200" y="6700680"/>
              <a:ext cx="5171760" cy="956880"/>
            </a:xfrm>
            <a:custGeom>
              <a:avLst/>
              <a:gdLst>
                <a:gd name="textAreaLeft" fmla="*/ 0 w 5171760"/>
                <a:gd name="textAreaRight" fmla="*/ 5172120 w 5171760"/>
                <a:gd name="textAreaTop" fmla="*/ 0 h 956880"/>
                <a:gd name="textAreaBottom" fmla="*/ 957240 h 956880"/>
              </a:gdLst>
              <a:ahLst/>
              <a:rect l="textAreaLeft" t="textAreaTop" r="textAreaRight" b="textAreaBottom"/>
              <a:pathLst>
                <a:path w="6896100" h="1276350">
                  <a:moveTo>
                    <a:pt x="0" y="0"/>
                  </a:moveTo>
                  <a:lnTo>
                    <a:pt x="6896100" y="0"/>
                  </a:lnTo>
                  <a:lnTo>
                    <a:pt x="68961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5" name="Group 101"/>
          <p:cNvGrpSpPr/>
          <p:nvPr/>
        </p:nvGrpSpPr>
        <p:grpSpPr>
          <a:xfrm>
            <a:off x="10001160" y="6849360"/>
            <a:ext cx="4857480" cy="585720"/>
            <a:chOff x="10001160" y="6849360"/>
            <a:chExt cx="4857480" cy="585720"/>
          </a:xfrm>
        </p:grpSpPr>
        <p:sp>
          <p:nvSpPr>
            <p:cNvPr id="456" name="Freeform 102"/>
            <p:cNvSpPr/>
            <p:nvPr/>
          </p:nvSpPr>
          <p:spPr>
            <a:xfrm>
              <a:off x="10001160" y="6863760"/>
              <a:ext cx="4857480" cy="571320"/>
            </a:xfrm>
            <a:custGeom>
              <a:avLst/>
              <a:gdLst>
                <a:gd name="textAreaLeft" fmla="*/ 0 w 4857480"/>
                <a:gd name="textAreaRight" fmla="*/ 4857840 w 485748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6477000" h="762000">
                  <a:moveTo>
                    <a:pt x="0" y="0"/>
                  </a:moveTo>
                  <a:lnTo>
                    <a:pt x="6477000" y="0"/>
                  </a:lnTo>
                  <a:lnTo>
                    <a:pt x="64770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0">
              <a:blip r:embed="rId3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7" name="TextBox 103"/>
            <p:cNvSpPr/>
            <p:nvPr/>
          </p:nvSpPr>
          <p:spPr>
            <a:xfrm>
              <a:off x="10001160" y="6849360"/>
              <a:ext cx="4857480" cy="58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981"/>
                </a:lnSpc>
              </a:pPr>
              <a:r>
                <a:rPr b="1" lang="en-US" sz="1650" spc="-1" strike="noStrike">
                  <a:solidFill>
                    <a:srgbClr val="004a5c"/>
                  </a:solidFill>
                  <a:latin typeface="Arimo Bold"/>
                  <a:ea typeface="Arimo Bold"/>
                </a:rPr>
                <a:t>Encode / Scale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8" name="Group 104"/>
          <p:cNvGrpSpPr/>
          <p:nvPr/>
        </p:nvGrpSpPr>
        <p:grpSpPr>
          <a:xfrm>
            <a:off x="12315960" y="7529400"/>
            <a:ext cx="228240" cy="242640"/>
            <a:chOff x="12315960" y="7529400"/>
            <a:chExt cx="228240" cy="242640"/>
          </a:xfrm>
        </p:grpSpPr>
        <p:sp>
          <p:nvSpPr>
            <p:cNvPr id="459" name="Freeform 105"/>
            <p:cNvSpPr/>
            <p:nvPr/>
          </p:nvSpPr>
          <p:spPr>
            <a:xfrm>
              <a:off x="12315960" y="7529400"/>
              <a:ext cx="228240" cy="2426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304800" h="323850">
                  <a:moveTo>
                    <a:pt x="0" y="0"/>
                  </a:moveTo>
                  <a:lnTo>
                    <a:pt x="304800" y="0"/>
                  </a:lnTo>
                  <a:lnTo>
                    <a:pt x="30480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0" name="Group 106"/>
          <p:cNvGrpSpPr/>
          <p:nvPr/>
        </p:nvGrpSpPr>
        <p:grpSpPr>
          <a:xfrm>
            <a:off x="9844200" y="7701120"/>
            <a:ext cx="5171760" cy="956880"/>
            <a:chOff x="9844200" y="7701120"/>
            <a:chExt cx="5171760" cy="956880"/>
          </a:xfrm>
        </p:grpSpPr>
        <p:sp>
          <p:nvSpPr>
            <p:cNvPr id="461" name="Freeform 107"/>
            <p:cNvSpPr/>
            <p:nvPr/>
          </p:nvSpPr>
          <p:spPr>
            <a:xfrm>
              <a:off x="9844200" y="7701120"/>
              <a:ext cx="5171760" cy="956880"/>
            </a:xfrm>
            <a:custGeom>
              <a:avLst/>
              <a:gdLst>
                <a:gd name="textAreaLeft" fmla="*/ 0 w 5171760"/>
                <a:gd name="textAreaRight" fmla="*/ 5172120 w 5171760"/>
                <a:gd name="textAreaTop" fmla="*/ 0 h 956880"/>
                <a:gd name="textAreaBottom" fmla="*/ 957240 h 956880"/>
              </a:gdLst>
              <a:ahLst/>
              <a:rect l="textAreaLeft" t="textAreaTop" r="textAreaRight" b="textAreaBottom"/>
              <a:pathLst>
                <a:path w="6896100" h="1276350">
                  <a:moveTo>
                    <a:pt x="0" y="0"/>
                  </a:moveTo>
                  <a:lnTo>
                    <a:pt x="6896100" y="0"/>
                  </a:lnTo>
                  <a:lnTo>
                    <a:pt x="68961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2" name="Group 108"/>
          <p:cNvGrpSpPr/>
          <p:nvPr/>
        </p:nvGrpSpPr>
        <p:grpSpPr>
          <a:xfrm>
            <a:off x="10001160" y="7849440"/>
            <a:ext cx="4857480" cy="585720"/>
            <a:chOff x="10001160" y="7849440"/>
            <a:chExt cx="4857480" cy="585720"/>
          </a:xfrm>
        </p:grpSpPr>
        <p:sp>
          <p:nvSpPr>
            <p:cNvPr id="463" name="Freeform 109"/>
            <p:cNvSpPr/>
            <p:nvPr/>
          </p:nvSpPr>
          <p:spPr>
            <a:xfrm>
              <a:off x="10001160" y="7863840"/>
              <a:ext cx="4857480" cy="571320"/>
            </a:xfrm>
            <a:custGeom>
              <a:avLst/>
              <a:gdLst>
                <a:gd name="textAreaLeft" fmla="*/ 0 w 4857480"/>
                <a:gd name="textAreaRight" fmla="*/ 4857840 w 485748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6477000" h="762000">
                  <a:moveTo>
                    <a:pt x="0" y="0"/>
                  </a:moveTo>
                  <a:lnTo>
                    <a:pt x="6477000" y="0"/>
                  </a:lnTo>
                  <a:lnTo>
                    <a:pt x="64770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0">
              <a:blip r:embed="rId3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4" name="TextBox 110"/>
            <p:cNvSpPr/>
            <p:nvPr/>
          </p:nvSpPr>
          <p:spPr>
            <a:xfrm>
              <a:off x="10001160" y="7849440"/>
              <a:ext cx="4857480" cy="58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981"/>
                </a:lnSpc>
              </a:pPr>
              <a:r>
                <a:rPr b="1" lang="en-US" sz="1650" spc="-1" strike="noStrike">
                  <a:solidFill>
                    <a:srgbClr val="004a5c"/>
                  </a:solidFill>
                  <a:latin typeface="Arimo Bold"/>
                  <a:ea typeface="Arimo Bold"/>
                </a:rPr>
                <a:t>Split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5" name="Group 111"/>
          <p:cNvGrpSpPr/>
          <p:nvPr/>
        </p:nvGrpSpPr>
        <p:grpSpPr>
          <a:xfrm>
            <a:off x="12315960" y="8529480"/>
            <a:ext cx="228240" cy="242640"/>
            <a:chOff x="12315960" y="8529480"/>
            <a:chExt cx="228240" cy="242640"/>
          </a:xfrm>
        </p:grpSpPr>
        <p:sp>
          <p:nvSpPr>
            <p:cNvPr id="466" name="Freeform 112"/>
            <p:cNvSpPr/>
            <p:nvPr/>
          </p:nvSpPr>
          <p:spPr>
            <a:xfrm>
              <a:off x="12315960" y="8529480"/>
              <a:ext cx="228240" cy="2426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304800" h="323850">
                  <a:moveTo>
                    <a:pt x="0" y="0"/>
                  </a:moveTo>
                  <a:lnTo>
                    <a:pt x="304800" y="0"/>
                  </a:lnTo>
                  <a:lnTo>
                    <a:pt x="30480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7" name="Group 113"/>
          <p:cNvGrpSpPr/>
          <p:nvPr/>
        </p:nvGrpSpPr>
        <p:grpSpPr>
          <a:xfrm>
            <a:off x="9844200" y="8701200"/>
            <a:ext cx="5171760" cy="956880"/>
            <a:chOff x="9844200" y="8701200"/>
            <a:chExt cx="5171760" cy="956880"/>
          </a:xfrm>
        </p:grpSpPr>
        <p:sp>
          <p:nvSpPr>
            <p:cNvPr id="468" name="Freeform 114"/>
            <p:cNvSpPr/>
            <p:nvPr/>
          </p:nvSpPr>
          <p:spPr>
            <a:xfrm>
              <a:off x="9844200" y="8701200"/>
              <a:ext cx="5171760" cy="956880"/>
            </a:xfrm>
            <a:custGeom>
              <a:avLst/>
              <a:gdLst>
                <a:gd name="textAreaLeft" fmla="*/ 0 w 5171760"/>
                <a:gd name="textAreaRight" fmla="*/ 5172120 w 5171760"/>
                <a:gd name="textAreaTop" fmla="*/ 0 h 956880"/>
                <a:gd name="textAreaBottom" fmla="*/ 957240 h 956880"/>
              </a:gdLst>
              <a:ahLst/>
              <a:rect l="textAreaLeft" t="textAreaTop" r="textAreaRight" b="textAreaBottom"/>
              <a:pathLst>
                <a:path w="6896100" h="1276350">
                  <a:moveTo>
                    <a:pt x="0" y="0"/>
                  </a:moveTo>
                  <a:lnTo>
                    <a:pt x="6896100" y="0"/>
                  </a:lnTo>
                  <a:lnTo>
                    <a:pt x="6896100" y="1276350"/>
                  </a:lnTo>
                  <a:lnTo>
                    <a:pt x="0" y="12763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9" name="Group 115"/>
          <p:cNvGrpSpPr/>
          <p:nvPr/>
        </p:nvGrpSpPr>
        <p:grpSpPr>
          <a:xfrm>
            <a:off x="10001160" y="8849520"/>
            <a:ext cx="4857480" cy="585720"/>
            <a:chOff x="10001160" y="8849520"/>
            <a:chExt cx="4857480" cy="585720"/>
          </a:xfrm>
        </p:grpSpPr>
        <p:sp>
          <p:nvSpPr>
            <p:cNvPr id="470" name="Freeform 116"/>
            <p:cNvSpPr/>
            <p:nvPr/>
          </p:nvSpPr>
          <p:spPr>
            <a:xfrm>
              <a:off x="10001160" y="8863920"/>
              <a:ext cx="4857480" cy="571320"/>
            </a:xfrm>
            <a:custGeom>
              <a:avLst/>
              <a:gdLst>
                <a:gd name="textAreaLeft" fmla="*/ 0 w 4857480"/>
                <a:gd name="textAreaRight" fmla="*/ 4857840 w 485748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6477000" h="762000">
                  <a:moveTo>
                    <a:pt x="0" y="0"/>
                  </a:moveTo>
                  <a:lnTo>
                    <a:pt x="6477000" y="0"/>
                  </a:lnTo>
                  <a:lnTo>
                    <a:pt x="64770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0">
              <a:blip r:embed="rId4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1" name="TextBox 117"/>
            <p:cNvSpPr/>
            <p:nvPr/>
          </p:nvSpPr>
          <p:spPr>
            <a:xfrm>
              <a:off x="10001160" y="8849520"/>
              <a:ext cx="4857480" cy="58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981"/>
                </a:lnSpc>
              </a:pPr>
              <a:r>
                <a:rPr b="1" lang="en-US" sz="1650" spc="-1" strike="noStrike">
                  <a:solidFill>
                    <a:srgbClr val="ffffff"/>
                  </a:solidFill>
                  <a:latin typeface="Arimo Bold"/>
                  <a:ea typeface="Arimo Bold"/>
                </a:rPr>
                <a:t>Pickles</a:t>
              </a:r>
              <a:endParaRPr b="0" lang="fr-FR" sz="1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473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4" name="Group 4"/>
          <p:cNvGrpSpPr/>
          <p:nvPr/>
        </p:nvGrpSpPr>
        <p:grpSpPr>
          <a:xfrm>
            <a:off x="671400" y="1814400"/>
            <a:ext cx="8486280" cy="4443120"/>
            <a:chOff x="671400" y="1814400"/>
            <a:chExt cx="8486280" cy="4443120"/>
          </a:xfrm>
        </p:grpSpPr>
        <p:sp>
          <p:nvSpPr>
            <p:cNvPr id="475" name="Freeform 5"/>
            <p:cNvSpPr/>
            <p:nvPr/>
          </p:nvSpPr>
          <p:spPr>
            <a:xfrm>
              <a:off x="671400" y="1814400"/>
              <a:ext cx="8486280" cy="4443120"/>
            </a:xfrm>
            <a:custGeom>
              <a:avLst/>
              <a:gdLst>
                <a:gd name="textAreaLeft" fmla="*/ 0 w 8486280"/>
                <a:gd name="textAreaRight" fmla="*/ 8486640 w 8486280"/>
                <a:gd name="textAreaTop" fmla="*/ 0 h 4443120"/>
                <a:gd name="textAreaBottom" fmla="*/ 4443480 h 4443120"/>
              </a:gdLst>
              <a:ahLst/>
              <a:rect l="textAreaLeft" t="textAreaTop" r="textAreaRight" b="textAreaBottom"/>
              <a:pathLst>
                <a:path w="11315700" h="5924550">
                  <a:moveTo>
                    <a:pt x="0" y="0"/>
                  </a:moveTo>
                  <a:lnTo>
                    <a:pt x="11315700" y="0"/>
                  </a:lnTo>
                  <a:lnTo>
                    <a:pt x="11315700" y="5924550"/>
                  </a:lnTo>
                  <a:lnTo>
                    <a:pt x="0" y="5924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6" name="Group 6"/>
          <p:cNvGrpSpPr/>
          <p:nvPr/>
        </p:nvGrpSpPr>
        <p:grpSpPr>
          <a:xfrm>
            <a:off x="9129600" y="1814400"/>
            <a:ext cx="8486280" cy="4443120"/>
            <a:chOff x="9129600" y="1814400"/>
            <a:chExt cx="8486280" cy="4443120"/>
          </a:xfrm>
        </p:grpSpPr>
        <p:sp>
          <p:nvSpPr>
            <p:cNvPr id="477" name="Freeform 7"/>
            <p:cNvSpPr/>
            <p:nvPr/>
          </p:nvSpPr>
          <p:spPr>
            <a:xfrm>
              <a:off x="9129600" y="1814400"/>
              <a:ext cx="8486280" cy="4443120"/>
            </a:xfrm>
            <a:custGeom>
              <a:avLst/>
              <a:gdLst>
                <a:gd name="textAreaLeft" fmla="*/ 0 w 8486280"/>
                <a:gd name="textAreaRight" fmla="*/ 8486640 w 8486280"/>
                <a:gd name="textAreaTop" fmla="*/ 0 h 4443120"/>
                <a:gd name="textAreaBottom" fmla="*/ 4443480 h 4443120"/>
              </a:gdLst>
              <a:ahLst/>
              <a:rect l="textAreaLeft" t="textAreaTop" r="textAreaRight" b="textAreaBottom"/>
              <a:pathLst>
                <a:path w="11315700" h="5924550">
                  <a:moveTo>
                    <a:pt x="0" y="0"/>
                  </a:moveTo>
                  <a:lnTo>
                    <a:pt x="11315700" y="0"/>
                  </a:lnTo>
                  <a:lnTo>
                    <a:pt x="11315700" y="5924550"/>
                  </a:lnTo>
                  <a:lnTo>
                    <a:pt x="0" y="5924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8" name="Group 8"/>
          <p:cNvGrpSpPr/>
          <p:nvPr/>
        </p:nvGrpSpPr>
        <p:grpSpPr>
          <a:xfrm>
            <a:off x="857160" y="571680"/>
            <a:ext cx="16573320" cy="1005480"/>
            <a:chOff x="857160" y="571680"/>
            <a:chExt cx="16573320" cy="1005480"/>
          </a:xfrm>
        </p:grpSpPr>
        <p:sp>
          <p:nvSpPr>
            <p:cNvPr id="479" name="Freeform 9"/>
            <p:cNvSpPr/>
            <p:nvPr/>
          </p:nvSpPr>
          <p:spPr>
            <a:xfrm>
              <a:off x="857160" y="571680"/>
              <a:ext cx="16573320" cy="1005480"/>
            </a:xfrm>
            <a:custGeom>
              <a:avLst/>
              <a:gdLst>
                <a:gd name="textAreaLeft" fmla="*/ 0 w 16573320"/>
                <a:gd name="textAreaRight" fmla="*/ 16573680 w 16573320"/>
                <a:gd name="textAreaTop" fmla="*/ 0 h 1005480"/>
                <a:gd name="textAreaBottom" fmla="*/ 1005840 h 1005480"/>
              </a:gdLst>
              <a:ahLst/>
              <a:rect l="textAreaLeft" t="textAreaTop" r="textAreaRight" b="textAreaBottom"/>
              <a:pathLst>
                <a:path w="22098000" h="1340942">
                  <a:moveTo>
                    <a:pt x="0" y="0"/>
                  </a:moveTo>
                  <a:lnTo>
                    <a:pt x="22098000" y="0"/>
                  </a:lnTo>
                  <a:lnTo>
                    <a:pt x="22098000" y="1340942"/>
                  </a:lnTo>
                  <a:lnTo>
                    <a:pt x="0" y="1340942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0" name="TextBox 10"/>
            <p:cNvSpPr/>
            <p:nvPr/>
          </p:nvSpPr>
          <p:spPr>
            <a:xfrm>
              <a:off x="857160" y="571680"/>
              <a:ext cx="16573320" cy="100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8101"/>
                </a:lnSpc>
              </a:pPr>
              <a:r>
                <a:rPr b="1" lang="en-US" sz="67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EDA Deep Dive Cleaning Decisions</a:t>
              </a:r>
              <a:endParaRPr b="0" lang="fr-FR" sz="67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1" name="Group 11"/>
          <p:cNvGrpSpPr/>
          <p:nvPr/>
        </p:nvGrpSpPr>
        <p:grpSpPr>
          <a:xfrm>
            <a:off x="1514520" y="2291760"/>
            <a:ext cx="3465720" cy="342720"/>
            <a:chOff x="1514520" y="2291760"/>
            <a:chExt cx="3465720" cy="342720"/>
          </a:xfrm>
        </p:grpSpPr>
        <p:sp>
          <p:nvSpPr>
            <p:cNvPr id="482" name="Freeform 12"/>
            <p:cNvSpPr/>
            <p:nvPr/>
          </p:nvSpPr>
          <p:spPr>
            <a:xfrm>
              <a:off x="1514520" y="2291760"/>
              <a:ext cx="3465720" cy="342720"/>
            </a:xfrm>
            <a:custGeom>
              <a:avLst/>
              <a:gdLst>
                <a:gd name="textAreaLeft" fmla="*/ 0 w 3465720"/>
                <a:gd name="textAreaRight" fmla="*/ 3466080 w 346572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4621410" h="457200">
                  <a:moveTo>
                    <a:pt x="0" y="0"/>
                  </a:moveTo>
                  <a:lnTo>
                    <a:pt x="4621410" y="0"/>
                  </a:lnTo>
                  <a:lnTo>
                    <a:pt x="462141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3" name="TextBox 13"/>
            <p:cNvSpPr/>
            <p:nvPr/>
          </p:nvSpPr>
          <p:spPr>
            <a:xfrm>
              <a:off x="1514520" y="2291760"/>
              <a:ext cx="3465720" cy="34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Missingness by Column (%)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4" name="Group 14"/>
          <p:cNvGrpSpPr/>
          <p:nvPr/>
        </p:nvGrpSpPr>
        <p:grpSpPr>
          <a:xfrm>
            <a:off x="1128600" y="2314440"/>
            <a:ext cx="285480" cy="299520"/>
            <a:chOff x="1128600" y="2314440"/>
            <a:chExt cx="285480" cy="299520"/>
          </a:xfrm>
        </p:grpSpPr>
        <p:sp>
          <p:nvSpPr>
            <p:cNvPr id="485" name="Freeform 15"/>
            <p:cNvSpPr/>
            <p:nvPr/>
          </p:nvSpPr>
          <p:spPr>
            <a:xfrm>
              <a:off x="1128600" y="2314440"/>
              <a:ext cx="285480" cy="29952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6" name="Group 16"/>
          <p:cNvGrpSpPr/>
          <p:nvPr/>
        </p:nvGrpSpPr>
        <p:grpSpPr>
          <a:xfrm>
            <a:off x="1143000" y="2805840"/>
            <a:ext cx="7543440" cy="2914200"/>
            <a:chOff x="1143000" y="2805840"/>
            <a:chExt cx="7543440" cy="2914200"/>
          </a:xfrm>
        </p:grpSpPr>
        <p:sp>
          <p:nvSpPr>
            <p:cNvPr id="487" name="Freeform 17"/>
            <p:cNvSpPr/>
            <p:nvPr/>
          </p:nvSpPr>
          <p:spPr>
            <a:xfrm>
              <a:off x="1143000" y="2805840"/>
              <a:ext cx="7543440" cy="2914200"/>
            </a:xfrm>
            <a:custGeom>
              <a:avLst/>
              <a:gdLst>
                <a:gd name="textAreaLeft" fmla="*/ 0 w 7543440"/>
                <a:gd name="textAreaRight" fmla="*/ 7543800 w 7543440"/>
                <a:gd name="textAreaTop" fmla="*/ 0 h 2914200"/>
                <a:gd name="textAreaBottom" fmla="*/ 2914560 h 2914200"/>
              </a:gdLst>
              <a:ahLst/>
              <a:rect l="textAreaLeft" t="textAreaTop" r="textAreaRight" b="textAreaBottom"/>
              <a:pathLst>
                <a:path w="10058400" h="3886200">
                  <a:moveTo>
                    <a:pt x="0" y="0"/>
                  </a:moveTo>
                  <a:lnTo>
                    <a:pt x="10058400" y="0"/>
                  </a:lnTo>
                  <a:lnTo>
                    <a:pt x="10058400" y="3886200"/>
                  </a:lnTo>
                  <a:lnTo>
                    <a:pt x="0" y="3886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8" name="Group 18"/>
          <p:cNvGrpSpPr/>
          <p:nvPr/>
        </p:nvGrpSpPr>
        <p:grpSpPr>
          <a:xfrm>
            <a:off x="9972720" y="2291760"/>
            <a:ext cx="6350040" cy="342720"/>
            <a:chOff x="9972720" y="2291760"/>
            <a:chExt cx="6350040" cy="342720"/>
          </a:xfrm>
        </p:grpSpPr>
        <p:sp>
          <p:nvSpPr>
            <p:cNvPr id="489" name="Freeform 19"/>
            <p:cNvSpPr/>
            <p:nvPr/>
          </p:nvSpPr>
          <p:spPr>
            <a:xfrm>
              <a:off x="9972720" y="2291760"/>
              <a:ext cx="6350040" cy="342720"/>
            </a:xfrm>
            <a:custGeom>
              <a:avLst/>
              <a:gdLst>
                <a:gd name="textAreaLeft" fmla="*/ 0 w 6350040"/>
                <a:gd name="textAreaRight" fmla="*/ 6350400 w 635004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8467130" h="457200">
                  <a:moveTo>
                    <a:pt x="0" y="0"/>
                  </a:moveTo>
                  <a:lnTo>
                    <a:pt x="8467130" y="0"/>
                  </a:lnTo>
                  <a:lnTo>
                    <a:pt x="846713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0" name="TextBox 20"/>
            <p:cNvSpPr/>
            <p:nvPr/>
          </p:nvSpPr>
          <p:spPr>
            <a:xfrm>
              <a:off x="9972720" y="2291760"/>
              <a:ext cx="6350040" cy="34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Target Transformation: SalePrice vs Log_SalePrice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1" name="Group 21"/>
          <p:cNvGrpSpPr/>
          <p:nvPr/>
        </p:nvGrpSpPr>
        <p:grpSpPr>
          <a:xfrm>
            <a:off x="9586800" y="2314440"/>
            <a:ext cx="285480" cy="299520"/>
            <a:chOff x="9586800" y="2314440"/>
            <a:chExt cx="285480" cy="299520"/>
          </a:xfrm>
        </p:grpSpPr>
        <p:sp>
          <p:nvSpPr>
            <p:cNvPr id="492" name="Freeform 22"/>
            <p:cNvSpPr/>
            <p:nvPr/>
          </p:nvSpPr>
          <p:spPr>
            <a:xfrm>
              <a:off x="9586800" y="2314440"/>
              <a:ext cx="285480" cy="29952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3" name="Group 23"/>
          <p:cNvGrpSpPr/>
          <p:nvPr/>
        </p:nvGrpSpPr>
        <p:grpSpPr>
          <a:xfrm>
            <a:off x="9601200" y="2805840"/>
            <a:ext cx="7543440" cy="2914200"/>
            <a:chOff x="9601200" y="2805840"/>
            <a:chExt cx="7543440" cy="2914200"/>
          </a:xfrm>
        </p:grpSpPr>
        <p:sp>
          <p:nvSpPr>
            <p:cNvPr id="494" name="Freeform 24"/>
            <p:cNvSpPr/>
            <p:nvPr/>
          </p:nvSpPr>
          <p:spPr>
            <a:xfrm>
              <a:off x="9601200" y="2805840"/>
              <a:ext cx="7543440" cy="2914200"/>
            </a:xfrm>
            <a:custGeom>
              <a:avLst/>
              <a:gdLst>
                <a:gd name="textAreaLeft" fmla="*/ 0 w 7543440"/>
                <a:gd name="textAreaRight" fmla="*/ 7543800 w 7543440"/>
                <a:gd name="textAreaTop" fmla="*/ 0 h 2914200"/>
                <a:gd name="textAreaBottom" fmla="*/ 2914560 h 2914200"/>
              </a:gdLst>
              <a:ahLst/>
              <a:rect l="textAreaLeft" t="textAreaTop" r="textAreaRight" b="textAreaBottom"/>
              <a:pathLst>
                <a:path w="10058400" h="3886200">
                  <a:moveTo>
                    <a:pt x="0" y="0"/>
                  </a:moveTo>
                  <a:lnTo>
                    <a:pt x="10058400" y="0"/>
                  </a:lnTo>
                  <a:lnTo>
                    <a:pt x="10058400" y="3886200"/>
                  </a:lnTo>
                  <a:lnTo>
                    <a:pt x="0" y="3886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5" name="Group 25"/>
          <p:cNvGrpSpPr/>
          <p:nvPr/>
        </p:nvGrpSpPr>
        <p:grpSpPr>
          <a:xfrm>
            <a:off x="843120" y="6329520"/>
            <a:ext cx="5328720" cy="571320"/>
            <a:chOff x="843120" y="6329520"/>
            <a:chExt cx="5328720" cy="571320"/>
          </a:xfrm>
        </p:grpSpPr>
        <p:sp>
          <p:nvSpPr>
            <p:cNvPr id="496" name="Freeform 26"/>
            <p:cNvSpPr/>
            <p:nvPr/>
          </p:nvSpPr>
          <p:spPr>
            <a:xfrm>
              <a:off x="843120" y="6329520"/>
              <a:ext cx="5328720" cy="571320"/>
            </a:xfrm>
            <a:custGeom>
              <a:avLst/>
              <a:gdLst>
                <a:gd name="textAreaLeft" fmla="*/ 0 w 5328720"/>
                <a:gd name="textAreaRight" fmla="*/ 5329080 w 532872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7105650" h="762000">
                  <a:moveTo>
                    <a:pt x="0" y="0"/>
                  </a:moveTo>
                  <a:lnTo>
                    <a:pt x="7105650" y="0"/>
                  </a:lnTo>
                  <a:lnTo>
                    <a:pt x="71056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7" name="Group 27"/>
          <p:cNvGrpSpPr/>
          <p:nvPr/>
        </p:nvGrpSpPr>
        <p:grpSpPr>
          <a:xfrm>
            <a:off x="857160" y="6342120"/>
            <a:ext cx="5295240" cy="421200"/>
            <a:chOff x="857160" y="6342120"/>
            <a:chExt cx="5295240" cy="421200"/>
          </a:xfrm>
        </p:grpSpPr>
        <p:sp>
          <p:nvSpPr>
            <p:cNvPr id="498" name="Freeform 28"/>
            <p:cNvSpPr/>
            <p:nvPr/>
          </p:nvSpPr>
          <p:spPr>
            <a:xfrm>
              <a:off x="857160" y="6349320"/>
              <a:ext cx="5295240" cy="414000"/>
            </a:xfrm>
            <a:custGeom>
              <a:avLst/>
              <a:gdLst>
                <a:gd name="textAreaLeft" fmla="*/ 0 w 5295240"/>
                <a:gd name="textAreaRight" fmla="*/ 5295600 w 5295240"/>
                <a:gd name="textAreaTop" fmla="*/ 0 h 414000"/>
                <a:gd name="textAreaBottom" fmla="*/ 414360 h 414000"/>
              </a:gdLst>
              <a:ahLst/>
              <a:rect l="textAreaLeft" t="textAreaTop" r="textAreaRight" b="textAreaBottom"/>
              <a:pathLst>
                <a:path w="7061002" h="552450">
                  <a:moveTo>
                    <a:pt x="0" y="0"/>
                  </a:moveTo>
                  <a:lnTo>
                    <a:pt x="7061002" y="0"/>
                  </a:lnTo>
                  <a:lnTo>
                    <a:pt x="7061002" y="552450"/>
                  </a:lnTo>
                  <a:lnTo>
                    <a:pt x="0" y="55245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9" name="TextBox 29"/>
            <p:cNvSpPr/>
            <p:nvPr/>
          </p:nvSpPr>
          <p:spPr>
            <a:xfrm>
              <a:off x="857160" y="6342120"/>
              <a:ext cx="5295240" cy="42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Missing Data Strategy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0" name="Group 30"/>
          <p:cNvGrpSpPr/>
          <p:nvPr/>
        </p:nvGrpSpPr>
        <p:grpSpPr>
          <a:xfrm>
            <a:off x="843120" y="7129440"/>
            <a:ext cx="199800" cy="213840"/>
            <a:chOff x="843120" y="7129440"/>
            <a:chExt cx="199800" cy="213840"/>
          </a:xfrm>
        </p:grpSpPr>
        <p:sp>
          <p:nvSpPr>
            <p:cNvPr id="501" name="Freeform 31"/>
            <p:cNvSpPr/>
            <p:nvPr/>
          </p:nvSpPr>
          <p:spPr>
            <a:xfrm>
              <a:off x="843120" y="7129440"/>
              <a:ext cx="199800" cy="2138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66700" h="28575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2" name="Group 32"/>
          <p:cNvGrpSpPr/>
          <p:nvPr/>
        </p:nvGrpSpPr>
        <p:grpSpPr>
          <a:xfrm>
            <a:off x="1143000" y="7106400"/>
            <a:ext cx="3789360" cy="299520"/>
            <a:chOff x="1143000" y="7106400"/>
            <a:chExt cx="3789360" cy="299520"/>
          </a:xfrm>
        </p:grpSpPr>
        <p:sp>
          <p:nvSpPr>
            <p:cNvPr id="503" name="Freeform 33"/>
            <p:cNvSpPr/>
            <p:nvPr/>
          </p:nvSpPr>
          <p:spPr>
            <a:xfrm>
              <a:off x="1143000" y="7106400"/>
              <a:ext cx="3789360" cy="299520"/>
            </a:xfrm>
            <a:custGeom>
              <a:avLst/>
              <a:gdLst>
                <a:gd name="textAreaLeft" fmla="*/ 0 w 3789360"/>
                <a:gd name="textAreaRight" fmla="*/ 3789720 w 378936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5053012" h="400050">
                  <a:moveTo>
                    <a:pt x="0" y="0"/>
                  </a:moveTo>
                  <a:lnTo>
                    <a:pt x="5053012" y="0"/>
                  </a:lnTo>
                  <a:lnTo>
                    <a:pt x="5053012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4" name="TextBox 34"/>
            <p:cNvSpPr/>
            <p:nvPr/>
          </p:nvSpPr>
          <p:spPr>
            <a:xfrm>
              <a:off x="1143000" y="7106400"/>
              <a:ext cx="3789360" cy="29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DeliveryDate: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92% missing → </a:t>
              </a: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DROP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5" name="Group 35"/>
          <p:cNvGrpSpPr/>
          <p:nvPr/>
        </p:nvGrpSpPr>
        <p:grpSpPr>
          <a:xfrm>
            <a:off x="843120" y="7572240"/>
            <a:ext cx="199800" cy="213840"/>
            <a:chOff x="843120" y="7572240"/>
            <a:chExt cx="199800" cy="213840"/>
          </a:xfrm>
        </p:grpSpPr>
        <p:sp>
          <p:nvSpPr>
            <p:cNvPr id="506" name="Freeform 36"/>
            <p:cNvSpPr/>
            <p:nvPr/>
          </p:nvSpPr>
          <p:spPr>
            <a:xfrm>
              <a:off x="843120" y="7572240"/>
              <a:ext cx="199800" cy="2138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66700" h="28575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7" name="Group 37"/>
          <p:cNvGrpSpPr/>
          <p:nvPr/>
        </p:nvGrpSpPr>
        <p:grpSpPr>
          <a:xfrm>
            <a:off x="1143000" y="7549560"/>
            <a:ext cx="5009760" cy="599760"/>
            <a:chOff x="1143000" y="7549560"/>
            <a:chExt cx="5009760" cy="599760"/>
          </a:xfrm>
        </p:grpSpPr>
        <p:sp>
          <p:nvSpPr>
            <p:cNvPr id="508" name="Freeform 38"/>
            <p:cNvSpPr/>
            <p:nvPr/>
          </p:nvSpPr>
          <p:spPr>
            <a:xfrm>
              <a:off x="1143000" y="7549560"/>
              <a:ext cx="5009760" cy="599760"/>
            </a:xfrm>
            <a:custGeom>
              <a:avLst/>
              <a:gdLst>
                <a:gd name="textAreaLeft" fmla="*/ 0 w 5009760"/>
                <a:gd name="textAreaRight" fmla="*/ 5010120 w 500976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6680002" h="800100">
                  <a:moveTo>
                    <a:pt x="0" y="0"/>
                  </a:moveTo>
                  <a:lnTo>
                    <a:pt x="6680002" y="0"/>
                  </a:lnTo>
                  <a:lnTo>
                    <a:pt x="6680002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9" name="TextBox 39"/>
            <p:cNvSpPr/>
            <p:nvPr/>
          </p:nvSpPr>
          <p:spPr>
            <a:xfrm>
              <a:off x="1143000" y="7549560"/>
              <a:ext cx="500976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Standing: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87% missing → fill </a:t>
              </a: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'Unknown'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(missingness is signal)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0" name="Group 40"/>
          <p:cNvGrpSpPr/>
          <p:nvPr/>
        </p:nvGrpSpPr>
        <p:grpSpPr>
          <a:xfrm>
            <a:off x="843120" y="8315280"/>
            <a:ext cx="199800" cy="213840"/>
            <a:chOff x="843120" y="8315280"/>
            <a:chExt cx="199800" cy="213840"/>
          </a:xfrm>
        </p:grpSpPr>
        <p:sp>
          <p:nvSpPr>
            <p:cNvPr id="511" name="Freeform 41"/>
            <p:cNvSpPr/>
            <p:nvPr/>
          </p:nvSpPr>
          <p:spPr>
            <a:xfrm>
              <a:off x="843120" y="8315280"/>
              <a:ext cx="199800" cy="2138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66700" h="28575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2" name="Group 42"/>
          <p:cNvGrpSpPr/>
          <p:nvPr/>
        </p:nvGrpSpPr>
        <p:grpSpPr>
          <a:xfrm>
            <a:off x="1143000" y="8292240"/>
            <a:ext cx="5009760" cy="599760"/>
            <a:chOff x="1143000" y="8292240"/>
            <a:chExt cx="5009760" cy="599760"/>
          </a:xfrm>
        </p:grpSpPr>
        <p:sp>
          <p:nvSpPr>
            <p:cNvPr id="513" name="Freeform 43"/>
            <p:cNvSpPr/>
            <p:nvPr/>
          </p:nvSpPr>
          <p:spPr>
            <a:xfrm>
              <a:off x="1143000" y="8292240"/>
              <a:ext cx="5009760" cy="599760"/>
            </a:xfrm>
            <a:custGeom>
              <a:avLst/>
              <a:gdLst>
                <a:gd name="textAreaLeft" fmla="*/ 0 w 5009760"/>
                <a:gd name="textAreaRight" fmla="*/ 5010120 w 500976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6680002" h="800100">
                  <a:moveTo>
                    <a:pt x="0" y="0"/>
                  </a:moveTo>
                  <a:lnTo>
                    <a:pt x="6680002" y="0"/>
                  </a:lnTo>
                  <a:lnTo>
                    <a:pt x="6680002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4" name="TextBox 44"/>
            <p:cNvSpPr/>
            <p:nvPr/>
          </p:nvSpPr>
          <p:spPr>
            <a:xfrm>
              <a:off x="1143000" y="8292240"/>
              <a:ext cx="500976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FloorNumber: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58% missing → create </a:t>
              </a: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FloorNumber_Missing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flag + impute median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5" name="Group 45"/>
          <p:cNvGrpSpPr/>
          <p:nvPr/>
        </p:nvGrpSpPr>
        <p:grpSpPr>
          <a:xfrm>
            <a:off x="843120" y="9058320"/>
            <a:ext cx="199800" cy="213840"/>
            <a:chOff x="843120" y="9058320"/>
            <a:chExt cx="199800" cy="213840"/>
          </a:xfrm>
        </p:grpSpPr>
        <p:sp>
          <p:nvSpPr>
            <p:cNvPr id="516" name="Freeform 46"/>
            <p:cNvSpPr/>
            <p:nvPr/>
          </p:nvSpPr>
          <p:spPr>
            <a:xfrm>
              <a:off x="843120" y="9058320"/>
              <a:ext cx="199800" cy="2138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66700" h="28575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7" name="Group 47"/>
          <p:cNvGrpSpPr/>
          <p:nvPr/>
        </p:nvGrpSpPr>
        <p:grpSpPr>
          <a:xfrm>
            <a:off x="1143000" y="9035280"/>
            <a:ext cx="5009760" cy="599760"/>
            <a:chOff x="1143000" y="9035280"/>
            <a:chExt cx="5009760" cy="599760"/>
          </a:xfrm>
        </p:grpSpPr>
        <p:sp>
          <p:nvSpPr>
            <p:cNvPr id="518" name="Freeform 48"/>
            <p:cNvSpPr/>
            <p:nvPr/>
          </p:nvSpPr>
          <p:spPr>
            <a:xfrm>
              <a:off x="1143000" y="9035280"/>
              <a:ext cx="5009760" cy="599760"/>
            </a:xfrm>
            <a:custGeom>
              <a:avLst/>
              <a:gdLst>
                <a:gd name="textAreaLeft" fmla="*/ 0 w 5009760"/>
                <a:gd name="textAreaRight" fmla="*/ 5010120 w 500976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6680002" h="800100">
                  <a:moveTo>
                    <a:pt x="0" y="0"/>
                  </a:moveTo>
                  <a:lnTo>
                    <a:pt x="6680002" y="0"/>
                  </a:lnTo>
                  <a:lnTo>
                    <a:pt x="6680002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TextBox 49"/>
            <p:cNvSpPr/>
            <p:nvPr/>
          </p:nvSpPr>
          <p:spPr>
            <a:xfrm>
              <a:off x="1143000" y="9035280"/>
              <a:ext cx="500976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Other numerics: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&lt;20% missing → </a:t>
              </a: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city-level median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imputation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0" name="Group 50"/>
          <p:cNvGrpSpPr/>
          <p:nvPr/>
        </p:nvGrpSpPr>
        <p:grpSpPr>
          <a:xfrm>
            <a:off x="6472080" y="6329520"/>
            <a:ext cx="5343120" cy="571320"/>
            <a:chOff x="6472080" y="6329520"/>
            <a:chExt cx="5343120" cy="571320"/>
          </a:xfrm>
        </p:grpSpPr>
        <p:sp>
          <p:nvSpPr>
            <p:cNvPr id="521" name="Freeform 51"/>
            <p:cNvSpPr/>
            <p:nvPr/>
          </p:nvSpPr>
          <p:spPr>
            <a:xfrm>
              <a:off x="6472080" y="6329520"/>
              <a:ext cx="5343120" cy="571320"/>
            </a:xfrm>
            <a:custGeom>
              <a:avLst/>
              <a:gdLst>
                <a:gd name="textAreaLeft" fmla="*/ 0 w 5343120"/>
                <a:gd name="textAreaRight" fmla="*/ 5343480 w 534312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7124700" h="762000">
                  <a:moveTo>
                    <a:pt x="0" y="0"/>
                  </a:moveTo>
                  <a:lnTo>
                    <a:pt x="7124700" y="0"/>
                  </a:lnTo>
                  <a:lnTo>
                    <a:pt x="71247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2" name="Group 52"/>
          <p:cNvGrpSpPr/>
          <p:nvPr/>
        </p:nvGrpSpPr>
        <p:grpSpPr>
          <a:xfrm>
            <a:off x="6495840" y="6342120"/>
            <a:ext cx="5295600" cy="421200"/>
            <a:chOff x="6495840" y="6342120"/>
            <a:chExt cx="5295600" cy="421200"/>
          </a:xfrm>
        </p:grpSpPr>
        <p:sp>
          <p:nvSpPr>
            <p:cNvPr id="523" name="Freeform 53"/>
            <p:cNvSpPr/>
            <p:nvPr/>
          </p:nvSpPr>
          <p:spPr>
            <a:xfrm>
              <a:off x="6495840" y="6349320"/>
              <a:ext cx="5295600" cy="414000"/>
            </a:xfrm>
            <a:custGeom>
              <a:avLst/>
              <a:gdLst>
                <a:gd name="textAreaLeft" fmla="*/ 0 w 5295600"/>
                <a:gd name="textAreaRight" fmla="*/ 5295960 w 5295600"/>
                <a:gd name="textAreaTop" fmla="*/ 0 h 414000"/>
                <a:gd name="textAreaBottom" fmla="*/ 414360 h 414000"/>
              </a:gdLst>
              <a:ahLst/>
              <a:rect l="textAreaLeft" t="textAreaTop" r="textAreaRight" b="textAreaBottom"/>
              <a:pathLst>
                <a:path w="7061300" h="552450">
                  <a:moveTo>
                    <a:pt x="0" y="0"/>
                  </a:moveTo>
                  <a:lnTo>
                    <a:pt x="7061300" y="0"/>
                  </a:lnTo>
                  <a:lnTo>
                    <a:pt x="7061300" y="552450"/>
                  </a:lnTo>
                  <a:lnTo>
                    <a:pt x="0" y="55245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4" name="TextBox 54"/>
            <p:cNvSpPr/>
            <p:nvPr/>
          </p:nvSpPr>
          <p:spPr>
            <a:xfrm>
              <a:off x="6495840" y="6342120"/>
              <a:ext cx="5295600" cy="42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Target Transformation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5" name="Group 55"/>
          <p:cNvGrpSpPr/>
          <p:nvPr/>
        </p:nvGrpSpPr>
        <p:grpSpPr>
          <a:xfrm>
            <a:off x="6472080" y="7129440"/>
            <a:ext cx="213840" cy="213840"/>
            <a:chOff x="6472080" y="7129440"/>
            <a:chExt cx="213840" cy="213840"/>
          </a:xfrm>
        </p:grpSpPr>
        <p:sp>
          <p:nvSpPr>
            <p:cNvPr id="526" name="Freeform 56"/>
            <p:cNvSpPr/>
            <p:nvPr/>
          </p:nvSpPr>
          <p:spPr>
            <a:xfrm>
              <a:off x="6472080" y="712944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7" name="Group 57"/>
          <p:cNvGrpSpPr/>
          <p:nvPr/>
        </p:nvGrpSpPr>
        <p:grpSpPr>
          <a:xfrm>
            <a:off x="6781680" y="7106400"/>
            <a:ext cx="5009760" cy="599760"/>
            <a:chOff x="6781680" y="7106400"/>
            <a:chExt cx="5009760" cy="599760"/>
          </a:xfrm>
        </p:grpSpPr>
        <p:sp>
          <p:nvSpPr>
            <p:cNvPr id="528" name="Freeform 58"/>
            <p:cNvSpPr/>
            <p:nvPr/>
          </p:nvSpPr>
          <p:spPr>
            <a:xfrm>
              <a:off x="6781680" y="7106400"/>
              <a:ext cx="5009760" cy="599760"/>
            </a:xfrm>
            <a:custGeom>
              <a:avLst/>
              <a:gdLst>
                <a:gd name="textAreaLeft" fmla="*/ 0 w 5009760"/>
                <a:gd name="textAreaRight" fmla="*/ 5010120 w 500976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6680300" h="800100">
                  <a:moveTo>
                    <a:pt x="0" y="0"/>
                  </a:moveTo>
                  <a:lnTo>
                    <a:pt x="6680300" y="0"/>
                  </a:lnTo>
                  <a:lnTo>
                    <a:pt x="6680300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9" name="TextBox 59"/>
            <p:cNvSpPr/>
            <p:nvPr/>
          </p:nvSpPr>
          <p:spPr>
            <a:xfrm>
              <a:off x="6781680" y="7106400"/>
              <a:ext cx="500976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SalePrice skewness: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41.81 → </a:t>
              </a: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1.86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after Log_SalePrice = log1p(SalePrice)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0" name="Group 60"/>
          <p:cNvGrpSpPr/>
          <p:nvPr/>
        </p:nvGrpSpPr>
        <p:grpSpPr>
          <a:xfrm>
            <a:off x="6472080" y="7872480"/>
            <a:ext cx="213840" cy="213840"/>
            <a:chOff x="6472080" y="7872480"/>
            <a:chExt cx="213840" cy="213840"/>
          </a:xfrm>
        </p:grpSpPr>
        <p:sp>
          <p:nvSpPr>
            <p:cNvPr id="531" name="Freeform 61"/>
            <p:cNvSpPr/>
            <p:nvPr/>
          </p:nvSpPr>
          <p:spPr>
            <a:xfrm>
              <a:off x="6472080" y="787248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2" name="Group 62"/>
          <p:cNvGrpSpPr/>
          <p:nvPr/>
        </p:nvGrpSpPr>
        <p:grpSpPr>
          <a:xfrm>
            <a:off x="6781680" y="7849440"/>
            <a:ext cx="5009760" cy="599760"/>
            <a:chOff x="6781680" y="7849440"/>
            <a:chExt cx="5009760" cy="599760"/>
          </a:xfrm>
        </p:grpSpPr>
        <p:sp>
          <p:nvSpPr>
            <p:cNvPr id="533" name="Freeform 63"/>
            <p:cNvSpPr/>
            <p:nvPr/>
          </p:nvSpPr>
          <p:spPr>
            <a:xfrm>
              <a:off x="6781680" y="7849440"/>
              <a:ext cx="5009760" cy="599760"/>
            </a:xfrm>
            <a:custGeom>
              <a:avLst/>
              <a:gdLst>
                <a:gd name="textAreaLeft" fmla="*/ 0 w 5009760"/>
                <a:gd name="textAreaRight" fmla="*/ 5010120 w 500976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6680300" h="800100">
                  <a:moveTo>
                    <a:pt x="0" y="0"/>
                  </a:moveTo>
                  <a:lnTo>
                    <a:pt x="6680300" y="0"/>
                  </a:lnTo>
                  <a:lnTo>
                    <a:pt x="6680300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4" name="TextBox 64"/>
            <p:cNvSpPr/>
            <p:nvPr/>
          </p:nvSpPr>
          <p:spPr>
            <a:xfrm>
              <a:off x="6781680" y="7849440"/>
              <a:ext cx="500976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Normalizes extreme right-skew for linear model compatibility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5" name="Group 65"/>
          <p:cNvGrpSpPr/>
          <p:nvPr/>
        </p:nvGrpSpPr>
        <p:grpSpPr>
          <a:xfrm>
            <a:off x="12115800" y="6329520"/>
            <a:ext cx="5328720" cy="571320"/>
            <a:chOff x="12115800" y="6329520"/>
            <a:chExt cx="5328720" cy="571320"/>
          </a:xfrm>
        </p:grpSpPr>
        <p:sp>
          <p:nvSpPr>
            <p:cNvPr id="536" name="Freeform 66"/>
            <p:cNvSpPr/>
            <p:nvPr/>
          </p:nvSpPr>
          <p:spPr>
            <a:xfrm>
              <a:off x="12115800" y="6329520"/>
              <a:ext cx="5328720" cy="571320"/>
            </a:xfrm>
            <a:custGeom>
              <a:avLst/>
              <a:gdLst>
                <a:gd name="textAreaLeft" fmla="*/ 0 w 5328720"/>
                <a:gd name="textAreaRight" fmla="*/ 5329080 w 532872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7105650" h="762000">
                  <a:moveTo>
                    <a:pt x="0" y="0"/>
                  </a:moveTo>
                  <a:lnTo>
                    <a:pt x="7105650" y="0"/>
                  </a:lnTo>
                  <a:lnTo>
                    <a:pt x="71056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7" name="Group 67"/>
          <p:cNvGrpSpPr/>
          <p:nvPr/>
        </p:nvGrpSpPr>
        <p:grpSpPr>
          <a:xfrm>
            <a:off x="12134880" y="6342120"/>
            <a:ext cx="5295240" cy="421200"/>
            <a:chOff x="12134880" y="6342120"/>
            <a:chExt cx="5295240" cy="421200"/>
          </a:xfrm>
        </p:grpSpPr>
        <p:sp>
          <p:nvSpPr>
            <p:cNvPr id="538" name="Freeform 68"/>
            <p:cNvSpPr/>
            <p:nvPr/>
          </p:nvSpPr>
          <p:spPr>
            <a:xfrm>
              <a:off x="12134880" y="6349320"/>
              <a:ext cx="5295240" cy="414000"/>
            </a:xfrm>
            <a:custGeom>
              <a:avLst/>
              <a:gdLst>
                <a:gd name="textAreaLeft" fmla="*/ 0 w 5295240"/>
                <a:gd name="textAreaRight" fmla="*/ 5295600 w 5295240"/>
                <a:gd name="textAreaTop" fmla="*/ 0 h 414000"/>
                <a:gd name="textAreaBottom" fmla="*/ 414360 h 414000"/>
              </a:gdLst>
              <a:ahLst/>
              <a:rect l="textAreaLeft" t="textAreaTop" r="textAreaRight" b="textAreaBottom"/>
              <a:pathLst>
                <a:path w="7061002" h="552450">
                  <a:moveTo>
                    <a:pt x="0" y="0"/>
                  </a:moveTo>
                  <a:lnTo>
                    <a:pt x="7061002" y="0"/>
                  </a:lnTo>
                  <a:lnTo>
                    <a:pt x="7061002" y="552450"/>
                  </a:lnTo>
                  <a:lnTo>
                    <a:pt x="0" y="552450"/>
                  </a:lnTo>
                  <a:close/>
                </a:path>
              </a:pathLst>
            </a:custGeom>
            <a:blipFill rotWithShape="0">
              <a:blip r:embed="rId2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9" name="TextBox 69"/>
            <p:cNvSpPr/>
            <p:nvPr/>
          </p:nvSpPr>
          <p:spPr>
            <a:xfrm>
              <a:off x="12134880" y="6342120"/>
              <a:ext cx="5295240" cy="42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520"/>
                </a:lnSpc>
              </a:pPr>
              <a:r>
                <a:rPr b="1" lang="en-US" sz="210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Outlier &amp; Leakage Controls</a:t>
              </a:r>
              <a:endParaRPr b="0" lang="fr-F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0" name="Group 70"/>
          <p:cNvGrpSpPr/>
          <p:nvPr/>
        </p:nvGrpSpPr>
        <p:grpSpPr>
          <a:xfrm>
            <a:off x="12115800" y="7129440"/>
            <a:ext cx="213840" cy="213840"/>
            <a:chOff x="12115800" y="7129440"/>
            <a:chExt cx="213840" cy="213840"/>
          </a:xfrm>
        </p:grpSpPr>
        <p:sp>
          <p:nvSpPr>
            <p:cNvPr id="541" name="Freeform 71"/>
            <p:cNvSpPr/>
            <p:nvPr/>
          </p:nvSpPr>
          <p:spPr>
            <a:xfrm>
              <a:off x="12115800" y="712944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2" name="Group 72"/>
          <p:cNvGrpSpPr/>
          <p:nvPr/>
        </p:nvGrpSpPr>
        <p:grpSpPr>
          <a:xfrm>
            <a:off x="12420360" y="7106400"/>
            <a:ext cx="5009760" cy="599760"/>
            <a:chOff x="12420360" y="7106400"/>
            <a:chExt cx="5009760" cy="599760"/>
          </a:xfrm>
        </p:grpSpPr>
        <p:sp>
          <p:nvSpPr>
            <p:cNvPr id="543" name="Freeform 73"/>
            <p:cNvSpPr/>
            <p:nvPr/>
          </p:nvSpPr>
          <p:spPr>
            <a:xfrm>
              <a:off x="12420360" y="7106400"/>
              <a:ext cx="5009760" cy="599760"/>
            </a:xfrm>
            <a:custGeom>
              <a:avLst/>
              <a:gdLst>
                <a:gd name="textAreaLeft" fmla="*/ 0 w 5009760"/>
                <a:gd name="textAreaRight" fmla="*/ 5010120 w 500976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6680002" h="800100">
                  <a:moveTo>
                    <a:pt x="0" y="0"/>
                  </a:moveTo>
                  <a:lnTo>
                    <a:pt x="6680002" y="0"/>
                  </a:lnTo>
                  <a:lnTo>
                    <a:pt x="6680002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3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4" name="TextBox 74"/>
            <p:cNvSpPr/>
            <p:nvPr/>
          </p:nvSpPr>
          <p:spPr>
            <a:xfrm>
              <a:off x="12420360" y="7106400"/>
              <a:ext cx="500976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Price floor/ceiling: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40,000 → 6,000,000 TND (11 rows removed)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5" name="Group 75"/>
          <p:cNvGrpSpPr/>
          <p:nvPr/>
        </p:nvGrpSpPr>
        <p:grpSpPr>
          <a:xfrm>
            <a:off x="12115800" y="7872480"/>
            <a:ext cx="213840" cy="213840"/>
            <a:chOff x="12115800" y="7872480"/>
            <a:chExt cx="213840" cy="213840"/>
          </a:xfrm>
        </p:grpSpPr>
        <p:sp>
          <p:nvSpPr>
            <p:cNvPr id="546" name="Freeform 76"/>
            <p:cNvSpPr/>
            <p:nvPr/>
          </p:nvSpPr>
          <p:spPr>
            <a:xfrm>
              <a:off x="12115800" y="787248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7" name="Group 77"/>
          <p:cNvGrpSpPr/>
          <p:nvPr/>
        </p:nvGrpSpPr>
        <p:grpSpPr>
          <a:xfrm>
            <a:off x="12420360" y="7849440"/>
            <a:ext cx="5009760" cy="599760"/>
            <a:chOff x="12420360" y="7849440"/>
            <a:chExt cx="5009760" cy="599760"/>
          </a:xfrm>
        </p:grpSpPr>
        <p:sp>
          <p:nvSpPr>
            <p:cNvPr id="548" name="Freeform 78"/>
            <p:cNvSpPr/>
            <p:nvPr/>
          </p:nvSpPr>
          <p:spPr>
            <a:xfrm>
              <a:off x="12420360" y="7849440"/>
              <a:ext cx="5009760" cy="599760"/>
            </a:xfrm>
            <a:custGeom>
              <a:avLst/>
              <a:gdLst>
                <a:gd name="textAreaLeft" fmla="*/ 0 w 5009760"/>
                <a:gd name="textAreaRight" fmla="*/ 5010120 w 500976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6680002" h="800100">
                  <a:moveTo>
                    <a:pt x="0" y="0"/>
                  </a:moveTo>
                  <a:lnTo>
                    <a:pt x="6680002" y="0"/>
                  </a:lnTo>
                  <a:lnTo>
                    <a:pt x="6680002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3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9" name="TextBox 79"/>
            <p:cNvSpPr/>
            <p:nvPr/>
          </p:nvSpPr>
          <p:spPr>
            <a:xfrm>
              <a:off x="12420360" y="7849440"/>
              <a:ext cx="500976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Drop leakage: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PricePerSqm (calculated from target)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0" name="Group 80"/>
          <p:cNvGrpSpPr/>
          <p:nvPr/>
        </p:nvGrpSpPr>
        <p:grpSpPr>
          <a:xfrm>
            <a:off x="12115800" y="8615520"/>
            <a:ext cx="213840" cy="213840"/>
            <a:chOff x="12115800" y="8615520"/>
            <a:chExt cx="213840" cy="213840"/>
          </a:xfrm>
        </p:grpSpPr>
        <p:sp>
          <p:nvSpPr>
            <p:cNvPr id="551" name="Freeform 81"/>
            <p:cNvSpPr/>
            <p:nvPr/>
          </p:nvSpPr>
          <p:spPr>
            <a:xfrm>
              <a:off x="12115800" y="861552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2" name="Group 82"/>
          <p:cNvGrpSpPr/>
          <p:nvPr/>
        </p:nvGrpSpPr>
        <p:grpSpPr>
          <a:xfrm>
            <a:off x="12420360" y="8592480"/>
            <a:ext cx="5009760" cy="599760"/>
            <a:chOff x="12420360" y="8592480"/>
            <a:chExt cx="5009760" cy="599760"/>
          </a:xfrm>
        </p:grpSpPr>
        <p:sp>
          <p:nvSpPr>
            <p:cNvPr id="553" name="Freeform 83"/>
            <p:cNvSpPr/>
            <p:nvPr/>
          </p:nvSpPr>
          <p:spPr>
            <a:xfrm>
              <a:off x="12420360" y="8592480"/>
              <a:ext cx="5009760" cy="599760"/>
            </a:xfrm>
            <a:custGeom>
              <a:avLst/>
              <a:gdLst>
                <a:gd name="textAreaLeft" fmla="*/ 0 w 5009760"/>
                <a:gd name="textAreaRight" fmla="*/ 5010120 w 500976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6680002" h="800100">
                  <a:moveTo>
                    <a:pt x="0" y="0"/>
                  </a:moveTo>
                  <a:lnTo>
                    <a:pt x="6680002" y="0"/>
                  </a:lnTo>
                  <a:lnTo>
                    <a:pt x="6680002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3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TextBox 84"/>
            <p:cNvSpPr/>
            <p:nvPr/>
          </p:nvSpPr>
          <p:spPr>
            <a:xfrm>
              <a:off x="12420360" y="8592480"/>
              <a:ext cx="500976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Caps:</a:t>
              </a:r>
              <a:r>
                <a:rPr b="0" lang="en-US" sz="150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 Bedroom ≤10, FullBath ≤10, LotArea ≤1,000 sqm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556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7" name="Group 4"/>
          <p:cNvGrpSpPr/>
          <p:nvPr/>
        </p:nvGrpSpPr>
        <p:grpSpPr>
          <a:xfrm>
            <a:off x="9129600" y="1328760"/>
            <a:ext cx="8314920" cy="4057200"/>
            <a:chOff x="9129600" y="1328760"/>
            <a:chExt cx="8314920" cy="4057200"/>
          </a:xfrm>
        </p:grpSpPr>
        <p:sp>
          <p:nvSpPr>
            <p:cNvPr id="558" name="Freeform 5"/>
            <p:cNvSpPr/>
            <p:nvPr/>
          </p:nvSpPr>
          <p:spPr>
            <a:xfrm>
              <a:off x="9129600" y="1328760"/>
              <a:ext cx="8314920" cy="4057200"/>
            </a:xfrm>
            <a:custGeom>
              <a:avLst/>
              <a:gdLst>
                <a:gd name="textAreaLeft" fmla="*/ 0 w 8314920"/>
                <a:gd name="textAreaRight" fmla="*/ 8315280 w 8314920"/>
                <a:gd name="textAreaTop" fmla="*/ 0 h 4057200"/>
                <a:gd name="textAreaBottom" fmla="*/ 4057560 h 4057200"/>
              </a:gdLst>
              <a:ahLst/>
              <a:rect l="textAreaLeft" t="textAreaTop" r="textAreaRight" b="textAreaBottom"/>
              <a:pathLst>
                <a:path w="11087100" h="5410200">
                  <a:moveTo>
                    <a:pt x="0" y="0"/>
                  </a:moveTo>
                  <a:lnTo>
                    <a:pt x="11087100" y="0"/>
                  </a:lnTo>
                  <a:lnTo>
                    <a:pt x="11087100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9" name="Group 6"/>
          <p:cNvGrpSpPr/>
          <p:nvPr/>
        </p:nvGrpSpPr>
        <p:grpSpPr>
          <a:xfrm>
            <a:off x="9129600" y="4957920"/>
            <a:ext cx="8314920" cy="4057200"/>
            <a:chOff x="9129600" y="4957920"/>
            <a:chExt cx="8314920" cy="4057200"/>
          </a:xfrm>
        </p:grpSpPr>
        <p:sp>
          <p:nvSpPr>
            <p:cNvPr id="560" name="Freeform 7"/>
            <p:cNvSpPr/>
            <p:nvPr/>
          </p:nvSpPr>
          <p:spPr>
            <a:xfrm>
              <a:off x="9129600" y="4957920"/>
              <a:ext cx="8314920" cy="4057200"/>
            </a:xfrm>
            <a:custGeom>
              <a:avLst/>
              <a:gdLst>
                <a:gd name="textAreaLeft" fmla="*/ 0 w 8314920"/>
                <a:gd name="textAreaRight" fmla="*/ 8315280 w 8314920"/>
                <a:gd name="textAreaTop" fmla="*/ 0 h 4057200"/>
                <a:gd name="textAreaBottom" fmla="*/ 4057560 h 4057200"/>
              </a:gdLst>
              <a:ahLst/>
              <a:rect l="textAreaLeft" t="textAreaTop" r="textAreaRight" b="textAreaBottom"/>
              <a:pathLst>
                <a:path w="11087100" h="5410200">
                  <a:moveTo>
                    <a:pt x="0" y="0"/>
                  </a:moveTo>
                  <a:lnTo>
                    <a:pt x="11087100" y="0"/>
                  </a:lnTo>
                  <a:lnTo>
                    <a:pt x="11087100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1" name="Group 8"/>
          <p:cNvGrpSpPr/>
          <p:nvPr/>
        </p:nvGrpSpPr>
        <p:grpSpPr>
          <a:xfrm>
            <a:off x="9658440" y="5900760"/>
            <a:ext cx="7257600" cy="2528640"/>
            <a:chOff x="9658440" y="5900760"/>
            <a:chExt cx="7257600" cy="2528640"/>
          </a:xfrm>
        </p:grpSpPr>
        <p:sp>
          <p:nvSpPr>
            <p:cNvPr id="562" name="Freeform 9"/>
            <p:cNvSpPr/>
            <p:nvPr/>
          </p:nvSpPr>
          <p:spPr>
            <a:xfrm>
              <a:off x="9658440" y="5900760"/>
              <a:ext cx="7257600" cy="2528640"/>
            </a:xfrm>
            <a:custGeom>
              <a:avLst/>
              <a:gdLst>
                <a:gd name="textAreaLeft" fmla="*/ 0 w 7257600"/>
                <a:gd name="textAreaRight" fmla="*/ 7257960 w 7257600"/>
                <a:gd name="textAreaTop" fmla="*/ 0 h 2528640"/>
                <a:gd name="textAreaBottom" fmla="*/ 2529000 h 2528640"/>
              </a:gdLst>
              <a:ahLst/>
              <a:rect l="textAreaLeft" t="textAreaTop" r="textAreaRight" b="textAreaBottom"/>
              <a:pathLst>
                <a:path w="9677400" h="3371850">
                  <a:moveTo>
                    <a:pt x="0" y="0"/>
                  </a:moveTo>
                  <a:lnTo>
                    <a:pt x="9677400" y="0"/>
                  </a:lnTo>
                  <a:lnTo>
                    <a:pt x="9677400" y="3371850"/>
                  </a:lnTo>
                  <a:lnTo>
                    <a:pt x="0" y="33718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3" name="Group 10"/>
          <p:cNvGrpSpPr/>
          <p:nvPr/>
        </p:nvGrpSpPr>
        <p:grpSpPr>
          <a:xfrm>
            <a:off x="12901680" y="6400800"/>
            <a:ext cx="213840" cy="199800"/>
            <a:chOff x="12901680" y="6400800"/>
            <a:chExt cx="213840" cy="199800"/>
          </a:xfrm>
        </p:grpSpPr>
        <p:sp>
          <p:nvSpPr>
            <p:cNvPr id="564" name="Freeform 11"/>
            <p:cNvSpPr/>
            <p:nvPr/>
          </p:nvSpPr>
          <p:spPr>
            <a:xfrm>
              <a:off x="12901680" y="6400800"/>
              <a:ext cx="213840" cy="19980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199800"/>
                <a:gd name="textAreaBottom" fmla="*/ 200160 h 199800"/>
              </a:gdLst>
              <a:ahLst/>
              <a:rect l="textAreaLeft" t="textAreaTop" r="textAreaRight" b="textAreaBottom"/>
              <a:pathLst>
                <a:path w="285750" h="266700">
                  <a:moveTo>
                    <a:pt x="0" y="0"/>
                  </a:moveTo>
                  <a:lnTo>
                    <a:pt x="285750" y="0"/>
                  </a:lnTo>
                  <a:lnTo>
                    <a:pt x="2857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5" name="Group 12"/>
          <p:cNvGrpSpPr/>
          <p:nvPr/>
        </p:nvGrpSpPr>
        <p:grpSpPr>
          <a:xfrm>
            <a:off x="13115880" y="6515280"/>
            <a:ext cx="213840" cy="213840"/>
            <a:chOff x="13115880" y="6515280"/>
            <a:chExt cx="213840" cy="213840"/>
          </a:xfrm>
        </p:grpSpPr>
        <p:sp>
          <p:nvSpPr>
            <p:cNvPr id="566" name="Freeform 13"/>
            <p:cNvSpPr/>
            <p:nvPr/>
          </p:nvSpPr>
          <p:spPr>
            <a:xfrm>
              <a:off x="13115880" y="651528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7" name="Group 14"/>
          <p:cNvGrpSpPr/>
          <p:nvPr/>
        </p:nvGrpSpPr>
        <p:grpSpPr>
          <a:xfrm>
            <a:off x="12687480" y="6643800"/>
            <a:ext cx="213840" cy="213840"/>
            <a:chOff x="12687480" y="6643800"/>
            <a:chExt cx="213840" cy="213840"/>
          </a:xfrm>
        </p:grpSpPr>
        <p:sp>
          <p:nvSpPr>
            <p:cNvPr id="568" name="Freeform 15"/>
            <p:cNvSpPr/>
            <p:nvPr/>
          </p:nvSpPr>
          <p:spPr>
            <a:xfrm>
              <a:off x="12687480" y="664380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9" name="Group 16"/>
          <p:cNvGrpSpPr/>
          <p:nvPr/>
        </p:nvGrpSpPr>
        <p:grpSpPr>
          <a:xfrm>
            <a:off x="13630320" y="7400880"/>
            <a:ext cx="213840" cy="199800"/>
            <a:chOff x="13630320" y="7400880"/>
            <a:chExt cx="213840" cy="199800"/>
          </a:xfrm>
        </p:grpSpPr>
        <p:sp>
          <p:nvSpPr>
            <p:cNvPr id="570" name="Freeform 17"/>
            <p:cNvSpPr/>
            <p:nvPr/>
          </p:nvSpPr>
          <p:spPr>
            <a:xfrm>
              <a:off x="13630320" y="7400880"/>
              <a:ext cx="213840" cy="19980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199800"/>
                <a:gd name="textAreaBottom" fmla="*/ 200160 h 199800"/>
              </a:gdLst>
              <a:ahLst/>
              <a:rect l="textAreaLeft" t="textAreaTop" r="textAreaRight" b="textAreaBottom"/>
              <a:pathLst>
                <a:path w="285750" h="266700">
                  <a:moveTo>
                    <a:pt x="0" y="0"/>
                  </a:moveTo>
                  <a:lnTo>
                    <a:pt x="285750" y="0"/>
                  </a:lnTo>
                  <a:lnTo>
                    <a:pt x="2857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1" name="Group 18"/>
          <p:cNvGrpSpPr/>
          <p:nvPr/>
        </p:nvGrpSpPr>
        <p:grpSpPr>
          <a:xfrm>
            <a:off x="13416120" y="7515360"/>
            <a:ext cx="213840" cy="213840"/>
            <a:chOff x="13416120" y="7515360"/>
            <a:chExt cx="213840" cy="213840"/>
          </a:xfrm>
        </p:grpSpPr>
        <p:sp>
          <p:nvSpPr>
            <p:cNvPr id="572" name="Freeform 19"/>
            <p:cNvSpPr/>
            <p:nvPr/>
          </p:nvSpPr>
          <p:spPr>
            <a:xfrm>
              <a:off x="13416120" y="751536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3" name="Group 20"/>
          <p:cNvGrpSpPr/>
          <p:nvPr/>
        </p:nvGrpSpPr>
        <p:grpSpPr>
          <a:xfrm>
            <a:off x="11815920" y="7772400"/>
            <a:ext cx="213840" cy="213840"/>
            <a:chOff x="11815920" y="7772400"/>
            <a:chExt cx="213840" cy="213840"/>
          </a:xfrm>
        </p:grpSpPr>
        <p:sp>
          <p:nvSpPr>
            <p:cNvPr id="574" name="Freeform 21"/>
            <p:cNvSpPr/>
            <p:nvPr/>
          </p:nvSpPr>
          <p:spPr>
            <a:xfrm>
              <a:off x="11815920" y="777240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5" name="Group 22"/>
          <p:cNvGrpSpPr/>
          <p:nvPr/>
        </p:nvGrpSpPr>
        <p:grpSpPr>
          <a:xfrm>
            <a:off x="13987440" y="6272280"/>
            <a:ext cx="213840" cy="213840"/>
            <a:chOff x="13987440" y="6272280"/>
            <a:chExt cx="213840" cy="213840"/>
          </a:xfrm>
        </p:grpSpPr>
        <p:sp>
          <p:nvSpPr>
            <p:cNvPr id="576" name="Freeform 23"/>
            <p:cNvSpPr/>
            <p:nvPr/>
          </p:nvSpPr>
          <p:spPr>
            <a:xfrm>
              <a:off x="13987440" y="6272280"/>
              <a:ext cx="213840" cy="21384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213840"/>
                <a:gd name="textAreaBottom" fmla="*/ 214200 h 213840"/>
              </a:gdLst>
              <a:ahLst/>
              <a:rect l="textAreaLeft" t="textAreaTop" r="textAreaRight" b="textAreaBottom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7" name="Group 24"/>
          <p:cNvGrpSpPr/>
          <p:nvPr/>
        </p:nvGrpSpPr>
        <p:grpSpPr>
          <a:xfrm>
            <a:off x="13273200" y="6900840"/>
            <a:ext cx="199800" cy="199800"/>
            <a:chOff x="13273200" y="6900840"/>
            <a:chExt cx="199800" cy="199800"/>
          </a:xfrm>
        </p:grpSpPr>
        <p:sp>
          <p:nvSpPr>
            <p:cNvPr id="578" name="Freeform 25"/>
            <p:cNvSpPr/>
            <p:nvPr/>
          </p:nvSpPr>
          <p:spPr>
            <a:xfrm>
              <a:off x="13273200" y="6900840"/>
              <a:ext cx="199800" cy="19980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199800"/>
                <a:gd name="textAreaBottom" fmla="*/ 200160 h 199800"/>
              </a:gdLst>
              <a:ahLst/>
              <a:rect l="textAreaLeft" t="textAreaTop" r="textAreaRight" b="textAreaBottom"/>
              <a:pathLst>
                <a:path w="266700" h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9" name="Group 26"/>
          <p:cNvGrpSpPr/>
          <p:nvPr/>
        </p:nvGrpSpPr>
        <p:grpSpPr>
          <a:xfrm>
            <a:off x="10015560" y="8058240"/>
            <a:ext cx="185400" cy="185400"/>
            <a:chOff x="10015560" y="8058240"/>
            <a:chExt cx="185400" cy="185400"/>
          </a:xfrm>
        </p:grpSpPr>
        <p:sp>
          <p:nvSpPr>
            <p:cNvPr id="580" name="Freeform 27"/>
            <p:cNvSpPr/>
            <p:nvPr/>
          </p:nvSpPr>
          <p:spPr>
            <a:xfrm>
              <a:off x="10015560" y="805824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1" name="Group 28"/>
          <p:cNvGrpSpPr/>
          <p:nvPr/>
        </p:nvGrpSpPr>
        <p:grpSpPr>
          <a:xfrm>
            <a:off x="11130120" y="8058240"/>
            <a:ext cx="185400" cy="185400"/>
            <a:chOff x="11130120" y="8058240"/>
            <a:chExt cx="185400" cy="185400"/>
          </a:xfrm>
        </p:grpSpPr>
        <p:sp>
          <p:nvSpPr>
            <p:cNvPr id="582" name="Freeform 29"/>
            <p:cNvSpPr/>
            <p:nvPr/>
          </p:nvSpPr>
          <p:spPr>
            <a:xfrm>
              <a:off x="11130120" y="805824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3" name="Group 30"/>
          <p:cNvGrpSpPr/>
          <p:nvPr/>
        </p:nvGrpSpPr>
        <p:grpSpPr>
          <a:xfrm>
            <a:off x="12244320" y="8058240"/>
            <a:ext cx="185400" cy="185400"/>
            <a:chOff x="12244320" y="8058240"/>
            <a:chExt cx="185400" cy="185400"/>
          </a:xfrm>
        </p:grpSpPr>
        <p:sp>
          <p:nvSpPr>
            <p:cNvPr id="584" name="Freeform 31"/>
            <p:cNvSpPr/>
            <p:nvPr/>
          </p:nvSpPr>
          <p:spPr>
            <a:xfrm>
              <a:off x="12244320" y="805824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5" name="Group 32"/>
          <p:cNvGrpSpPr/>
          <p:nvPr/>
        </p:nvGrpSpPr>
        <p:grpSpPr>
          <a:xfrm>
            <a:off x="13358880" y="8058240"/>
            <a:ext cx="171000" cy="185400"/>
            <a:chOff x="13358880" y="8058240"/>
            <a:chExt cx="171000" cy="185400"/>
          </a:xfrm>
        </p:grpSpPr>
        <p:sp>
          <p:nvSpPr>
            <p:cNvPr id="586" name="Freeform 33"/>
            <p:cNvSpPr/>
            <p:nvPr/>
          </p:nvSpPr>
          <p:spPr>
            <a:xfrm>
              <a:off x="13358880" y="8058240"/>
              <a:ext cx="171000" cy="18540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228600" h="247650">
                  <a:moveTo>
                    <a:pt x="0" y="0"/>
                  </a:moveTo>
                  <a:lnTo>
                    <a:pt x="228600" y="0"/>
                  </a:lnTo>
                  <a:lnTo>
                    <a:pt x="2286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7" name="Group 34"/>
          <p:cNvGrpSpPr/>
          <p:nvPr/>
        </p:nvGrpSpPr>
        <p:grpSpPr>
          <a:xfrm>
            <a:off x="14459040" y="8058240"/>
            <a:ext cx="185400" cy="185400"/>
            <a:chOff x="14459040" y="8058240"/>
            <a:chExt cx="185400" cy="185400"/>
          </a:xfrm>
        </p:grpSpPr>
        <p:sp>
          <p:nvSpPr>
            <p:cNvPr id="588" name="Freeform 35"/>
            <p:cNvSpPr/>
            <p:nvPr/>
          </p:nvSpPr>
          <p:spPr>
            <a:xfrm>
              <a:off x="14459040" y="805824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9" name="Group 36"/>
          <p:cNvGrpSpPr/>
          <p:nvPr/>
        </p:nvGrpSpPr>
        <p:grpSpPr>
          <a:xfrm>
            <a:off x="15573240" y="8058240"/>
            <a:ext cx="185400" cy="185400"/>
            <a:chOff x="15573240" y="8058240"/>
            <a:chExt cx="185400" cy="185400"/>
          </a:xfrm>
        </p:grpSpPr>
        <p:sp>
          <p:nvSpPr>
            <p:cNvPr id="590" name="Freeform 37"/>
            <p:cNvSpPr/>
            <p:nvPr/>
          </p:nvSpPr>
          <p:spPr>
            <a:xfrm>
              <a:off x="15573240" y="805824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1" name="Group 38"/>
          <p:cNvGrpSpPr/>
          <p:nvPr/>
        </p:nvGrpSpPr>
        <p:grpSpPr>
          <a:xfrm>
            <a:off x="1143000" y="857160"/>
            <a:ext cx="7714800" cy="1633680"/>
            <a:chOff x="1143000" y="857160"/>
            <a:chExt cx="7714800" cy="1633680"/>
          </a:xfrm>
        </p:grpSpPr>
        <p:sp>
          <p:nvSpPr>
            <p:cNvPr id="592" name="Freeform 39"/>
            <p:cNvSpPr/>
            <p:nvPr/>
          </p:nvSpPr>
          <p:spPr>
            <a:xfrm>
              <a:off x="1143000" y="857160"/>
              <a:ext cx="7714800" cy="1633680"/>
            </a:xfrm>
            <a:custGeom>
              <a:avLst/>
              <a:gdLst>
                <a:gd name="textAreaLeft" fmla="*/ 0 w 7714800"/>
                <a:gd name="textAreaRight" fmla="*/ 7715160 w 7714800"/>
                <a:gd name="textAreaTop" fmla="*/ 0 h 1633680"/>
                <a:gd name="textAreaBottom" fmla="*/ 1634040 h 1633680"/>
              </a:gdLst>
              <a:ahLst/>
              <a:rect l="textAreaLeft" t="textAreaTop" r="textAreaRight" b="textAreaBottom"/>
              <a:pathLst>
                <a:path w="10287000" h="2178844">
                  <a:moveTo>
                    <a:pt x="0" y="0"/>
                  </a:moveTo>
                  <a:lnTo>
                    <a:pt x="10287000" y="0"/>
                  </a:lnTo>
                  <a:lnTo>
                    <a:pt x="10287000" y="2178844"/>
                  </a:lnTo>
                  <a:lnTo>
                    <a:pt x="0" y="2178844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3" name="TextBox 40"/>
            <p:cNvSpPr/>
            <p:nvPr/>
          </p:nvSpPr>
          <p:spPr>
            <a:xfrm>
              <a:off x="1143000" y="857160"/>
              <a:ext cx="7714800" cy="163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6659"/>
                </a:lnSpc>
              </a:pPr>
              <a:r>
                <a:rPr b="1" lang="en-US" sz="55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Feature Engineering and Encoding</a:t>
              </a:r>
              <a:endParaRPr b="0" lang="fr-FR" sz="55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4" name="Group 41"/>
          <p:cNvGrpSpPr/>
          <p:nvPr/>
        </p:nvGrpSpPr>
        <p:grpSpPr>
          <a:xfrm>
            <a:off x="1128600" y="2743200"/>
            <a:ext cx="285480" cy="299520"/>
            <a:chOff x="1128600" y="2743200"/>
            <a:chExt cx="285480" cy="299520"/>
          </a:xfrm>
        </p:grpSpPr>
        <p:sp>
          <p:nvSpPr>
            <p:cNvPr id="595" name="Freeform 42"/>
            <p:cNvSpPr/>
            <p:nvPr/>
          </p:nvSpPr>
          <p:spPr>
            <a:xfrm>
              <a:off x="1128600" y="2743200"/>
              <a:ext cx="285480" cy="29952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6" name="Group 43"/>
          <p:cNvGrpSpPr/>
          <p:nvPr/>
        </p:nvGrpSpPr>
        <p:grpSpPr>
          <a:xfrm>
            <a:off x="1542960" y="2720160"/>
            <a:ext cx="2672280" cy="342720"/>
            <a:chOff x="1542960" y="2720160"/>
            <a:chExt cx="2672280" cy="342720"/>
          </a:xfrm>
        </p:grpSpPr>
        <p:sp>
          <p:nvSpPr>
            <p:cNvPr id="597" name="Freeform 44"/>
            <p:cNvSpPr/>
            <p:nvPr/>
          </p:nvSpPr>
          <p:spPr>
            <a:xfrm>
              <a:off x="1542960" y="2720160"/>
              <a:ext cx="2672280" cy="342720"/>
            </a:xfrm>
            <a:custGeom>
              <a:avLst/>
              <a:gdLst>
                <a:gd name="textAreaLeft" fmla="*/ 0 w 2672280"/>
                <a:gd name="textAreaRight" fmla="*/ 2672640 w 267228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3563540" h="457200">
                  <a:moveTo>
                    <a:pt x="0" y="0"/>
                  </a:moveTo>
                  <a:lnTo>
                    <a:pt x="3563540" y="0"/>
                  </a:lnTo>
                  <a:lnTo>
                    <a:pt x="35635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8" name="TextBox 45"/>
            <p:cNvSpPr/>
            <p:nvPr/>
          </p:nvSpPr>
          <p:spPr>
            <a:xfrm>
              <a:off x="1542960" y="2720160"/>
              <a:ext cx="2672280" cy="34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Engineered features: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9" name="Group 46"/>
          <p:cNvGrpSpPr/>
          <p:nvPr/>
        </p:nvGrpSpPr>
        <p:grpSpPr>
          <a:xfrm>
            <a:off x="1428840" y="3227040"/>
            <a:ext cx="7429320" cy="606960"/>
            <a:chOff x="1428840" y="3227040"/>
            <a:chExt cx="7429320" cy="606960"/>
          </a:xfrm>
        </p:grpSpPr>
        <p:sp>
          <p:nvSpPr>
            <p:cNvPr id="600" name="Freeform 47"/>
            <p:cNvSpPr/>
            <p:nvPr/>
          </p:nvSpPr>
          <p:spPr>
            <a:xfrm>
              <a:off x="1428840" y="3234240"/>
              <a:ext cx="7429320" cy="59976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9906000" h="800100">
                  <a:moveTo>
                    <a:pt x="0" y="0"/>
                  </a:moveTo>
                  <a:lnTo>
                    <a:pt x="9906000" y="0"/>
                  </a:lnTo>
                  <a:lnTo>
                    <a:pt x="9906000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1" name="TextBox 48"/>
            <p:cNvSpPr/>
            <p:nvPr/>
          </p:nvSpPr>
          <p:spPr>
            <a:xfrm>
              <a:off x="1428840" y="3227040"/>
              <a:ext cx="7429320" cy="60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Premium_Features_Count (0–6): sum of luxury amenities (pool/duplex/sea view/elevator…)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2" name="Group 49"/>
          <p:cNvGrpSpPr/>
          <p:nvPr/>
        </p:nvGrpSpPr>
        <p:grpSpPr>
          <a:xfrm>
            <a:off x="1428840" y="3884400"/>
            <a:ext cx="7429320" cy="306720"/>
            <a:chOff x="1428840" y="3884400"/>
            <a:chExt cx="7429320" cy="306720"/>
          </a:xfrm>
        </p:grpSpPr>
        <p:sp>
          <p:nvSpPr>
            <p:cNvPr id="603" name="Freeform 50"/>
            <p:cNvSpPr/>
            <p:nvPr/>
          </p:nvSpPr>
          <p:spPr>
            <a:xfrm>
              <a:off x="1428840" y="3891600"/>
              <a:ext cx="7429320" cy="29952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9906000" h="400050">
                  <a:moveTo>
                    <a:pt x="0" y="0"/>
                  </a:moveTo>
                  <a:lnTo>
                    <a:pt x="9906000" y="0"/>
                  </a:lnTo>
                  <a:lnTo>
                    <a:pt x="99060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4" name="TextBox 51"/>
            <p:cNvSpPr/>
            <p:nvPr/>
          </p:nvSpPr>
          <p:spPr>
            <a:xfrm>
              <a:off x="1428840" y="3884400"/>
              <a:ext cx="742932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Geo_Cluster: K-Means on lat/lon with k=6 (macro-regions)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5" name="Group 52"/>
          <p:cNvGrpSpPr/>
          <p:nvPr/>
        </p:nvGrpSpPr>
        <p:grpSpPr>
          <a:xfrm>
            <a:off x="1428840" y="4241520"/>
            <a:ext cx="7429320" cy="306720"/>
            <a:chOff x="1428840" y="4241520"/>
            <a:chExt cx="7429320" cy="306720"/>
          </a:xfrm>
        </p:grpSpPr>
        <p:sp>
          <p:nvSpPr>
            <p:cNvPr id="606" name="Freeform 53"/>
            <p:cNvSpPr/>
            <p:nvPr/>
          </p:nvSpPr>
          <p:spPr>
            <a:xfrm>
              <a:off x="1428840" y="4248720"/>
              <a:ext cx="7429320" cy="29952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9906000" h="400050">
                  <a:moveTo>
                    <a:pt x="0" y="0"/>
                  </a:moveTo>
                  <a:lnTo>
                    <a:pt x="9906000" y="0"/>
                  </a:lnTo>
                  <a:lnTo>
                    <a:pt x="99060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7" name="TextBox 54"/>
            <p:cNvSpPr/>
            <p:nvPr/>
          </p:nvSpPr>
          <p:spPr>
            <a:xfrm>
              <a:off x="1428840" y="4241520"/>
              <a:ext cx="742932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FloorNumber_Missing: preserves missingness signal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8" name="Group 55"/>
          <p:cNvGrpSpPr/>
          <p:nvPr/>
        </p:nvGrpSpPr>
        <p:grpSpPr>
          <a:xfrm>
            <a:off x="1128600" y="4800600"/>
            <a:ext cx="285480" cy="299520"/>
            <a:chOff x="1128600" y="4800600"/>
            <a:chExt cx="285480" cy="299520"/>
          </a:xfrm>
        </p:grpSpPr>
        <p:sp>
          <p:nvSpPr>
            <p:cNvPr id="609" name="Freeform 56"/>
            <p:cNvSpPr/>
            <p:nvPr/>
          </p:nvSpPr>
          <p:spPr>
            <a:xfrm>
              <a:off x="1128600" y="4800600"/>
              <a:ext cx="285480" cy="29952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0" name="Group 57"/>
          <p:cNvGrpSpPr/>
          <p:nvPr/>
        </p:nvGrpSpPr>
        <p:grpSpPr>
          <a:xfrm>
            <a:off x="1542960" y="4777560"/>
            <a:ext cx="6960240" cy="342720"/>
            <a:chOff x="1542960" y="4777560"/>
            <a:chExt cx="6960240" cy="342720"/>
          </a:xfrm>
        </p:grpSpPr>
        <p:sp>
          <p:nvSpPr>
            <p:cNvPr id="611" name="Freeform 58"/>
            <p:cNvSpPr/>
            <p:nvPr/>
          </p:nvSpPr>
          <p:spPr>
            <a:xfrm>
              <a:off x="1542960" y="4777560"/>
              <a:ext cx="6960240" cy="342720"/>
            </a:xfrm>
            <a:custGeom>
              <a:avLst/>
              <a:gdLst>
                <a:gd name="textAreaLeft" fmla="*/ 0 w 6960240"/>
                <a:gd name="textAreaRight" fmla="*/ 6960600 w 696024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9280922" h="457200">
                  <a:moveTo>
                    <a:pt x="0" y="0"/>
                  </a:moveTo>
                  <a:lnTo>
                    <a:pt x="9280922" y="0"/>
                  </a:lnTo>
                  <a:lnTo>
                    <a:pt x="9280922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2" name="TextBox 59"/>
            <p:cNvSpPr/>
            <p:nvPr/>
          </p:nvSpPr>
          <p:spPr>
            <a:xfrm>
              <a:off x="1542960" y="4777560"/>
              <a:ext cx="6960240" cy="34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Feature pruning (multicollinearity/leakage examples):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3" name="Group 60"/>
          <p:cNvGrpSpPr/>
          <p:nvPr/>
        </p:nvGrpSpPr>
        <p:grpSpPr>
          <a:xfrm>
            <a:off x="1428840" y="5284440"/>
            <a:ext cx="7429320" cy="306720"/>
            <a:chOff x="1428840" y="5284440"/>
            <a:chExt cx="7429320" cy="306720"/>
          </a:xfrm>
        </p:grpSpPr>
        <p:sp>
          <p:nvSpPr>
            <p:cNvPr id="614" name="Freeform 61"/>
            <p:cNvSpPr/>
            <p:nvPr/>
          </p:nvSpPr>
          <p:spPr>
            <a:xfrm>
              <a:off x="1428840" y="5291640"/>
              <a:ext cx="7429320" cy="29952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9906000" h="400050">
                  <a:moveTo>
                    <a:pt x="0" y="0"/>
                  </a:moveTo>
                  <a:lnTo>
                    <a:pt x="9906000" y="0"/>
                  </a:lnTo>
                  <a:lnTo>
                    <a:pt x="99060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2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5" name="TextBox 62"/>
            <p:cNvSpPr/>
            <p:nvPr/>
          </p:nvSpPr>
          <p:spPr>
            <a:xfrm>
              <a:off x="1428840" y="5284440"/>
              <a:ext cx="742932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Drop SalePrice (keep Log_SalePrice)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6" name="Group 63"/>
          <p:cNvGrpSpPr/>
          <p:nvPr/>
        </p:nvGrpSpPr>
        <p:grpSpPr>
          <a:xfrm>
            <a:off x="1428840" y="5641920"/>
            <a:ext cx="7429320" cy="306720"/>
            <a:chOff x="1428840" y="5641920"/>
            <a:chExt cx="7429320" cy="306720"/>
          </a:xfrm>
        </p:grpSpPr>
        <p:sp>
          <p:nvSpPr>
            <p:cNvPr id="617" name="Freeform 64"/>
            <p:cNvSpPr/>
            <p:nvPr/>
          </p:nvSpPr>
          <p:spPr>
            <a:xfrm>
              <a:off x="1428840" y="5648760"/>
              <a:ext cx="7429320" cy="29952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9906000" h="400050">
                  <a:moveTo>
                    <a:pt x="0" y="0"/>
                  </a:moveTo>
                  <a:lnTo>
                    <a:pt x="9906000" y="0"/>
                  </a:lnTo>
                  <a:lnTo>
                    <a:pt x="99060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2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8" name="TextBox 65"/>
            <p:cNvSpPr/>
            <p:nvPr/>
          </p:nvSpPr>
          <p:spPr>
            <a:xfrm>
              <a:off x="1428840" y="5641920"/>
              <a:ext cx="742932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Drop AmenityScore (redundant vs Premium_Features_Count)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9" name="Group 66"/>
          <p:cNvGrpSpPr/>
          <p:nvPr/>
        </p:nvGrpSpPr>
        <p:grpSpPr>
          <a:xfrm>
            <a:off x="1428840" y="5999040"/>
            <a:ext cx="7429320" cy="306720"/>
            <a:chOff x="1428840" y="5999040"/>
            <a:chExt cx="7429320" cy="306720"/>
          </a:xfrm>
        </p:grpSpPr>
        <p:sp>
          <p:nvSpPr>
            <p:cNvPr id="620" name="Freeform 67"/>
            <p:cNvSpPr/>
            <p:nvPr/>
          </p:nvSpPr>
          <p:spPr>
            <a:xfrm>
              <a:off x="1428840" y="6006240"/>
              <a:ext cx="7429320" cy="29952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9906000" h="400050">
                  <a:moveTo>
                    <a:pt x="0" y="0"/>
                  </a:moveTo>
                  <a:lnTo>
                    <a:pt x="9906000" y="0"/>
                  </a:lnTo>
                  <a:lnTo>
                    <a:pt x="99060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2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1" name="TextBox 68"/>
            <p:cNvSpPr/>
            <p:nvPr/>
          </p:nvSpPr>
          <p:spPr>
            <a:xfrm>
              <a:off x="1428840" y="5999040"/>
              <a:ext cx="742932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Drop lat/lon (use Geo_Cluster + City)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2" name="Group 69"/>
          <p:cNvGrpSpPr/>
          <p:nvPr/>
        </p:nvGrpSpPr>
        <p:grpSpPr>
          <a:xfrm>
            <a:off x="1128600" y="6558120"/>
            <a:ext cx="356760" cy="299520"/>
            <a:chOff x="1128600" y="6558120"/>
            <a:chExt cx="356760" cy="299520"/>
          </a:xfrm>
        </p:grpSpPr>
        <p:sp>
          <p:nvSpPr>
            <p:cNvPr id="623" name="Freeform 70"/>
            <p:cNvSpPr/>
            <p:nvPr/>
          </p:nvSpPr>
          <p:spPr>
            <a:xfrm>
              <a:off x="1128600" y="6558120"/>
              <a:ext cx="356760" cy="299520"/>
            </a:xfrm>
            <a:custGeom>
              <a:avLst/>
              <a:gdLst>
                <a:gd name="textAreaLeft" fmla="*/ 0 w 356760"/>
                <a:gd name="textAreaRight" fmla="*/ 357120 w 35676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476250" h="400050">
                  <a:moveTo>
                    <a:pt x="0" y="0"/>
                  </a:moveTo>
                  <a:lnTo>
                    <a:pt x="476250" y="0"/>
                  </a:lnTo>
                  <a:lnTo>
                    <a:pt x="47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4" name="Group 71"/>
          <p:cNvGrpSpPr/>
          <p:nvPr/>
        </p:nvGrpSpPr>
        <p:grpSpPr>
          <a:xfrm>
            <a:off x="1614600" y="6534720"/>
            <a:ext cx="2435040" cy="342720"/>
            <a:chOff x="1614600" y="6534720"/>
            <a:chExt cx="2435040" cy="342720"/>
          </a:xfrm>
        </p:grpSpPr>
        <p:sp>
          <p:nvSpPr>
            <p:cNvPr id="625" name="Freeform 72"/>
            <p:cNvSpPr/>
            <p:nvPr/>
          </p:nvSpPr>
          <p:spPr>
            <a:xfrm>
              <a:off x="1614600" y="6534720"/>
              <a:ext cx="2435040" cy="342720"/>
            </a:xfrm>
            <a:custGeom>
              <a:avLst/>
              <a:gdLst>
                <a:gd name="textAreaLeft" fmla="*/ 0 w 2435040"/>
                <a:gd name="textAreaRight" fmla="*/ 2435400 w 243504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3247430" h="457200">
                  <a:moveTo>
                    <a:pt x="0" y="0"/>
                  </a:moveTo>
                  <a:lnTo>
                    <a:pt x="3247430" y="0"/>
                  </a:lnTo>
                  <a:lnTo>
                    <a:pt x="324743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3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6" name="TextBox 73"/>
            <p:cNvSpPr/>
            <p:nvPr/>
          </p:nvSpPr>
          <p:spPr>
            <a:xfrm>
              <a:off x="1614600" y="6534720"/>
              <a:ext cx="2435040" cy="34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Encoding + scaling: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7" name="Group 74"/>
          <p:cNvGrpSpPr/>
          <p:nvPr/>
        </p:nvGrpSpPr>
        <p:grpSpPr>
          <a:xfrm>
            <a:off x="1428840" y="7041960"/>
            <a:ext cx="7429320" cy="606960"/>
            <a:chOff x="1428840" y="7041960"/>
            <a:chExt cx="7429320" cy="606960"/>
          </a:xfrm>
        </p:grpSpPr>
        <p:sp>
          <p:nvSpPr>
            <p:cNvPr id="628" name="Freeform 75"/>
            <p:cNvSpPr/>
            <p:nvPr/>
          </p:nvSpPr>
          <p:spPr>
            <a:xfrm>
              <a:off x="1428840" y="7049160"/>
              <a:ext cx="7429320" cy="59976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9906000" h="800100">
                  <a:moveTo>
                    <a:pt x="0" y="0"/>
                  </a:moveTo>
                  <a:lnTo>
                    <a:pt x="9906000" y="0"/>
                  </a:lnTo>
                  <a:lnTo>
                    <a:pt x="9906000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3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9" name="TextBox 76"/>
            <p:cNvSpPr/>
            <p:nvPr/>
          </p:nvSpPr>
          <p:spPr>
            <a:xfrm>
              <a:off x="1428840" y="7041960"/>
              <a:ext cx="7429320" cy="60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One-Hot Encoding on City/Neighborhood/Standing/Condition/Type (drop_first=True)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0" name="Group 77"/>
          <p:cNvGrpSpPr/>
          <p:nvPr/>
        </p:nvGrpSpPr>
        <p:grpSpPr>
          <a:xfrm>
            <a:off x="1428840" y="7699320"/>
            <a:ext cx="7429320" cy="306720"/>
            <a:chOff x="1428840" y="7699320"/>
            <a:chExt cx="7429320" cy="306720"/>
          </a:xfrm>
        </p:grpSpPr>
        <p:sp>
          <p:nvSpPr>
            <p:cNvPr id="631" name="Freeform 78"/>
            <p:cNvSpPr/>
            <p:nvPr/>
          </p:nvSpPr>
          <p:spPr>
            <a:xfrm>
              <a:off x="1428840" y="7706160"/>
              <a:ext cx="7429320" cy="29952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9906000" h="400050">
                  <a:moveTo>
                    <a:pt x="0" y="0"/>
                  </a:moveTo>
                  <a:lnTo>
                    <a:pt x="9906000" y="0"/>
                  </a:lnTo>
                  <a:lnTo>
                    <a:pt x="99060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3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2" name="TextBox 79"/>
            <p:cNvSpPr/>
            <p:nvPr/>
          </p:nvSpPr>
          <p:spPr>
            <a:xfrm>
              <a:off x="1428840" y="7699320"/>
              <a:ext cx="742932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Feature expansion: 40 → 371 columns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3" name="Group 80"/>
          <p:cNvGrpSpPr/>
          <p:nvPr/>
        </p:nvGrpSpPr>
        <p:grpSpPr>
          <a:xfrm>
            <a:off x="1428840" y="8056440"/>
            <a:ext cx="7429320" cy="306720"/>
            <a:chOff x="1428840" y="8056440"/>
            <a:chExt cx="7429320" cy="306720"/>
          </a:xfrm>
        </p:grpSpPr>
        <p:sp>
          <p:nvSpPr>
            <p:cNvPr id="634" name="Freeform 81"/>
            <p:cNvSpPr/>
            <p:nvPr/>
          </p:nvSpPr>
          <p:spPr>
            <a:xfrm>
              <a:off x="1428840" y="8063640"/>
              <a:ext cx="7429320" cy="299520"/>
            </a:xfrm>
            <a:custGeom>
              <a:avLst/>
              <a:gdLst>
                <a:gd name="textAreaLeft" fmla="*/ 0 w 7429320"/>
                <a:gd name="textAreaRight" fmla="*/ 7429680 w 742932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9906000" h="400050">
                  <a:moveTo>
                    <a:pt x="0" y="0"/>
                  </a:moveTo>
                  <a:lnTo>
                    <a:pt x="9906000" y="0"/>
                  </a:lnTo>
                  <a:lnTo>
                    <a:pt x="99060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3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5" name="TextBox 82"/>
            <p:cNvSpPr/>
            <p:nvPr/>
          </p:nvSpPr>
          <p:spPr>
            <a:xfrm>
              <a:off x="1428840" y="8056440"/>
              <a:ext cx="742932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3f5968"/>
                  </a:solidFill>
                  <a:latin typeface="Segoe Script"/>
                  <a:ea typeface="Segoe Script"/>
                </a:rPr>
                <a:t>StandardScaler for numeric features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6" name="Group 83"/>
          <p:cNvGrpSpPr/>
          <p:nvPr/>
        </p:nvGrpSpPr>
        <p:grpSpPr>
          <a:xfrm>
            <a:off x="9672480" y="1864440"/>
            <a:ext cx="7229160" cy="278280"/>
            <a:chOff x="9672480" y="1864440"/>
            <a:chExt cx="7229160" cy="278280"/>
          </a:xfrm>
        </p:grpSpPr>
        <p:sp>
          <p:nvSpPr>
            <p:cNvPr id="637" name="Freeform 84"/>
            <p:cNvSpPr/>
            <p:nvPr/>
          </p:nvSpPr>
          <p:spPr>
            <a:xfrm>
              <a:off x="9672480" y="1871640"/>
              <a:ext cx="7229160" cy="271080"/>
            </a:xfrm>
            <a:custGeom>
              <a:avLst/>
              <a:gdLst>
                <a:gd name="textAreaLeft" fmla="*/ 0 w 7229160"/>
                <a:gd name="textAreaRight" fmla="*/ 7229520 w 722916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9639300" h="361950">
                  <a:moveTo>
                    <a:pt x="0" y="0"/>
                  </a:moveTo>
                  <a:lnTo>
                    <a:pt x="9639300" y="0"/>
                  </a:lnTo>
                  <a:lnTo>
                    <a:pt x="96393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3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8" name="TextBox 85"/>
            <p:cNvSpPr/>
            <p:nvPr/>
          </p:nvSpPr>
          <p:spPr>
            <a:xfrm>
              <a:off x="9672480" y="1864440"/>
              <a:ext cx="722916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Premium Features Count vs Median Log_SalePrice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9" name="Group 86"/>
          <p:cNvGrpSpPr/>
          <p:nvPr/>
        </p:nvGrpSpPr>
        <p:grpSpPr>
          <a:xfrm>
            <a:off x="9672480" y="2286000"/>
            <a:ext cx="7229160" cy="2499840"/>
            <a:chOff x="9672480" y="2286000"/>
            <a:chExt cx="7229160" cy="2499840"/>
          </a:xfrm>
        </p:grpSpPr>
        <p:sp>
          <p:nvSpPr>
            <p:cNvPr id="640" name="Freeform 87"/>
            <p:cNvSpPr/>
            <p:nvPr/>
          </p:nvSpPr>
          <p:spPr>
            <a:xfrm>
              <a:off x="9672480" y="2286000"/>
              <a:ext cx="7229160" cy="2499840"/>
            </a:xfrm>
            <a:custGeom>
              <a:avLst/>
              <a:gdLst>
                <a:gd name="textAreaLeft" fmla="*/ 0 w 7229160"/>
                <a:gd name="textAreaRight" fmla="*/ 7229520 w 7229160"/>
                <a:gd name="textAreaTop" fmla="*/ 0 h 2499840"/>
                <a:gd name="textAreaBottom" fmla="*/ 2500200 h 2499840"/>
              </a:gdLst>
              <a:ahLst/>
              <a:rect l="textAreaLeft" t="textAreaTop" r="textAreaRight" b="textAreaBottom"/>
              <a:pathLst>
                <a:path w="9639300" h="3333750">
                  <a:moveTo>
                    <a:pt x="0" y="0"/>
                  </a:moveTo>
                  <a:lnTo>
                    <a:pt x="9639300" y="0"/>
                  </a:lnTo>
                  <a:lnTo>
                    <a:pt x="9639300" y="3333750"/>
                  </a:lnTo>
                  <a:lnTo>
                    <a:pt x="0" y="33337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1" name="Group 88"/>
          <p:cNvGrpSpPr/>
          <p:nvPr/>
        </p:nvGrpSpPr>
        <p:grpSpPr>
          <a:xfrm>
            <a:off x="9672480" y="5493600"/>
            <a:ext cx="7229160" cy="278280"/>
            <a:chOff x="9672480" y="5493600"/>
            <a:chExt cx="7229160" cy="278280"/>
          </a:xfrm>
        </p:grpSpPr>
        <p:sp>
          <p:nvSpPr>
            <p:cNvPr id="642" name="Freeform 89"/>
            <p:cNvSpPr/>
            <p:nvPr/>
          </p:nvSpPr>
          <p:spPr>
            <a:xfrm>
              <a:off x="9672480" y="5500800"/>
              <a:ext cx="7229160" cy="271080"/>
            </a:xfrm>
            <a:custGeom>
              <a:avLst/>
              <a:gdLst>
                <a:gd name="textAreaLeft" fmla="*/ 0 w 7229160"/>
                <a:gd name="textAreaRight" fmla="*/ 7229520 w 722916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9639300" h="361950">
                  <a:moveTo>
                    <a:pt x="0" y="0"/>
                  </a:moveTo>
                  <a:lnTo>
                    <a:pt x="9639300" y="0"/>
                  </a:lnTo>
                  <a:lnTo>
                    <a:pt x="96393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3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3" name="TextBox 90"/>
            <p:cNvSpPr/>
            <p:nvPr/>
          </p:nvSpPr>
          <p:spPr>
            <a:xfrm>
              <a:off x="9672480" y="5493600"/>
              <a:ext cx="722916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Geo_Cluster: 6 Macro-Regions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4" name="Group 91"/>
          <p:cNvGrpSpPr/>
          <p:nvPr/>
        </p:nvGrpSpPr>
        <p:grpSpPr>
          <a:xfrm>
            <a:off x="10263240" y="8029440"/>
            <a:ext cx="712440" cy="242640"/>
            <a:chOff x="10263240" y="8029440"/>
            <a:chExt cx="712440" cy="242640"/>
          </a:xfrm>
        </p:grpSpPr>
        <p:sp>
          <p:nvSpPr>
            <p:cNvPr id="645" name="Freeform 92"/>
            <p:cNvSpPr/>
            <p:nvPr/>
          </p:nvSpPr>
          <p:spPr>
            <a:xfrm>
              <a:off x="10263240" y="8029440"/>
              <a:ext cx="712440" cy="242640"/>
            </a:xfrm>
            <a:custGeom>
              <a:avLst/>
              <a:gdLst>
                <a:gd name="textAreaLeft" fmla="*/ 0 w 712440"/>
                <a:gd name="textAreaRight" fmla="*/ 712800 w 7124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950416" h="323850">
                  <a:moveTo>
                    <a:pt x="0" y="0"/>
                  </a:moveTo>
                  <a:lnTo>
                    <a:pt x="950416" y="0"/>
                  </a:lnTo>
                  <a:lnTo>
                    <a:pt x="950416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3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6" name="TextBox 93"/>
            <p:cNvSpPr/>
            <p:nvPr/>
          </p:nvSpPr>
          <p:spPr>
            <a:xfrm>
              <a:off x="10263240" y="8029440"/>
              <a:ext cx="71244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440"/>
                </a:lnSpc>
              </a:pPr>
              <a:r>
                <a:rPr b="0" lang="en-US" sz="1200" spc="-1" strike="noStrike">
                  <a:solidFill>
                    <a:srgbClr val="5a717e"/>
                  </a:solidFill>
                  <a:latin typeface="Segoe Script"/>
                  <a:ea typeface="Segoe Script"/>
                </a:rPr>
                <a:t>Cluster 1</a:t>
              </a:r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7" name="Group 94"/>
          <p:cNvGrpSpPr/>
          <p:nvPr/>
        </p:nvGrpSpPr>
        <p:grpSpPr>
          <a:xfrm>
            <a:off x="11376000" y="8029440"/>
            <a:ext cx="712440" cy="242640"/>
            <a:chOff x="11376000" y="8029440"/>
            <a:chExt cx="712440" cy="242640"/>
          </a:xfrm>
        </p:grpSpPr>
        <p:sp>
          <p:nvSpPr>
            <p:cNvPr id="648" name="Freeform 95"/>
            <p:cNvSpPr/>
            <p:nvPr/>
          </p:nvSpPr>
          <p:spPr>
            <a:xfrm>
              <a:off x="11376000" y="8029440"/>
              <a:ext cx="712440" cy="242640"/>
            </a:xfrm>
            <a:custGeom>
              <a:avLst/>
              <a:gdLst>
                <a:gd name="textAreaLeft" fmla="*/ 0 w 712440"/>
                <a:gd name="textAreaRight" fmla="*/ 712800 w 7124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950416" h="323850">
                  <a:moveTo>
                    <a:pt x="0" y="0"/>
                  </a:moveTo>
                  <a:lnTo>
                    <a:pt x="950416" y="0"/>
                  </a:lnTo>
                  <a:lnTo>
                    <a:pt x="950416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3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9" name="TextBox 96"/>
            <p:cNvSpPr/>
            <p:nvPr/>
          </p:nvSpPr>
          <p:spPr>
            <a:xfrm>
              <a:off x="11376000" y="8029440"/>
              <a:ext cx="71244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440"/>
                </a:lnSpc>
              </a:pPr>
              <a:r>
                <a:rPr b="0" lang="en-US" sz="1200" spc="-1" strike="noStrike">
                  <a:solidFill>
                    <a:srgbClr val="5a717e"/>
                  </a:solidFill>
                  <a:latin typeface="Segoe Script"/>
                  <a:ea typeface="Segoe Script"/>
                </a:rPr>
                <a:t>Cluster 2</a:t>
              </a:r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0" name="Group 97"/>
          <p:cNvGrpSpPr/>
          <p:nvPr/>
        </p:nvGrpSpPr>
        <p:grpSpPr>
          <a:xfrm>
            <a:off x="12488760" y="8029440"/>
            <a:ext cx="712440" cy="242640"/>
            <a:chOff x="12488760" y="8029440"/>
            <a:chExt cx="712440" cy="242640"/>
          </a:xfrm>
        </p:grpSpPr>
        <p:sp>
          <p:nvSpPr>
            <p:cNvPr id="651" name="Freeform 98"/>
            <p:cNvSpPr/>
            <p:nvPr/>
          </p:nvSpPr>
          <p:spPr>
            <a:xfrm>
              <a:off x="12488760" y="8029440"/>
              <a:ext cx="712440" cy="242640"/>
            </a:xfrm>
            <a:custGeom>
              <a:avLst/>
              <a:gdLst>
                <a:gd name="textAreaLeft" fmla="*/ 0 w 712440"/>
                <a:gd name="textAreaRight" fmla="*/ 712800 w 7124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950416" h="323850">
                  <a:moveTo>
                    <a:pt x="0" y="0"/>
                  </a:moveTo>
                  <a:lnTo>
                    <a:pt x="950416" y="0"/>
                  </a:lnTo>
                  <a:lnTo>
                    <a:pt x="950416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4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2" name="TextBox 99"/>
            <p:cNvSpPr/>
            <p:nvPr/>
          </p:nvSpPr>
          <p:spPr>
            <a:xfrm>
              <a:off x="12488760" y="8029440"/>
              <a:ext cx="71244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440"/>
                </a:lnSpc>
              </a:pPr>
              <a:r>
                <a:rPr b="0" lang="en-US" sz="1200" spc="-1" strike="noStrike">
                  <a:solidFill>
                    <a:srgbClr val="5a717e"/>
                  </a:solidFill>
                  <a:latin typeface="Segoe Script"/>
                  <a:ea typeface="Segoe Script"/>
                </a:rPr>
                <a:t>Cluster 3</a:t>
              </a:r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3" name="Group 100"/>
          <p:cNvGrpSpPr/>
          <p:nvPr/>
        </p:nvGrpSpPr>
        <p:grpSpPr>
          <a:xfrm>
            <a:off x="13601880" y="8029440"/>
            <a:ext cx="712440" cy="242640"/>
            <a:chOff x="13601880" y="8029440"/>
            <a:chExt cx="712440" cy="242640"/>
          </a:xfrm>
        </p:grpSpPr>
        <p:sp>
          <p:nvSpPr>
            <p:cNvPr id="654" name="Freeform 101"/>
            <p:cNvSpPr/>
            <p:nvPr/>
          </p:nvSpPr>
          <p:spPr>
            <a:xfrm>
              <a:off x="13601880" y="8029440"/>
              <a:ext cx="712440" cy="242640"/>
            </a:xfrm>
            <a:custGeom>
              <a:avLst/>
              <a:gdLst>
                <a:gd name="textAreaLeft" fmla="*/ 0 w 712440"/>
                <a:gd name="textAreaRight" fmla="*/ 712800 w 7124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950416" h="323850">
                  <a:moveTo>
                    <a:pt x="0" y="0"/>
                  </a:moveTo>
                  <a:lnTo>
                    <a:pt x="950416" y="0"/>
                  </a:lnTo>
                  <a:lnTo>
                    <a:pt x="950416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4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5" name="TextBox 102"/>
            <p:cNvSpPr/>
            <p:nvPr/>
          </p:nvSpPr>
          <p:spPr>
            <a:xfrm>
              <a:off x="13601880" y="8029440"/>
              <a:ext cx="71244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440"/>
                </a:lnSpc>
              </a:pPr>
              <a:r>
                <a:rPr b="0" lang="en-US" sz="1200" spc="-1" strike="noStrike">
                  <a:solidFill>
                    <a:srgbClr val="5a717e"/>
                  </a:solidFill>
                  <a:latin typeface="Segoe Script"/>
                  <a:ea typeface="Segoe Script"/>
                </a:rPr>
                <a:t>Cluster 4</a:t>
              </a:r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6" name="Group 103"/>
          <p:cNvGrpSpPr/>
          <p:nvPr/>
        </p:nvGrpSpPr>
        <p:grpSpPr>
          <a:xfrm>
            <a:off x="14714640" y="8029440"/>
            <a:ext cx="712440" cy="242640"/>
            <a:chOff x="14714640" y="8029440"/>
            <a:chExt cx="712440" cy="242640"/>
          </a:xfrm>
        </p:grpSpPr>
        <p:sp>
          <p:nvSpPr>
            <p:cNvPr id="657" name="Freeform 104"/>
            <p:cNvSpPr/>
            <p:nvPr/>
          </p:nvSpPr>
          <p:spPr>
            <a:xfrm>
              <a:off x="14714640" y="8029440"/>
              <a:ext cx="712440" cy="242640"/>
            </a:xfrm>
            <a:custGeom>
              <a:avLst/>
              <a:gdLst>
                <a:gd name="textAreaLeft" fmla="*/ 0 w 712440"/>
                <a:gd name="textAreaRight" fmla="*/ 712800 w 7124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950416" h="323850">
                  <a:moveTo>
                    <a:pt x="0" y="0"/>
                  </a:moveTo>
                  <a:lnTo>
                    <a:pt x="950416" y="0"/>
                  </a:lnTo>
                  <a:lnTo>
                    <a:pt x="950416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4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8" name="TextBox 105"/>
            <p:cNvSpPr/>
            <p:nvPr/>
          </p:nvSpPr>
          <p:spPr>
            <a:xfrm>
              <a:off x="14714640" y="8029440"/>
              <a:ext cx="71244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440"/>
                </a:lnSpc>
              </a:pPr>
              <a:r>
                <a:rPr b="0" lang="en-US" sz="1200" spc="-1" strike="noStrike">
                  <a:solidFill>
                    <a:srgbClr val="5a717e"/>
                  </a:solidFill>
                  <a:latin typeface="Segoe Script"/>
                  <a:ea typeface="Segoe Script"/>
                </a:rPr>
                <a:t>Cluster 5</a:t>
              </a:r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9" name="Group 106"/>
          <p:cNvGrpSpPr/>
          <p:nvPr/>
        </p:nvGrpSpPr>
        <p:grpSpPr>
          <a:xfrm>
            <a:off x="15827400" y="8029440"/>
            <a:ext cx="712440" cy="242640"/>
            <a:chOff x="15827400" y="8029440"/>
            <a:chExt cx="712440" cy="242640"/>
          </a:xfrm>
        </p:grpSpPr>
        <p:sp>
          <p:nvSpPr>
            <p:cNvPr id="660" name="Freeform 107"/>
            <p:cNvSpPr/>
            <p:nvPr/>
          </p:nvSpPr>
          <p:spPr>
            <a:xfrm>
              <a:off x="15827400" y="8029440"/>
              <a:ext cx="712440" cy="242640"/>
            </a:xfrm>
            <a:custGeom>
              <a:avLst/>
              <a:gdLst>
                <a:gd name="textAreaLeft" fmla="*/ 0 w 712440"/>
                <a:gd name="textAreaRight" fmla="*/ 712800 w 712440"/>
                <a:gd name="textAreaTop" fmla="*/ 0 h 242640"/>
                <a:gd name="textAreaBottom" fmla="*/ 243000 h 242640"/>
              </a:gdLst>
              <a:ahLst/>
              <a:rect l="textAreaLeft" t="textAreaTop" r="textAreaRight" b="textAreaBottom"/>
              <a:pathLst>
                <a:path w="950416" h="323850">
                  <a:moveTo>
                    <a:pt x="0" y="0"/>
                  </a:moveTo>
                  <a:lnTo>
                    <a:pt x="950416" y="0"/>
                  </a:lnTo>
                  <a:lnTo>
                    <a:pt x="950416" y="323850"/>
                  </a:lnTo>
                  <a:lnTo>
                    <a:pt x="0" y="323850"/>
                  </a:lnTo>
                  <a:close/>
                </a:path>
              </a:pathLst>
            </a:custGeom>
            <a:blipFill rotWithShape="0">
              <a:blip r:embed="rId4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1" name="TextBox 108"/>
            <p:cNvSpPr/>
            <p:nvPr/>
          </p:nvSpPr>
          <p:spPr>
            <a:xfrm>
              <a:off x="15827400" y="8029440"/>
              <a:ext cx="71244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440"/>
                </a:lnSpc>
              </a:pPr>
              <a:r>
                <a:rPr b="0" lang="en-US" sz="1200" spc="-1" strike="noStrike">
                  <a:solidFill>
                    <a:srgbClr val="5a717e"/>
                  </a:solidFill>
                  <a:latin typeface="Segoe Script"/>
                  <a:ea typeface="Segoe Script"/>
                </a:rPr>
                <a:t>Cluster 6</a:t>
              </a:r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663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4" name="Group 4"/>
          <p:cNvGrpSpPr/>
          <p:nvPr/>
        </p:nvGrpSpPr>
        <p:grpSpPr>
          <a:xfrm>
            <a:off x="5529240" y="2000160"/>
            <a:ext cx="6157440" cy="4057200"/>
            <a:chOff x="5529240" y="2000160"/>
            <a:chExt cx="6157440" cy="4057200"/>
          </a:xfrm>
        </p:grpSpPr>
        <p:sp>
          <p:nvSpPr>
            <p:cNvPr id="665" name="Freeform 5"/>
            <p:cNvSpPr/>
            <p:nvPr/>
          </p:nvSpPr>
          <p:spPr>
            <a:xfrm>
              <a:off x="5529240" y="2000160"/>
              <a:ext cx="6157440" cy="4057200"/>
            </a:xfrm>
            <a:custGeom>
              <a:avLst/>
              <a:gdLst>
                <a:gd name="textAreaLeft" fmla="*/ 0 w 6157440"/>
                <a:gd name="textAreaRight" fmla="*/ 6157800 w 6157440"/>
                <a:gd name="textAreaTop" fmla="*/ 0 h 4057200"/>
                <a:gd name="textAreaBottom" fmla="*/ 4057560 h 4057200"/>
              </a:gdLst>
              <a:ahLst/>
              <a:rect l="textAreaLeft" t="textAreaTop" r="textAreaRight" b="textAreaBottom"/>
              <a:pathLst>
                <a:path w="8210550" h="5410200">
                  <a:moveTo>
                    <a:pt x="0" y="0"/>
                  </a:moveTo>
                  <a:lnTo>
                    <a:pt x="8210550" y="0"/>
                  </a:lnTo>
                  <a:lnTo>
                    <a:pt x="8210550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6" name="Group 6"/>
          <p:cNvGrpSpPr/>
          <p:nvPr/>
        </p:nvGrpSpPr>
        <p:grpSpPr>
          <a:xfrm>
            <a:off x="11601360" y="2000160"/>
            <a:ext cx="6157440" cy="4057200"/>
            <a:chOff x="11601360" y="2000160"/>
            <a:chExt cx="6157440" cy="4057200"/>
          </a:xfrm>
        </p:grpSpPr>
        <p:sp>
          <p:nvSpPr>
            <p:cNvPr id="667" name="Freeform 7"/>
            <p:cNvSpPr/>
            <p:nvPr/>
          </p:nvSpPr>
          <p:spPr>
            <a:xfrm>
              <a:off x="11601360" y="2000160"/>
              <a:ext cx="6157440" cy="4057200"/>
            </a:xfrm>
            <a:custGeom>
              <a:avLst/>
              <a:gdLst>
                <a:gd name="textAreaLeft" fmla="*/ 0 w 6157440"/>
                <a:gd name="textAreaRight" fmla="*/ 6157800 w 6157440"/>
                <a:gd name="textAreaTop" fmla="*/ 0 h 4057200"/>
                <a:gd name="textAreaBottom" fmla="*/ 4057560 h 4057200"/>
              </a:gdLst>
              <a:ahLst/>
              <a:rect l="textAreaLeft" t="textAreaTop" r="textAreaRight" b="textAreaBottom"/>
              <a:pathLst>
                <a:path w="8210550" h="5410200">
                  <a:moveTo>
                    <a:pt x="0" y="0"/>
                  </a:moveTo>
                  <a:lnTo>
                    <a:pt x="8210550" y="0"/>
                  </a:lnTo>
                  <a:lnTo>
                    <a:pt x="8210550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8" name="Group 8"/>
          <p:cNvGrpSpPr/>
          <p:nvPr/>
        </p:nvGrpSpPr>
        <p:grpSpPr>
          <a:xfrm>
            <a:off x="5529240" y="5900760"/>
            <a:ext cx="6157440" cy="4057200"/>
            <a:chOff x="5529240" y="5900760"/>
            <a:chExt cx="6157440" cy="4057200"/>
          </a:xfrm>
        </p:grpSpPr>
        <p:sp>
          <p:nvSpPr>
            <p:cNvPr id="669" name="Freeform 9"/>
            <p:cNvSpPr/>
            <p:nvPr/>
          </p:nvSpPr>
          <p:spPr>
            <a:xfrm>
              <a:off x="5529240" y="5900760"/>
              <a:ext cx="6157440" cy="4057200"/>
            </a:xfrm>
            <a:custGeom>
              <a:avLst/>
              <a:gdLst>
                <a:gd name="textAreaLeft" fmla="*/ 0 w 6157440"/>
                <a:gd name="textAreaRight" fmla="*/ 6157800 w 6157440"/>
                <a:gd name="textAreaTop" fmla="*/ 0 h 4057200"/>
                <a:gd name="textAreaBottom" fmla="*/ 4057560 h 4057200"/>
              </a:gdLst>
              <a:ahLst/>
              <a:rect l="textAreaLeft" t="textAreaTop" r="textAreaRight" b="textAreaBottom"/>
              <a:pathLst>
                <a:path w="8210550" h="5410200">
                  <a:moveTo>
                    <a:pt x="0" y="0"/>
                  </a:moveTo>
                  <a:lnTo>
                    <a:pt x="8210550" y="0"/>
                  </a:lnTo>
                  <a:lnTo>
                    <a:pt x="8210550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0" name="Group 10"/>
          <p:cNvGrpSpPr/>
          <p:nvPr/>
        </p:nvGrpSpPr>
        <p:grpSpPr>
          <a:xfrm>
            <a:off x="11601360" y="5900760"/>
            <a:ext cx="6157440" cy="4057200"/>
            <a:chOff x="11601360" y="5900760"/>
            <a:chExt cx="6157440" cy="4057200"/>
          </a:xfrm>
        </p:grpSpPr>
        <p:sp>
          <p:nvSpPr>
            <p:cNvPr id="671" name="Freeform 11"/>
            <p:cNvSpPr/>
            <p:nvPr/>
          </p:nvSpPr>
          <p:spPr>
            <a:xfrm>
              <a:off x="11601360" y="5900760"/>
              <a:ext cx="6157440" cy="4057200"/>
            </a:xfrm>
            <a:custGeom>
              <a:avLst/>
              <a:gdLst>
                <a:gd name="textAreaLeft" fmla="*/ 0 w 6157440"/>
                <a:gd name="textAreaRight" fmla="*/ 6157800 w 6157440"/>
                <a:gd name="textAreaTop" fmla="*/ 0 h 4057200"/>
                <a:gd name="textAreaBottom" fmla="*/ 4057560 h 4057200"/>
              </a:gdLst>
              <a:ahLst/>
              <a:rect l="textAreaLeft" t="textAreaTop" r="textAreaRight" b="textAreaBottom"/>
              <a:pathLst>
                <a:path w="8210550" h="5410200">
                  <a:moveTo>
                    <a:pt x="0" y="0"/>
                  </a:moveTo>
                  <a:lnTo>
                    <a:pt x="8210550" y="0"/>
                  </a:lnTo>
                  <a:lnTo>
                    <a:pt x="8210550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2" name="Group 12"/>
          <p:cNvGrpSpPr/>
          <p:nvPr/>
        </p:nvGrpSpPr>
        <p:grpSpPr>
          <a:xfrm>
            <a:off x="714240" y="564480"/>
            <a:ext cx="12785760" cy="886680"/>
            <a:chOff x="714240" y="564480"/>
            <a:chExt cx="12785760" cy="886680"/>
          </a:xfrm>
        </p:grpSpPr>
        <p:sp>
          <p:nvSpPr>
            <p:cNvPr id="673" name="Freeform 13"/>
            <p:cNvSpPr/>
            <p:nvPr/>
          </p:nvSpPr>
          <p:spPr>
            <a:xfrm>
              <a:off x="714240" y="571680"/>
              <a:ext cx="12785760" cy="879480"/>
            </a:xfrm>
            <a:custGeom>
              <a:avLst/>
              <a:gdLst>
                <a:gd name="textAreaLeft" fmla="*/ 0 w 12785760"/>
                <a:gd name="textAreaRight" fmla="*/ 12786120 w 12785760"/>
                <a:gd name="textAreaTop" fmla="*/ 0 h 879480"/>
                <a:gd name="textAreaBottom" fmla="*/ 879840 h 879480"/>
              </a:gdLst>
              <a:ahLst/>
              <a:rect l="textAreaLeft" t="textAreaTop" r="textAreaRight" b="textAreaBottom"/>
              <a:pathLst>
                <a:path w="14822388" h="1173360">
                  <a:moveTo>
                    <a:pt x="0" y="0"/>
                  </a:moveTo>
                  <a:lnTo>
                    <a:pt x="14822388" y="0"/>
                  </a:lnTo>
                  <a:lnTo>
                    <a:pt x="14822388" y="1173360"/>
                  </a:lnTo>
                  <a:lnTo>
                    <a:pt x="0" y="117336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4" name="TextBox 14"/>
            <p:cNvSpPr/>
            <p:nvPr/>
          </p:nvSpPr>
          <p:spPr>
            <a:xfrm>
              <a:off x="714240" y="564480"/>
              <a:ext cx="12785760" cy="88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7021"/>
                </a:lnSpc>
              </a:pPr>
              <a:r>
                <a:rPr b="1" lang="en-US" sz="58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Notebook 02 Modeling Results</a:t>
              </a:r>
              <a:endParaRPr b="0" lang="fr-FR" sz="5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5" name="Group 15"/>
          <p:cNvGrpSpPr/>
          <p:nvPr/>
        </p:nvGrpSpPr>
        <p:grpSpPr>
          <a:xfrm>
            <a:off x="714240" y="1710000"/>
            <a:ext cx="11705760" cy="342720"/>
            <a:chOff x="714240" y="1710000"/>
            <a:chExt cx="11705760" cy="342720"/>
          </a:xfrm>
        </p:grpSpPr>
        <p:sp>
          <p:nvSpPr>
            <p:cNvPr id="676" name="Freeform 16"/>
            <p:cNvSpPr/>
            <p:nvPr/>
          </p:nvSpPr>
          <p:spPr>
            <a:xfrm>
              <a:off x="714240" y="1710000"/>
              <a:ext cx="11705760" cy="342720"/>
            </a:xfrm>
            <a:custGeom>
              <a:avLst/>
              <a:gdLst>
                <a:gd name="textAreaLeft" fmla="*/ 0 w 11705760"/>
                <a:gd name="textAreaRight" fmla="*/ 11706120 w 1170576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14822388" h="457200">
                  <a:moveTo>
                    <a:pt x="0" y="0"/>
                  </a:moveTo>
                  <a:lnTo>
                    <a:pt x="14822388" y="0"/>
                  </a:lnTo>
                  <a:lnTo>
                    <a:pt x="14822388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7" name="TextBox 17"/>
            <p:cNvSpPr/>
            <p:nvPr/>
          </p:nvSpPr>
          <p:spPr>
            <a:xfrm>
              <a:off x="714240" y="1710000"/>
              <a:ext cx="11705760" cy="34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Ridge Regression was the champion model for high-dimensional sparse OHE data.(Can be Changed )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8" name="Group 18"/>
          <p:cNvGrpSpPr/>
          <p:nvPr/>
        </p:nvGrpSpPr>
        <p:grpSpPr>
          <a:xfrm>
            <a:off x="714240" y="2187360"/>
            <a:ext cx="4571640" cy="278280"/>
            <a:chOff x="714240" y="2187360"/>
            <a:chExt cx="4571640" cy="278280"/>
          </a:xfrm>
        </p:grpSpPr>
        <p:sp>
          <p:nvSpPr>
            <p:cNvPr id="679" name="Freeform 19"/>
            <p:cNvSpPr/>
            <p:nvPr/>
          </p:nvSpPr>
          <p:spPr>
            <a:xfrm>
              <a:off x="714240" y="2194560"/>
              <a:ext cx="4571640" cy="27108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6096000" h="361950">
                  <a:moveTo>
                    <a:pt x="0" y="0"/>
                  </a:moveTo>
                  <a:lnTo>
                    <a:pt x="6096000" y="0"/>
                  </a:lnTo>
                  <a:lnTo>
                    <a:pt x="60960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0" name="TextBox 20"/>
            <p:cNvSpPr/>
            <p:nvPr/>
          </p:nvSpPr>
          <p:spPr>
            <a:xfrm>
              <a:off x="714240" y="2187360"/>
              <a:ext cx="457164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Models Evaluated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1" name="Group 21"/>
          <p:cNvGrpSpPr/>
          <p:nvPr/>
        </p:nvGrpSpPr>
        <p:grpSpPr>
          <a:xfrm>
            <a:off x="885960" y="2580120"/>
            <a:ext cx="4400280" cy="299520"/>
            <a:chOff x="885960" y="2580120"/>
            <a:chExt cx="4400280" cy="299520"/>
          </a:xfrm>
        </p:grpSpPr>
        <p:sp>
          <p:nvSpPr>
            <p:cNvPr id="682" name="Freeform 22"/>
            <p:cNvSpPr/>
            <p:nvPr/>
          </p:nvSpPr>
          <p:spPr>
            <a:xfrm>
              <a:off x="885960" y="2580120"/>
              <a:ext cx="4400280" cy="2995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5867400" h="400050">
                  <a:moveTo>
                    <a:pt x="0" y="0"/>
                  </a:moveTo>
                  <a:lnTo>
                    <a:pt x="5867400" y="0"/>
                  </a:lnTo>
                  <a:lnTo>
                    <a:pt x="58674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3" name="TextBox 23"/>
            <p:cNvSpPr/>
            <p:nvPr/>
          </p:nvSpPr>
          <p:spPr>
            <a:xfrm>
              <a:off x="885960" y="2580120"/>
              <a:ext cx="4400280" cy="29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Ridge Regression (L2):</a:t>
              </a:r>
              <a:r>
                <a:rPr b="0" lang="en-US" sz="1500" spc="-1" strike="noStrike">
                  <a:solidFill>
                    <a:srgbClr val="004a5c"/>
                  </a:solidFill>
                  <a:latin typeface="Segoe Script"/>
                  <a:ea typeface="Segoe Script"/>
                </a:rPr>
                <a:t> best generalization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4" name="Group 24"/>
          <p:cNvGrpSpPr/>
          <p:nvPr/>
        </p:nvGrpSpPr>
        <p:grpSpPr>
          <a:xfrm>
            <a:off x="885960" y="2966040"/>
            <a:ext cx="4400280" cy="599760"/>
            <a:chOff x="885960" y="2966040"/>
            <a:chExt cx="4400280" cy="599760"/>
          </a:xfrm>
        </p:grpSpPr>
        <p:sp>
          <p:nvSpPr>
            <p:cNvPr id="685" name="Freeform 25"/>
            <p:cNvSpPr/>
            <p:nvPr/>
          </p:nvSpPr>
          <p:spPr>
            <a:xfrm>
              <a:off x="885960" y="2966040"/>
              <a:ext cx="4400280" cy="59976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5867400" h="800100">
                  <a:moveTo>
                    <a:pt x="0" y="0"/>
                  </a:moveTo>
                  <a:lnTo>
                    <a:pt x="5867400" y="0"/>
                  </a:lnTo>
                  <a:lnTo>
                    <a:pt x="5867400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6" name="TextBox 26"/>
            <p:cNvSpPr/>
            <p:nvPr/>
          </p:nvSpPr>
          <p:spPr>
            <a:xfrm>
              <a:off x="885960" y="2966040"/>
              <a:ext cx="440028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Random Forest:</a:t>
              </a:r>
              <a:r>
                <a:rPr b="0" lang="en-US" sz="1500" spc="-1" strike="noStrike">
                  <a:solidFill>
                    <a:srgbClr val="004a5c"/>
                  </a:solidFill>
                  <a:latin typeface="Segoe Script"/>
                  <a:ea typeface="Segoe Script"/>
                </a:rPr>
                <a:t> underperforms on sparse one-hot features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7" name="Group 27"/>
          <p:cNvGrpSpPr/>
          <p:nvPr/>
        </p:nvGrpSpPr>
        <p:grpSpPr>
          <a:xfrm>
            <a:off x="885960" y="3651840"/>
            <a:ext cx="4400280" cy="599760"/>
            <a:chOff x="885960" y="3651840"/>
            <a:chExt cx="4400280" cy="599760"/>
          </a:xfrm>
        </p:grpSpPr>
        <p:sp>
          <p:nvSpPr>
            <p:cNvPr id="688" name="Freeform 28"/>
            <p:cNvSpPr/>
            <p:nvPr/>
          </p:nvSpPr>
          <p:spPr>
            <a:xfrm>
              <a:off x="885960" y="3651840"/>
              <a:ext cx="4400280" cy="59976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5867400" h="800100">
                  <a:moveTo>
                    <a:pt x="0" y="0"/>
                  </a:moveTo>
                  <a:lnTo>
                    <a:pt x="5867400" y="0"/>
                  </a:lnTo>
                  <a:lnTo>
                    <a:pt x="5867400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9" name="TextBox 29"/>
            <p:cNvSpPr/>
            <p:nvPr/>
          </p:nvSpPr>
          <p:spPr>
            <a:xfrm>
              <a:off x="885960" y="3651840"/>
              <a:ext cx="440028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Gradient Boosting:</a:t>
              </a:r>
              <a:r>
                <a:rPr b="0" lang="en-US" sz="1500" spc="-1" strike="noStrike">
                  <a:solidFill>
                    <a:srgbClr val="004a5c"/>
                  </a:solidFill>
                  <a:latin typeface="Segoe Script"/>
                  <a:ea typeface="Segoe Script"/>
                </a:rPr>
                <a:t> underperforms vs Ridge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0" name="Group 30"/>
          <p:cNvGrpSpPr/>
          <p:nvPr/>
        </p:nvGrpSpPr>
        <p:grpSpPr>
          <a:xfrm>
            <a:off x="714240" y="4530600"/>
            <a:ext cx="4571640" cy="278280"/>
            <a:chOff x="714240" y="4530600"/>
            <a:chExt cx="4571640" cy="278280"/>
          </a:xfrm>
        </p:grpSpPr>
        <p:sp>
          <p:nvSpPr>
            <p:cNvPr id="691" name="Freeform 31"/>
            <p:cNvSpPr/>
            <p:nvPr/>
          </p:nvSpPr>
          <p:spPr>
            <a:xfrm>
              <a:off x="714240" y="4537800"/>
              <a:ext cx="4571640" cy="27108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6096000" h="361950">
                  <a:moveTo>
                    <a:pt x="0" y="0"/>
                  </a:moveTo>
                  <a:lnTo>
                    <a:pt x="6096000" y="0"/>
                  </a:lnTo>
                  <a:lnTo>
                    <a:pt x="60960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2" name="TextBox 32"/>
            <p:cNvSpPr/>
            <p:nvPr/>
          </p:nvSpPr>
          <p:spPr>
            <a:xfrm>
              <a:off x="714240" y="4530600"/>
              <a:ext cx="457164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Hyperparameter Tuning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3" name="Group 33"/>
          <p:cNvGrpSpPr/>
          <p:nvPr/>
        </p:nvGrpSpPr>
        <p:grpSpPr>
          <a:xfrm>
            <a:off x="885960" y="4923360"/>
            <a:ext cx="4400280" cy="599760"/>
            <a:chOff x="885960" y="4923360"/>
            <a:chExt cx="4400280" cy="599760"/>
          </a:xfrm>
        </p:grpSpPr>
        <p:sp>
          <p:nvSpPr>
            <p:cNvPr id="694" name="Freeform 34"/>
            <p:cNvSpPr/>
            <p:nvPr/>
          </p:nvSpPr>
          <p:spPr>
            <a:xfrm>
              <a:off x="885960" y="4923360"/>
              <a:ext cx="4400280" cy="59976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599760"/>
                <a:gd name="textAreaBottom" fmla="*/ 600120 h 599760"/>
              </a:gdLst>
              <a:ahLst/>
              <a:rect l="textAreaLeft" t="textAreaTop" r="textAreaRight" b="textAreaBottom"/>
              <a:pathLst>
                <a:path w="5867400" h="800100">
                  <a:moveTo>
                    <a:pt x="0" y="0"/>
                  </a:moveTo>
                  <a:lnTo>
                    <a:pt x="5867400" y="0"/>
                  </a:lnTo>
                  <a:lnTo>
                    <a:pt x="5867400" y="800100"/>
                  </a:lnTo>
                  <a:lnTo>
                    <a:pt x="0" y="800100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5" name="TextBox 35"/>
            <p:cNvSpPr/>
            <p:nvPr/>
          </p:nvSpPr>
          <p:spPr>
            <a:xfrm>
              <a:off x="885960" y="4923360"/>
              <a:ext cx="4400280" cy="59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0" lang="en-US" sz="1500" spc="-1" strike="noStrike">
                  <a:solidFill>
                    <a:srgbClr val="004a5c"/>
                  </a:solidFill>
                  <a:latin typeface="Segoe Script"/>
                  <a:ea typeface="Segoe Script"/>
                </a:rPr>
                <a:t>Grid: alpha ∈ [0.001, 0.01, 0.1, 1, 10, 100, 1000]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6" name="Group 36"/>
          <p:cNvGrpSpPr/>
          <p:nvPr/>
        </p:nvGrpSpPr>
        <p:grpSpPr>
          <a:xfrm>
            <a:off x="885960" y="5609160"/>
            <a:ext cx="4400280" cy="299520"/>
            <a:chOff x="885960" y="5609160"/>
            <a:chExt cx="4400280" cy="299520"/>
          </a:xfrm>
        </p:grpSpPr>
        <p:sp>
          <p:nvSpPr>
            <p:cNvPr id="697" name="Freeform 37"/>
            <p:cNvSpPr/>
            <p:nvPr/>
          </p:nvSpPr>
          <p:spPr>
            <a:xfrm>
              <a:off x="885960" y="5609160"/>
              <a:ext cx="4400280" cy="2995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5867400" h="400050">
                  <a:moveTo>
                    <a:pt x="0" y="0"/>
                  </a:moveTo>
                  <a:lnTo>
                    <a:pt x="5867400" y="0"/>
                  </a:lnTo>
                  <a:lnTo>
                    <a:pt x="58674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8" name="TextBox 38"/>
            <p:cNvSpPr/>
            <p:nvPr/>
          </p:nvSpPr>
          <p:spPr>
            <a:xfrm>
              <a:off x="885960" y="5609160"/>
              <a:ext cx="4400280" cy="29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Best alpha = 1.0</a:t>
              </a:r>
              <a:r>
                <a:rPr b="0" lang="en-US" sz="1500" spc="-1" strike="noStrike">
                  <a:solidFill>
                    <a:srgbClr val="004a5c"/>
                  </a:solidFill>
                  <a:latin typeface="Segoe Script"/>
                  <a:ea typeface="Segoe Script"/>
                </a:rPr>
                <a:t> (default)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9" name="Group 39"/>
          <p:cNvGrpSpPr/>
          <p:nvPr/>
        </p:nvGrpSpPr>
        <p:grpSpPr>
          <a:xfrm>
            <a:off x="714240" y="6187680"/>
            <a:ext cx="4571640" cy="278280"/>
            <a:chOff x="714240" y="6187680"/>
            <a:chExt cx="4571640" cy="278280"/>
          </a:xfrm>
        </p:grpSpPr>
        <p:sp>
          <p:nvSpPr>
            <p:cNvPr id="700" name="Freeform 40"/>
            <p:cNvSpPr/>
            <p:nvPr/>
          </p:nvSpPr>
          <p:spPr>
            <a:xfrm>
              <a:off x="714240" y="6194880"/>
              <a:ext cx="4571640" cy="27108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6096000" h="361950">
                  <a:moveTo>
                    <a:pt x="0" y="0"/>
                  </a:moveTo>
                  <a:lnTo>
                    <a:pt x="6096000" y="0"/>
                  </a:lnTo>
                  <a:lnTo>
                    <a:pt x="609600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1" name="TextBox 41"/>
            <p:cNvSpPr/>
            <p:nvPr/>
          </p:nvSpPr>
          <p:spPr>
            <a:xfrm>
              <a:off x="714240" y="6187680"/>
              <a:ext cx="457164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287aa"/>
                  </a:solidFill>
                  <a:latin typeface="Segoe Script Bold"/>
                  <a:ea typeface="Segoe Script Bold"/>
                </a:rPr>
                <a:t>Performance (Test Set)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2" name="Group 42"/>
          <p:cNvGrpSpPr/>
          <p:nvPr/>
        </p:nvGrpSpPr>
        <p:grpSpPr>
          <a:xfrm>
            <a:off x="885960" y="6580800"/>
            <a:ext cx="4400280" cy="299520"/>
            <a:chOff x="885960" y="6580800"/>
            <a:chExt cx="4400280" cy="299520"/>
          </a:xfrm>
        </p:grpSpPr>
        <p:sp>
          <p:nvSpPr>
            <p:cNvPr id="703" name="Freeform 43"/>
            <p:cNvSpPr/>
            <p:nvPr/>
          </p:nvSpPr>
          <p:spPr>
            <a:xfrm>
              <a:off x="885960" y="6580800"/>
              <a:ext cx="4400280" cy="2995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5867400" h="400050">
                  <a:moveTo>
                    <a:pt x="0" y="0"/>
                  </a:moveTo>
                  <a:lnTo>
                    <a:pt x="5867400" y="0"/>
                  </a:lnTo>
                  <a:lnTo>
                    <a:pt x="58674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4" name="TextBox 44"/>
            <p:cNvSpPr/>
            <p:nvPr/>
          </p:nvSpPr>
          <p:spPr>
            <a:xfrm>
              <a:off x="885960" y="6580800"/>
              <a:ext cx="4400280" cy="29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1" lang="en-US" sz="150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R² = 0.7774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5" name="Group 45"/>
          <p:cNvGrpSpPr/>
          <p:nvPr/>
        </p:nvGrpSpPr>
        <p:grpSpPr>
          <a:xfrm>
            <a:off x="885960" y="6966360"/>
            <a:ext cx="4400280" cy="299520"/>
            <a:chOff x="885960" y="6966360"/>
            <a:chExt cx="4400280" cy="299520"/>
          </a:xfrm>
        </p:grpSpPr>
        <p:sp>
          <p:nvSpPr>
            <p:cNvPr id="706" name="Freeform 46"/>
            <p:cNvSpPr/>
            <p:nvPr/>
          </p:nvSpPr>
          <p:spPr>
            <a:xfrm>
              <a:off x="885960" y="6966360"/>
              <a:ext cx="4400280" cy="2995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5867400" h="400050">
                  <a:moveTo>
                    <a:pt x="0" y="0"/>
                  </a:moveTo>
                  <a:lnTo>
                    <a:pt x="5867400" y="0"/>
                  </a:lnTo>
                  <a:lnTo>
                    <a:pt x="58674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7" name="TextBox 47"/>
            <p:cNvSpPr/>
            <p:nvPr/>
          </p:nvSpPr>
          <p:spPr>
            <a:xfrm>
              <a:off x="885960" y="6966360"/>
              <a:ext cx="4400280" cy="29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0" lang="en-US" sz="1500" spc="-1" strike="noStrike">
                  <a:solidFill>
                    <a:srgbClr val="004a5c"/>
                  </a:solidFill>
                  <a:latin typeface="Segoe Script"/>
                  <a:ea typeface="Segoe Script"/>
                </a:rPr>
                <a:t>RMSE (log) = 0.278; MAE (log) = 0.202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8" name="Group 48"/>
          <p:cNvGrpSpPr/>
          <p:nvPr/>
        </p:nvGrpSpPr>
        <p:grpSpPr>
          <a:xfrm>
            <a:off x="885960" y="7352280"/>
            <a:ext cx="4400280" cy="299520"/>
            <a:chOff x="885960" y="7352280"/>
            <a:chExt cx="4400280" cy="299520"/>
          </a:xfrm>
        </p:grpSpPr>
        <p:sp>
          <p:nvSpPr>
            <p:cNvPr id="709" name="Freeform 49"/>
            <p:cNvSpPr/>
            <p:nvPr/>
          </p:nvSpPr>
          <p:spPr>
            <a:xfrm>
              <a:off x="885960" y="7352280"/>
              <a:ext cx="4400280" cy="299520"/>
            </a:xfrm>
            <a:custGeom>
              <a:avLst/>
              <a:gdLst>
                <a:gd name="textAreaLeft" fmla="*/ 0 w 4400280"/>
                <a:gd name="textAreaRight" fmla="*/ 4400640 w 4400280"/>
                <a:gd name="textAreaTop" fmla="*/ 0 h 299520"/>
                <a:gd name="textAreaBottom" fmla="*/ 299880 h 299520"/>
              </a:gdLst>
              <a:ahLst/>
              <a:rect l="textAreaLeft" t="textAreaTop" r="textAreaRight" b="textAreaBottom"/>
              <a:pathLst>
                <a:path w="5867400" h="400050">
                  <a:moveTo>
                    <a:pt x="0" y="0"/>
                  </a:moveTo>
                  <a:lnTo>
                    <a:pt x="5867400" y="0"/>
                  </a:lnTo>
                  <a:lnTo>
                    <a:pt x="5867400" y="400050"/>
                  </a:lnTo>
                  <a:lnTo>
                    <a:pt x="0" y="400050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0" name="TextBox 50"/>
            <p:cNvSpPr/>
            <p:nvPr/>
          </p:nvSpPr>
          <p:spPr>
            <a:xfrm>
              <a:off x="885960" y="7352280"/>
              <a:ext cx="4400280" cy="29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800"/>
                </a:lnSpc>
              </a:pPr>
              <a:r>
                <a:rPr b="0" lang="en-US" sz="1500" spc="-1" strike="noStrike">
                  <a:solidFill>
                    <a:srgbClr val="004a5c"/>
                  </a:solidFill>
                  <a:latin typeface="Segoe Script"/>
                  <a:ea typeface="Segoe Script"/>
                </a:rPr>
                <a:t>Avg error ≈ ±22.4%</a:t>
              </a:r>
              <a:endParaRPr b="0" lang="fr-FR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1" name="Group 60"/>
          <p:cNvGrpSpPr/>
          <p:nvPr/>
        </p:nvGrpSpPr>
        <p:grpSpPr>
          <a:xfrm>
            <a:off x="5929200" y="2401560"/>
            <a:ext cx="5357520" cy="278280"/>
            <a:chOff x="5929200" y="2401560"/>
            <a:chExt cx="5357520" cy="278280"/>
          </a:xfrm>
        </p:grpSpPr>
        <p:sp>
          <p:nvSpPr>
            <p:cNvPr id="712" name="Freeform 61"/>
            <p:cNvSpPr/>
            <p:nvPr/>
          </p:nvSpPr>
          <p:spPr>
            <a:xfrm>
              <a:off x="5929200" y="2408760"/>
              <a:ext cx="5357520" cy="271080"/>
            </a:xfrm>
            <a:custGeom>
              <a:avLst/>
              <a:gdLst>
                <a:gd name="textAreaLeft" fmla="*/ 0 w 5357520"/>
                <a:gd name="textAreaRight" fmla="*/ 5357880 w 535752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7143750" h="361950">
                  <a:moveTo>
                    <a:pt x="0" y="0"/>
                  </a:moveTo>
                  <a:lnTo>
                    <a:pt x="7143750" y="0"/>
                  </a:lnTo>
                  <a:lnTo>
                    <a:pt x="714375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3" name="TextBox 62"/>
            <p:cNvSpPr/>
            <p:nvPr/>
          </p:nvSpPr>
          <p:spPr>
            <a:xfrm>
              <a:off x="5929200" y="2401560"/>
              <a:ext cx="535752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Model Comparison (R² Score)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4" name="Group 63"/>
          <p:cNvGrpSpPr/>
          <p:nvPr/>
        </p:nvGrpSpPr>
        <p:grpSpPr>
          <a:xfrm>
            <a:off x="5929200" y="2823120"/>
            <a:ext cx="5357520" cy="2771280"/>
            <a:chOff x="5929200" y="2823120"/>
            <a:chExt cx="5357520" cy="2771280"/>
          </a:xfrm>
        </p:grpSpPr>
        <p:sp>
          <p:nvSpPr>
            <p:cNvPr id="715" name="Freeform 64"/>
            <p:cNvSpPr/>
            <p:nvPr/>
          </p:nvSpPr>
          <p:spPr>
            <a:xfrm>
              <a:off x="5929200" y="2823120"/>
              <a:ext cx="5357520" cy="2771280"/>
            </a:xfrm>
            <a:custGeom>
              <a:avLst/>
              <a:gdLst>
                <a:gd name="textAreaLeft" fmla="*/ 0 w 5357520"/>
                <a:gd name="textAreaRight" fmla="*/ 5357880 w 5357520"/>
                <a:gd name="textAreaTop" fmla="*/ 0 h 2771280"/>
                <a:gd name="textAreaBottom" fmla="*/ 2771640 h 2771280"/>
              </a:gdLst>
              <a:ahLst/>
              <a:rect l="textAreaLeft" t="textAreaTop" r="textAreaRight" b="textAreaBottom"/>
              <a:pathLst>
                <a:path w="7143750" h="3695700">
                  <a:moveTo>
                    <a:pt x="0" y="0"/>
                  </a:moveTo>
                  <a:lnTo>
                    <a:pt x="7143750" y="0"/>
                  </a:lnTo>
                  <a:lnTo>
                    <a:pt x="7143750" y="3695700"/>
                  </a:lnTo>
                  <a:lnTo>
                    <a:pt x="0" y="36957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6" name="Group 65"/>
          <p:cNvGrpSpPr/>
          <p:nvPr/>
        </p:nvGrpSpPr>
        <p:grpSpPr>
          <a:xfrm>
            <a:off x="12001680" y="2401560"/>
            <a:ext cx="5357520" cy="278280"/>
            <a:chOff x="12001680" y="2401560"/>
            <a:chExt cx="5357520" cy="278280"/>
          </a:xfrm>
        </p:grpSpPr>
        <p:sp>
          <p:nvSpPr>
            <p:cNvPr id="717" name="Freeform 66"/>
            <p:cNvSpPr/>
            <p:nvPr/>
          </p:nvSpPr>
          <p:spPr>
            <a:xfrm>
              <a:off x="12001680" y="2408760"/>
              <a:ext cx="5357520" cy="271080"/>
            </a:xfrm>
            <a:custGeom>
              <a:avLst/>
              <a:gdLst>
                <a:gd name="textAreaLeft" fmla="*/ 0 w 5357520"/>
                <a:gd name="textAreaRight" fmla="*/ 5357880 w 535752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7143750" h="361950">
                  <a:moveTo>
                    <a:pt x="0" y="0"/>
                  </a:moveTo>
                  <a:lnTo>
                    <a:pt x="7143750" y="0"/>
                  </a:lnTo>
                  <a:lnTo>
                    <a:pt x="714375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8" name="TextBox 67"/>
            <p:cNvSpPr/>
            <p:nvPr/>
          </p:nvSpPr>
          <p:spPr>
            <a:xfrm>
              <a:off x="12001680" y="2401560"/>
              <a:ext cx="535752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Validation Curve (Alpha vs CV R²)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9" name="Group 68"/>
          <p:cNvGrpSpPr/>
          <p:nvPr/>
        </p:nvGrpSpPr>
        <p:grpSpPr>
          <a:xfrm>
            <a:off x="12001680" y="2823120"/>
            <a:ext cx="5357520" cy="2771280"/>
            <a:chOff x="12001680" y="2823120"/>
            <a:chExt cx="5357520" cy="2771280"/>
          </a:xfrm>
        </p:grpSpPr>
        <p:sp>
          <p:nvSpPr>
            <p:cNvPr id="720" name="Freeform 69"/>
            <p:cNvSpPr/>
            <p:nvPr/>
          </p:nvSpPr>
          <p:spPr>
            <a:xfrm>
              <a:off x="12001680" y="2823120"/>
              <a:ext cx="5357520" cy="2771280"/>
            </a:xfrm>
            <a:custGeom>
              <a:avLst/>
              <a:gdLst>
                <a:gd name="textAreaLeft" fmla="*/ 0 w 5357520"/>
                <a:gd name="textAreaRight" fmla="*/ 5357880 w 5357520"/>
                <a:gd name="textAreaTop" fmla="*/ 0 h 2771280"/>
                <a:gd name="textAreaBottom" fmla="*/ 2771640 h 2771280"/>
              </a:gdLst>
              <a:ahLst/>
              <a:rect l="textAreaLeft" t="textAreaTop" r="textAreaRight" b="textAreaBottom"/>
              <a:pathLst>
                <a:path w="7143750" h="3695700">
                  <a:moveTo>
                    <a:pt x="0" y="0"/>
                  </a:moveTo>
                  <a:lnTo>
                    <a:pt x="7143750" y="0"/>
                  </a:lnTo>
                  <a:lnTo>
                    <a:pt x="7143750" y="3695700"/>
                  </a:lnTo>
                  <a:lnTo>
                    <a:pt x="0" y="36957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1" name="Group 70"/>
          <p:cNvGrpSpPr/>
          <p:nvPr/>
        </p:nvGrpSpPr>
        <p:grpSpPr>
          <a:xfrm>
            <a:off x="5929200" y="6305040"/>
            <a:ext cx="5357520" cy="278280"/>
            <a:chOff x="5929200" y="6305040"/>
            <a:chExt cx="5357520" cy="278280"/>
          </a:xfrm>
        </p:grpSpPr>
        <p:sp>
          <p:nvSpPr>
            <p:cNvPr id="722" name="Freeform 71"/>
            <p:cNvSpPr/>
            <p:nvPr/>
          </p:nvSpPr>
          <p:spPr>
            <a:xfrm>
              <a:off x="5929200" y="6312240"/>
              <a:ext cx="5357520" cy="271080"/>
            </a:xfrm>
            <a:custGeom>
              <a:avLst/>
              <a:gdLst>
                <a:gd name="textAreaLeft" fmla="*/ 0 w 5357520"/>
                <a:gd name="textAreaRight" fmla="*/ 5357880 w 535752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7143750" h="361950">
                  <a:moveTo>
                    <a:pt x="0" y="0"/>
                  </a:moveTo>
                  <a:lnTo>
                    <a:pt x="7143750" y="0"/>
                  </a:lnTo>
                  <a:lnTo>
                    <a:pt x="714375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3" name="TextBox 72"/>
            <p:cNvSpPr/>
            <p:nvPr/>
          </p:nvSpPr>
          <p:spPr>
            <a:xfrm>
              <a:off x="5929200" y="6305040"/>
              <a:ext cx="535752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Actual vs Predicted Scatter (Ridge)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4" name="Group 73"/>
          <p:cNvGrpSpPr/>
          <p:nvPr/>
        </p:nvGrpSpPr>
        <p:grpSpPr>
          <a:xfrm>
            <a:off x="5929200" y="6726600"/>
            <a:ext cx="5357520" cy="2771280"/>
            <a:chOff x="5929200" y="6726600"/>
            <a:chExt cx="5357520" cy="2771280"/>
          </a:xfrm>
        </p:grpSpPr>
        <p:sp>
          <p:nvSpPr>
            <p:cNvPr id="725" name="Freeform 74"/>
            <p:cNvSpPr/>
            <p:nvPr/>
          </p:nvSpPr>
          <p:spPr>
            <a:xfrm>
              <a:off x="5929200" y="6726600"/>
              <a:ext cx="5357520" cy="2771280"/>
            </a:xfrm>
            <a:custGeom>
              <a:avLst/>
              <a:gdLst>
                <a:gd name="textAreaLeft" fmla="*/ 0 w 5357520"/>
                <a:gd name="textAreaRight" fmla="*/ 5357880 w 5357520"/>
                <a:gd name="textAreaTop" fmla="*/ 0 h 2771280"/>
                <a:gd name="textAreaBottom" fmla="*/ 2771640 h 2771280"/>
              </a:gdLst>
              <a:ahLst/>
              <a:rect l="textAreaLeft" t="textAreaTop" r="textAreaRight" b="textAreaBottom"/>
              <a:pathLst>
                <a:path w="7143750" h="3695700">
                  <a:moveTo>
                    <a:pt x="0" y="0"/>
                  </a:moveTo>
                  <a:lnTo>
                    <a:pt x="7143750" y="0"/>
                  </a:lnTo>
                  <a:lnTo>
                    <a:pt x="7143750" y="3695700"/>
                  </a:lnTo>
                  <a:lnTo>
                    <a:pt x="0" y="36957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6" name="Group 75"/>
          <p:cNvGrpSpPr/>
          <p:nvPr/>
        </p:nvGrpSpPr>
        <p:grpSpPr>
          <a:xfrm>
            <a:off x="12001680" y="6305040"/>
            <a:ext cx="5357520" cy="278280"/>
            <a:chOff x="12001680" y="6305040"/>
            <a:chExt cx="5357520" cy="278280"/>
          </a:xfrm>
        </p:grpSpPr>
        <p:sp>
          <p:nvSpPr>
            <p:cNvPr id="727" name="Freeform 76"/>
            <p:cNvSpPr/>
            <p:nvPr/>
          </p:nvSpPr>
          <p:spPr>
            <a:xfrm>
              <a:off x="12001680" y="6312240"/>
              <a:ext cx="5357520" cy="271080"/>
            </a:xfrm>
            <a:custGeom>
              <a:avLst/>
              <a:gdLst>
                <a:gd name="textAreaLeft" fmla="*/ 0 w 5357520"/>
                <a:gd name="textAreaRight" fmla="*/ 5357880 w 535752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7143750" h="361950">
                  <a:moveTo>
                    <a:pt x="0" y="0"/>
                  </a:moveTo>
                  <a:lnTo>
                    <a:pt x="7143750" y="0"/>
                  </a:lnTo>
                  <a:lnTo>
                    <a:pt x="7143750" y="361950"/>
                  </a:lnTo>
                  <a:lnTo>
                    <a:pt x="0" y="361950"/>
                  </a:lnTo>
                  <a:close/>
                </a:path>
              </a:pathLst>
            </a:custGeom>
            <a:blipFill rotWithShape="0">
              <a:blip r:embed="rId2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8" name="TextBox 77"/>
            <p:cNvSpPr/>
            <p:nvPr/>
          </p:nvSpPr>
          <p:spPr>
            <a:xfrm>
              <a:off x="12001680" y="6305040"/>
              <a:ext cx="535752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b="1" lang="en-US" sz="13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Geo Error Heatmap by City (%)</a:t>
              </a:r>
              <a:endParaRPr b="0" lang="fr-F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9" name="Group 78"/>
          <p:cNvGrpSpPr/>
          <p:nvPr/>
        </p:nvGrpSpPr>
        <p:grpSpPr>
          <a:xfrm>
            <a:off x="12001680" y="6726600"/>
            <a:ext cx="5357520" cy="2771280"/>
            <a:chOff x="12001680" y="6726600"/>
            <a:chExt cx="5357520" cy="2771280"/>
          </a:xfrm>
        </p:grpSpPr>
        <p:sp>
          <p:nvSpPr>
            <p:cNvPr id="730" name="Freeform 79"/>
            <p:cNvSpPr/>
            <p:nvPr/>
          </p:nvSpPr>
          <p:spPr>
            <a:xfrm>
              <a:off x="12001680" y="6726600"/>
              <a:ext cx="5357520" cy="2771280"/>
            </a:xfrm>
            <a:custGeom>
              <a:avLst/>
              <a:gdLst>
                <a:gd name="textAreaLeft" fmla="*/ 0 w 5357520"/>
                <a:gd name="textAreaRight" fmla="*/ 5357880 w 5357520"/>
                <a:gd name="textAreaTop" fmla="*/ 0 h 2771280"/>
                <a:gd name="textAreaBottom" fmla="*/ 2771640 h 2771280"/>
              </a:gdLst>
              <a:ahLst/>
              <a:rect l="textAreaLeft" t="textAreaTop" r="textAreaRight" b="textAreaBottom"/>
              <a:pathLst>
                <a:path w="7143750" h="3695700">
                  <a:moveTo>
                    <a:pt x="0" y="0"/>
                  </a:moveTo>
                  <a:lnTo>
                    <a:pt x="7143750" y="0"/>
                  </a:lnTo>
                  <a:lnTo>
                    <a:pt x="7143750" y="3695700"/>
                  </a:lnTo>
                  <a:lnTo>
                    <a:pt x="0" y="36957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732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3" name="Group 27"/>
          <p:cNvGrpSpPr/>
          <p:nvPr/>
        </p:nvGrpSpPr>
        <p:grpSpPr>
          <a:xfrm>
            <a:off x="4334400" y="3829680"/>
            <a:ext cx="10245600" cy="2007000"/>
            <a:chOff x="4334400" y="3829680"/>
            <a:chExt cx="10245600" cy="2007000"/>
          </a:xfrm>
        </p:grpSpPr>
        <p:sp>
          <p:nvSpPr>
            <p:cNvPr id="734" name="Freeform 28"/>
            <p:cNvSpPr/>
            <p:nvPr/>
          </p:nvSpPr>
          <p:spPr>
            <a:xfrm>
              <a:off x="4334400" y="3836880"/>
              <a:ext cx="10245600" cy="1999800"/>
            </a:xfrm>
            <a:custGeom>
              <a:avLst/>
              <a:gdLst>
                <a:gd name="textAreaLeft" fmla="*/ 0 w 10245600"/>
                <a:gd name="textAreaRight" fmla="*/ 10245960 w 10245600"/>
                <a:gd name="textAreaTop" fmla="*/ 0 h 1999800"/>
                <a:gd name="textAreaBottom" fmla="*/ 2000160 h 1999800"/>
              </a:gdLst>
              <a:ahLst/>
              <a:rect l="textAreaLeft" t="textAreaTop" r="textAreaRight" b="textAreaBottom"/>
              <a:pathLst>
                <a:path w="21945600" h="2667000">
                  <a:moveTo>
                    <a:pt x="0" y="0"/>
                  </a:moveTo>
                  <a:lnTo>
                    <a:pt x="21945600" y="0"/>
                  </a:lnTo>
                  <a:lnTo>
                    <a:pt x="21945600" y="2667000"/>
                  </a:lnTo>
                  <a:lnTo>
                    <a:pt x="0" y="26670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5" name="TextBox 29"/>
            <p:cNvSpPr/>
            <p:nvPr/>
          </p:nvSpPr>
          <p:spPr>
            <a:xfrm>
              <a:off x="4334400" y="3829680"/>
              <a:ext cx="10245600" cy="200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ts val="17821"/>
                </a:lnSpc>
              </a:pPr>
              <a:r>
                <a:rPr b="1" lang="en-US" sz="14850" spc="-1" strike="noStrike">
                  <a:solidFill>
                    <a:srgbClr val="004a5c"/>
                  </a:solidFill>
                  <a:latin typeface="Segoe Script Bold"/>
                  <a:ea typeface="Segoe Script Bold"/>
                </a:rPr>
                <a:t>Thank You</a:t>
              </a:r>
              <a:endParaRPr b="0" lang="fr-FR" sz="148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DAHG6MCWJXk</dc:identifier>
  <dc:language>fr-FR</dc:language>
  <cp:lastModifiedBy/>
  <dcterms:modified xsi:type="dcterms:W3CDTF">2026-04-15T10:29:31Z</dcterms:modified>
  <cp:revision>2</cp:revision>
  <dc:subject/>
  <dc:title>Tunisian Real Estate MLOps Presentation.pptx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